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9" r:id="rId3"/>
    <p:sldId id="301" r:id="rId4"/>
    <p:sldId id="302" r:id="rId5"/>
    <p:sldId id="300" r:id="rId6"/>
    <p:sldId id="314" r:id="rId7"/>
    <p:sldId id="313" r:id="rId8"/>
    <p:sldId id="276" r:id="rId9"/>
    <p:sldId id="277" r:id="rId10"/>
    <p:sldId id="278" r:id="rId11"/>
    <p:sldId id="279" r:id="rId12"/>
    <p:sldId id="257" r:id="rId13"/>
    <p:sldId id="258" r:id="rId14"/>
    <p:sldId id="259" r:id="rId15"/>
    <p:sldId id="283" r:id="rId16"/>
    <p:sldId id="280" r:id="rId17"/>
    <p:sldId id="281" r:id="rId18"/>
    <p:sldId id="297" r:id="rId19"/>
    <p:sldId id="298" r:id="rId20"/>
    <p:sldId id="296" r:id="rId21"/>
    <p:sldId id="284" r:id="rId22"/>
    <p:sldId id="304" r:id="rId23"/>
    <p:sldId id="306" r:id="rId24"/>
    <p:sldId id="305" r:id="rId25"/>
    <p:sldId id="307" r:id="rId26"/>
    <p:sldId id="308" r:id="rId27"/>
    <p:sldId id="309" r:id="rId28"/>
    <p:sldId id="310" r:id="rId29"/>
    <p:sldId id="311" r:id="rId30"/>
    <p:sldId id="303" r:id="rId31"/>
    <p:sldId id="312" r:id="rId32"/>
    <p:sldId id="286" r:id="rId33"/>
    <p:sldId id="287" r:id="rId34"/>
    <p:sldId id="268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ata8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2196/26145" TargetMode="External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rawing8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2196/26145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136F92-3FD5-4E75-99C5-42892C887374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95E9C269-8443-49CE-8F66-A31EDE8D812B}">
      <dgm:prSet/>
      <dgm:spPr/>
      <dgm:t>
        <a:bodyPr/>
        <a:lstStyle/>
        <a:p>
          <a:r>
            <a:rPr lang="en-IN" dirty="0"/>
            <a:t>In the modern digital era, many essential services such as banking, healthcare, communication, transportation, and government services are increasingly delivered through digital platforms.</a:t>
          </a:r>
          <a:endParaRPr lang="en-US" dirty="0"/>
        </a:p>
      </dgm:t>
    </dgm:pt>
    <dgm:pt modelId="{CDA4A2CE-441A-4EC4-B41E-FF95382A5DE4}" type="parTrans" cxnId="{B0272E65-1450-4EA7-A73B-CFF481F30D4A}">
      <dgm:prSet/>
      <dgm:spPr/>
      <dgm:t>
        <a:bodyPr/>
        <a:lstStyle/>
        <a:p>
          <a:endParaRPr lang="en-US"/>
        </a:p>
      </dgm:t>
    </dgm:pt>
    <dgm:pt modelId="{D21858A5-96F0-4BE8-8672-33DE5AEE6EA4}" type="sibTrans" cxnId="{B0272E65-1450-4EA7-A73B-CFF481F30D4A}">
      <dgm:prSet/>
      <dgm:spPr/>
      <dgm:t>
        <a:bodyPr/>
        <a:lstStyle/>
        <a:p>
          <a:endParaRPr lang="en-US"/>
        </a:p>
      </dgm:t>
    </dgm:pt>
    <dgm:pt modelId="{763DF2BE-2373-4BBC-9553-DF1A1787B655}">
      <dgm:prSet/>
      <dgm:spPr/>
      <dgm:t>
        <a:bodyPr/>
        <a:lstStyle/>
        <a:p>
          <a:r>
            <a:rPr lang="en-IN" b="1" dirty="0"/>
            <a:t>Senior citizens often struggle to adapt to digital technologies due to limited digital literacy</a:t>
          </a:r>
          <a:r>
            <a:rPr lang="en-IN" dirty="0"/>
            <a:t>.</a:t>
          </a:r>
          <a:endParaRPr lang="en-US" dirty="0"/>
        </a:p>
      </dgm:t>
    </dgm:pt>
    <dgm:pt modelId="{D51DEF7D-82A0-4E6D-9366-B9819CBD042E}" type="parTrans" cxnId="{4CC6E1DB-CF75-4745-8C21-12814D8CCBA3}">
      <dgm:prSet/>
      <dgm:spPr/>
      <dgm:t>
        <a:bodyPr/>
        <a:lstStyle/>
        <a:p>
          <a:endParaRPr lang="en-US"/>
        </a:p>
      </dgm:t>
    </dgm:pt>
    <dgm:pt modelId="{B63098A6-C9D4-4430-B029-5A18CA7E098D}" type="sibTrans" cxnId="{4CC6E1DB-CF75-4745-8C21-12814D8CCBA3}">
      <dgm:prSet/>
      <dgm:spPr/>
      <dgm:t>
        <a:bodyPr/>
        <a:lstStyle/>
        <a:p>
          <a:endParaRPr lang="en-US"/>
        </a:p>
      </dgm:t>
    </dgm:pt>
    <dgm:pt modelId="{128E2483-2F50-4EA5-B221-B9418A6BB0D4}">
      <dgm:prSet/>
      <dgm:spPr/>
      <dgm:t>
        <a:bodyPr/>
        <a:lstStyle/>
        <a:p>
          <a:r>
            <a:rPr lang="en-IN"/>
            <a:t>Digital literacy refers to the ability to </a:t>
          </a:r>
          <a:r>
            <a:rPr lang="en-IN" b="1"/>
            <a:t>access, understand, evaluate, and effectively use digital tools and online information</a:t>
          </a:r>
          <a:r>
            <a:rPr lang="en-IN"/>
            <a:t>.</a:t>
          </a:r>
          <a:endParaRPr lang="en-US"/>
        </a:p>
      </dgm:t>
    </dgm:pt>
    <dgm:pt modelId="{B26847FC-4F2D-4E4F-BADE-DAA94AF8CC3D}" type="parTrans" cxnId="{69A91F80-0408-4AFD-8C98-0A0BB35F4FBB}">
      <dgm:prSet/>
      <dgm:spPr/>
      <dgm:t>
        <a:bodyPr/>
        <a:lstStyle/>
        <a:p>
          <a:endParaRPr lang="en-US"/>
        </a:p>
      </dgm:t>
    </dgm:pt>
    <dgm:pt modelId="{74FA1E60-5CBB-4499-BC45-FA817B0F8C5C}" type="sibTrans" cxnId="{69A91F80-0408-4AFD-8C98-0A0BB35F4FBB}">
      <dgm:prSet/>
      <dgm:spPr/>
      <dgm:t>
        <a:bodyPr/>
        <a:lstStyle/>
        <a:p>
          <a:endParaRPr lang="en-US"/>
        </a:p>
      </dgm:t>
    </dgm:pt>
    <dgm:pt modelId="{D2AF93FE-86DA-4313-B054-FC20FB744626}">
      <dgm:prSet/>
      <dgm:spPr/>
      <dgm:t>
        <a:bodyPr/>
        <a:lstStyle/>
        <a:p>
          <a:r>
            <a:rPr lang="en-IN"/>
            <a:t>Tasks such as online banking, digital payments, accessing healthcare appointments, or communicating through messaging platforms may seem complicated and intimidating.</a:t>
          </a:r>
          <a:endParaRPr lang="en-US"/>
        </a:p>
      </dgm:t>
    </dgm:pt>
    <dgm:pt modelId="{23ACCA2B-6442-4EEF-B7CF-6EFE25969277}" type="parTrans" cxnId="{A9DCC9FD-FA45-4D14-A52B-3978DF35890E}">
      <dgm:prSet/>
      <dgm:spPr/>
      <dgm:t>
        <a:bodyPr/>
        <a:lstStyle/>
        <a:p>
          <a:endParaRPr lang="en-US"/>
        </a:p>
      </dgm:t>
    </dgm:pt>
    <dgm:pt modelId="{10487911-4E02-473E-B465-7D12331BD56F}" type="sibTrans" cxnId="{A9DCC9FD-FA45-4D14-A52B-3978DF35890E}">
      <dgm:prSet/>
      <dgm:spPr/>
      <dgm:t>
        <a:bodyPr/>
        <a:lstStyle/>
        <a:p>
          <a:endParaRPr lang="en-US"/>
        </a:p>
      </dgm:t>
    </dgm:pt>
    <dgm:pt modelId="{9F544D03-1954-4732-A0A4-6DEE5E335C66}">
      <dgm:prSet/>
      <dgm:spPr/>
      <dgm:t>
        <a:bodyPr/>
        <a:lstStyle/>
        <a:p>
          <a:r>
            <a:rPr lang="en-IN"/>
            <a:t>Senior citizens may face difficulties accessing essential services, staying connected with family members, or managing personal financial transactions.</a:t>
          </a:r>
          <a:endParaRPr lang="en-US"/>
        </a:p>
      </dgm:t>
    </dgm:pt>
    <dgm:pt modelId="{4DB8FD88-802A-4A32-BAC9-694912B78DE2}" type="parTrans" cxnId="{1AA2C20B-7A91-4B9A-B1BF-0A8FE5C0DE43}">
      <dgm:prSet/>
      <dgm:spPr/>
      <dgm:t>
        <a:bodyPr/>
        <a:lstStyle/>
        <a:p>
          <a:endParaRPr lang="en-US"/>
        </a:p>
      </dgm:t>
    </dgm:pt>
    <dgm:pt modelId="{A054D135-A308-42F9-B2F5-65FB60B3ADC1}" type="sibTrans" cxnId="{1AA2C20B-7A91-4B9A-B1BF-0A8FE5C0DE43}">
      <dgm:prSet/>
      <dgm:spPr/>
      <dgm:t>
        <a:bodyPr/>
        <a:lstStyle/>
        <a:p>
          <a:endParaRPr lang="en-US"/>
        </a:p>
      </dgm:t>
    </dgm:pt>
    <dgm:pt modelId="{CAD3007C-099D-4122-A3B2-C2A70D99215A}" type="pres">
      <dgm:prSet presAssocID="{A0136F92-3FD5-4E75-99C5-42892C887374}" presName="linear" presStyleCnt="0">
        <dgm:presLayoutVars>
          <dgm:animLvl val="lvl"/>
          <dgm:resizeHandles val="exact"/>
        </dgm:presLayoutVars>
      </dgm:prSet>
      <dgm:spPr/>
    </dgm:pt>
    <dgm:pt modelId="{5C6EABD4-A8E4-48D9-BB62-0AE50A7C17E4}" type="pres">
      <dgm:prSet presAssocID="{95E9C269-8443-49CE-8F66-A31EDE8D812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4E8755D-F158-4C85-A488-D4BC08149D72}" type="pres">
      <dgm:prSet presAssocID="{D21858A5-96F0-4BE8-8672-33DE5AEE6EA4}" presName="spacer" presStyleCnt="0"/>
      <dgm:spPr/>
    </dgm:pt>
    <dgm:pt modelId="{47703862-7889-45E6-A01B-E0D1CF670D0A}" type="pres">
      <dgm:prSet presAssocID="{763DF2BE-2373-4BBC-9553-DF1A1787B65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407A20A-B034-4EAC-9BE1-75438C3C29E4}" type="pres">
      <dgm:prSet presAssocID="{B63098A6-C9D4-4430-B029-5A18CA7E098D}" presName="spacer" presStyleCnt="0"/>
      <dgm:spPr/>
    </dgm:pt>
    <dgm:pt modelId="{79F719D5-52F7-4186-9348-4BA4E90106D5}" type="pres">
      <dgm:prSet presAssocID="{128E2483-2F50-4EA5-B221-B9418A6BB0D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F9733E1-0D36-4C1F-BA49-532A9E59FFC3}" type="pres">
      <dgm:prSet presAssocID="{74FA1E60-5CBB-4499-BC45-FA817B0F8C5C}" presName="spacer" presStyleCnt="0"/>
      <dgm:spPr/>
    </dgm:pt>
    <dgm:pt modelId="{D1800110-5B5F-42A8-8E07-F63BF5A02160}" type="pres">
      <dgm:prSet presAssocID="{D2AF93FE-86DA-4313-B054-FC20FB74462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0EEB10A-52AC-445F-BBCA-8A2D9FA8BDE4}" type="pres">
      <dgm:prSet presAssocID="{10487911-4E02-473E-B465-7D12331BD56F}" presName="spacer" presStyleCnt="0"/>
      <dgm:spPr/>
    </dgm:pt>
    <dgm:pt modelId="{25631EAF-4B38-4236-9D13-7F0688DE02B1}" type="pres">
      <dgm:prSet presAssocID="{9F544D03-1954-4732-A0A4-6DEE5E335C6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AA2C20B-7A91-4B9A-B1BF-0A8FE5C0DE43}" srcId="{A0136F92-3FD5-4E75-99C5-42892C887374}" destId="{9F544D03-1954-4732-A0A4-6DEE5E335C66}" srcOrd="4" destOrd="0" parTransId="{4DB8FD88-802A-4A32-BAC9-694912B78DE2}" sibTransId="{A054D135-A308-42F9-B2F5-65FB60B3ADC1}"/>
    <dgm:cxn modelId="{2330C62A-3962-402A-802C-25BBF3DC158B}" type="presOf" srcId="{9F544D03-1954-4732-A0A4-6DEE5E335C66}" destId="{25631EAF-4B38-4236-9D13-7F0688DE02B1}" srcOrd="0" destOrd="0" presId="urn:microsoft.com/office/officeart/2005/8/layout/vList2"/>
    <dgm:cxn modelId="{103A8D31-3FC6-46CD-AC68-BDC646DA68FF}" type="presOf" srcId="{D2AF93FE-86DA-4313-B054-FC20FB744626}" destId="{D1800110-5B5F-42A8-8E07-F63BF5A02160}" srcOrd="0" destOrd="0" presId="urn:microsoft.com/office/officeart/2005/8/layout/vList2"/>
    <dgm:cxn modelId="{B0272E65-1450-4EA7-A73B-CFF481F30D4A}" srcId="{A0136F92-3FD5-4E75-99C5-42892C887374}" destId="{95E9C269-8443-49CE-8F66-A31EDE8D812B}" srcOrd="0" destOrd="0" parTransId="{CDA4A2CE-441A-4EC4-B41E-FF95382A5DE4}" sibTransId="{D21858A5-96F0-4BE8-8672-33DE5AEE6EA4}"/>
    <dgm:cxn modelId="{8F609073-5A12-4A69-B115-42E1CF6BFEF1}" type="presOf" srcId="{95E9C269-8443-49CE-8F66-A31EDE8D812B}" destId="{5C6EABD4-A8E4-48D9-BB62-0AE50A7C17E4}" srcOrd="0" destOrd="0" presId="urn:microsoft.com/office/officeart/2005/8/layout/vList2"/>
    <dgm:cxn modelId="{B234F97D-263C-476B-9343-BF3CCFFA656A}" type="presOf" srcId="{128E2483-2F50-4EA5-B221-B9418A6BB0D4}" destId="{79F719D5-52F7-4186-9348-4BA4E90106D5}" srcOrd="0" destOrd="0" presId="urn:microsoft.com/office/officeart/2005/8/layout/vList2"/>
    <dgm:cxn modelId="{69A91F80-0408-4AFD-8C98-0A0BB35F4FBB}" srcId="{A0136F92-3FD5-4E75-99C5-42892C887374}" destId="{128E2483-2F50-4EA5-B221-B9418A6BB0D4}" srcOrd="2" destOrd="0" parTransId="{B26847FC-4F2D-4E4F-BADE-DAA94AF8CC3D}" sibTransId="{74FA1E60-5CBB-4499-BC45-FA817B0F8C5C}"/>
    <dgm:cxn modelId="{FBB62F90-FFEE-44F0-A0EE-91ADD4CF9C8B}" type="presOf" srcId="{A0136F92-3FD5-4E75-99C5-42892C887374}" destId="{CAD3007C-099D-4122-A3B2-C2A70D99215A}" srcOrd="0" destOrd="0" presId="urn:microsoft.com/office/officeart/2005/8/layout/vList2"/>
    <dgm:cxn modelId="{4CC6E1DB-CF75-4745-8C21-12814D8CCBA3}" srcId="{A0136F92-3FD5-4E75-99C5-42892C887374}" destId="{763DF2BE-2373-4BBC-9553-DF1A1787B655}" srcOrd="1" destOrd="0" parTransId="{D51DEF7D-82A0-4E6D-9366-B9819CBD042E}" sibTransId="{B63098A6-C9D4-4430-B029-5A18CA7E098D}"/>
    <dgm:cxn modelId="{8AB168EC-D0CD-4819-861A-D5E4A3295E94}" type="presOf" srcId="{763DF2BE-2373-4BBC-9553-DF1A1787B655}" destId="{47703862-7889-45E6-A01B-E0D1CF670D0A}" srcOrd="0" destOrd="0" presId="urn:microsoft.com/office/officeart/2005/8/layout/vList2"/>
    <dgm:cxn modelId="{A9DCC9FD-FA45-4D14-A52B-3978DF35890E}" srcId="{A0136F92-3FD5-4E75-99C5-42892C887374}" destId="{D2AF93FE-86DA-4313-B054-FC20FB744626}" srcOrd="3" destOrd="0" parTransId="{23ACCA2B-6442-4EEF-B7CF-6EFE25969277}" sibTransId="{10487911-4E02-473E-B465-7D12331BD56F}"/>
    <dgm:cxn modelId="{127700B1-DE6B-41AA-911B-1C519CFF2682}" type="presParOf" srcId="{CAD3007C-099D-4122-A3B2-C2A70D99215A}" destId="{5C6EABD4-A8E4-48D9-BB62-0AE50A7C17E4}" srcOrd="0" destOrd="0" presId="urn:microsoft.com/office/officeart/2005/8/layout/vList2"/>
    <dgm:cxn modelId="{42544B8A-2231-4775-BAAB-803F78622897}" type="presParOf" srcId="{CAD3007C-099D-4122-A3B2-C2A70D99215A}" destId="{14E8755D-F158-4C85-A488-D4BC08149D72}" srcOrd="1" destOrd="0" presId="urn:microsoft.com/office/officeart/2005/8/layout/vList2"/>
    <dgm:cxn modelId="{CA1F5AB5-58FE-461F-B9D6-BD26F87FA6E0}" type="presParOf" srcId="{CAD3007C-099D-4122-A3B2-C2A70D99215A}" destId="{47703862-7889-45E6-A01B-E0D1CF670D0A}" srcOrd="2" destOrd="0" presId="urn:microsoft.com/office/officeart/2005/8/layout/vList2"/>
    <dgm:cxn modelId="{57C0F901-4753-469D-A9AA-57F10968D102}" type="presParOf" srcId="{CAD3007C-099D-4122-A3B2-C2A70D99215A}" destId="{A407A20A-B034-4EAC-9BE1-75438C3C29E4}" srcOrd="3" destOrd="0" presId="urn:microsoft.com/office/officeart/2005/8/layout/vList2"/>
    <dgm:cxn modelId="{7DC2E4AF-92F8-447C-98BA-02385D964BEB}" type="presParOf" srcId="{CAD3007C-099D-4122-A3B2-C2A70D99215A}" destId="{79F719D5-52F7-4186-9348-4BA4E90106D5}" srcOrd="4" destOrd="0" presId="urn:microsoft.com/office/officeart/2005/8/layout/vList2"/>
    <dgm:cxn modelId="{AA84EDB9-DEE3-48CC-9DB6-C41F2C453CA4}" type="presParOf" srcId="{CAD3007C-099D-4122-A3B2-C2A70D99215A}" destId="{4F9733E1-0D36-4C1F-BA49-532A9E59FFC3}" srcOrd="5" destOrd="0" presId="urn:microsoft.com/office/officeart/2005/8/layout/vList2"/>
    <dgm:cxn modelId="{72B0910D-91C7-4414-A8CD-DB2BABCBA08B}" type="presParOf" srcId="{CAD3007C-099D-4122-A3B2-C2A70D99215A}" destId="{D1800110-5B5F-42A8-8E07-F63BF5A02160}" srcOrd="6" destOrd="0" presId="urn:microsoft.com/office/officeart/2005/8/layout/vList2"/>
    <dgm:cxn modelId="{204CECF8-17CF-44E9-B037-791250FD424C}" type="presParOf" srcId="{CAD3007C-099D-4122-A3B2-C2A70D99215A}" destId="{D0EEB10A-52AC-445F-BBCA-8A2D9FA8BDE4}" srcOrd="7" destOrd="0" presId="urn:microsoft.com/office/officeart/2005/8/layout/vList2"/>
    <dgm:cxn modelId="{706599FD-3544-4B6D-B23B-262C18377787}" type="presParOf" srcId="{CAD3007C-099D-4122-A3B2-C2A70D99215A}" destId="{25631EAF-4B38-4236-9D13-7F0688DE02B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CE028B-A6EB-4AFC-B928-655FB1CE23F4}" type="doc">
      <dgm:prSet loTypeId="urn:microsoft.com/office/officeart/2005/8/layout/vList2" loCatId="list" qsTypeId="urn:microsoft.com/office/officeart/2005/8/quickstyle/simple5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2EEC404E-BA6E-488F-8465-5B3637ABD834}">
      <dgm:prSet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IN" sz="1600" b="1"/>
            <a:t>1. Multiple Stakeholders</a:t>
          </a:r>
          <a:endParaRPr lang="en-US" sz="1600"/>
        </a:p>
      </dgm:t>
    </dgm:pt>
    <dgm:pt modelId="{EB2EDCAC-BC9A-4DA3-B822-F72BAA3277E5}" type="parTrans" cxnId="{25DE9151-9759-4B23-9926-6D64CED33B76}">
      <dgm:prSet/>
      <dgm:spPr/>
      <dgm:t>
        <a:bodyPr/>
        <a:lstStyle/>
        <a:p>
          <a:endParaRPr lang="en-US" sz="3600"/>
        </a:p>
      </dgm:t>
    </dgm:pt>
    <dgm:pt modelId="{241F9B38-BEFE-4FDC-8C56-CE003D77F1FC}" type="sibTrans" cxnId="{25DE9151-9759-4B23-9926-6D64CED33B76}">
      <dgm:prSet/>
      <dgm:spPr/>
      <dgm:t>
        <a:bodyPr/>
        <a:lstStyle/>
        <a:p>
          <a:endParaRPr lang="en-US" sz="2400"/>
        </a:p>
      </dgm:t>
    </dgm:pt>
    <dgm:pt modelId="{A80DB92D-2E54-46F4-B036-631E996B38C5}">
      <dgm:prSet custT="1"/>
      <dgm:spPr/>
      <dgm:t>
        <a:bodyPr/>
        <a:lstStyle/>
        <a:p>
          <a:r>
            <a:rPr lang="en-IN" sz="1600"/>
            <a:t>The issue involves several groups with different roles and interests, including:</a:t>
          </a:r>
          <a:endParaRPr lang="en-US" sz="1600"/>
        </a:p>
      </dgm:t>
    </dgm:pt>
    <dgm:pt modelId="{F57FF72B-ACC2-4BEB-A663-CD9A85292869}" type="parTrans" cxnId="{321EB74A-C0CB-4C8D-A67E-4ACE9AAA52D4}">
      <dgm:prSet/>
      <dgm:spPr/>
      <dgm:t>
        <a:bodyPr/>
        <a:lstStyle/>
        <a:p>
          <a:endParaRPr lang="en-US" sz="3600"/>
        </a:p>
      </dgm:t>
    </dgm:pt>
    <dgm:pt modelId="{E94D67E4-D177-4649-82C9-70B8DD062AFE}" type="sibTrans" cxnId="{321EB74A-C0CB-4C8D-A67E-4ACE9AAA52D4}">
      <dgm:prSet/>
      <dgm:spPr/>
      <dgm:t>
        <a:bodyPr/>
        <a:lstStyle/>
        <a:p>
          <a:endParaRPr lang="en-US" sz="2400"/>
        </a:p>
      </dgm:t>
    </dgm:pt>
    <dgm:pt modelId="{3ED54065-DDE3-439C-9689-D5767126D800}">
      <dgm:prSet custT="1"/>
      <dgm:spPr/>
      <dgm:t>
        <a:bodyPr/>
        <a:lstStyle/>
        <a:p>
          <a:r>
            <a:rPr lang="en-IN" sz="1600"/>
            <a:t>Senior citizens</a:t>
          </a:r>
          <a:endParaRPr lang="en-US" sz="1600"/>
        </a:p>
      </dgm:t>
    </dgm:pt>
    <dgm:pt modelId="{5987AA77-D716-4221-82E8-51058EE22C24}" type="parTrans" cxnId="{ECD087F6-5538-4E9E-A8DF-EB82E89C1E74}">
      <dgm:prSet/>
      <dgm:spPr/>
      <dgm:t>
        <a:bodyPr/>
        <a:lstStyle/>
        <a:p>
          <a:endParaRPr lang="en-US" sz="3600"/>
        </a:p>
      </dgm:t>
    </dgm:pt>
    <dgm:pt modelId="{B5FE4CB9-D54A-47FA-A598-6770310ED0AC}" type="sibTrans" cxnId="{ECD087F6-5538-4E9E-A8DF-EB82E89C1E74}">
      <dgm:prSet/>
      <dgm:spPr/>
      <dgm:t>
        <a:bodyPr/>
        <a:lstStyle/>
        <a:p>
          <a:endParaRPr lang="en-US" sz="2400"/>
        </a:p>
      </dgm:t>
    </dgm:pt>
    <dgm:pt modelId="{AA94584F-A660-47F2-A4B4-268D8B04EFD4}">
      <dgm:prSet custT="1"/>
      <dgm:spPr/>
      <dgm:t>
        <a:bodyPr/>
        <a:lstStyle/>
        <a:p>
          <a:r>
            <a:rPr lang="en-IN" sz="1600"/>
            <a:t>Family members and caregivers</a:t>
          </a:r>
          <a:endParaRPr lang="en-US" sz="1600"/>
        </a:p>
      </dgm:t>
    </dgm:pt>
    <dgm:pt modelId="{BC3D2719-DD80-4E5D-AD3A-7BA40C918745}" type="parTrans" cxnId="{AEC6C681-B605-4060-943E-9C7D1474EBEB}">
      <dgm:prSet/>
      <dgm:spPr/>
      <dgm:t>
        <a:bodyPr/>
        <a:lstStyle/>
        <a:p>
          <a:endParaRPr lang="en-US" sz="3600"/>
        </a:p>
      </dgm:t>
    </dgm:pt>
    <dgm:pt modelId="{66D1417E-F4A8-4426-A545-9410A8DFB94D}" type="sibTrans" cxnId="{AEC6C681-B605-4060-943E-9C7D1474EBEB}">
      <dgm:prSet/>
      <dgm:spPr/>
      <dgm:t>
        <a:bodyPr/>
        <a:lstStyle/>
        <a:p>
          <a:endParaRPr lang="en-US" sz="2400"/>
        </a:p>
      </dgm:t>
    </dgm:pt>
    <dgm:pt modelId="{DC3A6BDF-D8DE-40C4-B710-37FFB76AFA1F}">
      <dgm:prSet custT="1"/>
      <dgm:spPr/>
      <dgm:t>
        <a:bodyPr/>
        <a:lstStyle/>
        <a:p>
          <a:r>
            <a:rPr lang="en-IN" sz="1600"/>
            <a:t>Technology developers</a:t>
          </a:r>
          <a:endParaRPr lang="en-US" sz="1600"/>
        </a:p>
      </dgm:t>
    </dgm:pt>
    <dgm:pt modelId="{F9C2876D-2B3E-43DD-8AA6-CC59F26F18EC}" type="parTrans" cxnId="{D7CA243F-E37F-4043-BAA1-A96178C4A80F}">
      <dgm:prSet/>
      <dgm:spPr/>
      <dgm:t>
        <a:bodyPr/>
        <a:lstStyle/>
        <a:p>
          <a:endParaRPr lang="en-US" sz="3600"/>
        </a:p>
      </dgm:t>
    </dgm:pt>
    <dgm:pt modelId="{DE4325C4-3630-4344-9A7C-F088A3CA924C}" type="sibTrans" cxnId="{D7CA243F-E37F-4043-BAA1-A96178C4A80F}">
      <dgm:prSet/>
      <dgm:spPr/>
      <dgm:t>
        <a:bodyPr/>
        <a:lstStyle/>
        <a:p>
          <a:endParaRPr lang="en-US" sz="2400"/>
        </a:p>
      </dgm:t>
    </dgm:pt>
    <dgm:pt modelId="{584CB53E-D399-4C45-BF1A-6E6EAFD4D52F}">
      <dgm:prSet custT="1"/>
      <dgm:spPr/>
      <dgm:t>
        <a:bodyPr/>
        <a:lstStyle/>
        <a:p>
          <a:r>
            <a:rPr lang="en-IN" sz="1600"/>
            <a:t>Government agencies</a:t>
          </a:r>
          <a:endParaRPr lang="en-US" sz="1600"/>
        </a:p>
      </dgm:t>
    </dgm:pt>
    <dgm:pt modelId="{9EE94218-4698-42CC-85C8-0074A1F6C546}" type="parTrans" cxnId="{5F839160-810E-4DA5-BAF8-8C0176C5311A}">
      <dgm:prSet/>
      <dgm:spPr/>
      <dgm:t>
        <a:bodyPr/>
        <a:lstStyle/>
        <a:p>
          <a:endParaRPr lang="en-US" sz="3600"/>
        </a:p>
      </dgm:t>
    </dgm:pt>
    <dgm:pt modelId="{340DE86B-0DF4-49EF-A52A-188B2E58BC47}" type="sibTrans" cxnId="{5F839160-810E-4DA5-BAF8-8C0176C5311A}">
      <dgm:prSet/>
      <dgm:spPr/>
      <dgm:t>
        <a:bodyPr/>
        <a:lstStyle/>
        <a:p>
          <a:endParaRPr lang="en-US" sz="2400"/>
        </a:p>
      </dgm:t>
    </dgm:pt>
    <dgm:pt modelId="{18F6D7ED-0DCA-4C6C-BBCD-FFDBC90F8889}">
      <dgm:prSet custT="1"/>
      <dgm:spPr/>
      <dgm:t>
        <a:bodyPr/>
        <a:lstStyle/>
        <a:p>
          <a:r>
            <a:rPr lang="en-IN" sz="1600"/>
            <a:t>Community organizations</a:t>
          </a:r>
          <a:endParaRPr lang="en-US" sz="1600"/>
        </a:p>
      </dgm:t>
    </dgm:pt>
    <dgm:pt modelId="{9935BFE8-DA06-4D2C-9255-126D40A29FAC}" type="parTrans" cxnId="{E00B6234-60D8-4602-841C-45791C896025}">
      <dgm:prSet/>
      <dgm:spPr/>
      <dgm:t>
        <a:bodyPr/>
        <a:lstStyle/>
        <a:p>
          <a:endParaRPr lang="en-US" sz="3600"/>
        </a:p>
      </dgm:t>
    </dgm:pt>
    <dgm:pt modelId="{1C008955-FF91-4398-BBA5-D086F940B3BA}" type="sibTrans" cxnId="{E00B6234-60D8-4602-841C-45791C896025}">
      <dgm:prSet/>
      <dgm:spPr/>
      <dgm:t>
        <a:bodyPr/>
        <a:lstStyle/>
        <a:p>
          <a:endParaRPr lang="en-US" sz="2400"/>
        </a:p>
      </dgm:t>
    </dgm:pt>
    <dgm:pt modelId="{8FA33B4F-C640-4DD5-A8D1-7801C228D1BD}">
      <dgm:prSet custT="1"/>
      <dgm:spPr/>
      <dgm:t>
        <a:bodyPr/>
        <a:lstStyle/>
        <a:p>
          <a:r>
            <a:rPr lang="en-IN" sz="1600"/>
            <a:t>Financial institutions</a:t>
          </a:r>
          <a:endParaRPr lang="en-US" sz="1600"/>
        </a:p>
      </dgm:t>
    </dgm:pt>
    <dgm:pt modelId="{9C62BE16-E0BB-4EE3-9BC6-D9E1197069F0}" type="parTrans" cxnId="{5BCA9819-5D2C-4B5E-B23D-7D9E0D67B8D7}">
      <dgm:prSet/>
      <dgm:spPr/>
      <dgm:t>
        <a:bodyPr/>
        <a:lstStyle/>
        <a:p>
          <a:endParaRPr lang="en-US" sz="3600"/>
        </a:p>
      </dgm:t>
    </dgm:pt>
    <dgm:pt modelId="{9C2F53F2-A776-4602-834D-EC7EC3AAE079}" type="sibTrans" cxnId="{5BCA9819-5D2C-4B5E-B23D-7D9E0D67B8D7}">
      <dgm:prSet/>
      <dgm:spPr/>
      <dgm:t>
        <a:bodyPr/>
        <a:lstStyle/>
        <a:p>
          <a:endParaRPr lang="en-US" sz="2400"/>
        </a:p>
      </dgm:t>
    </dgm:pt>
    <dgm:pt modelId="{32BB2334-1B1A-4F15-BC67-F842EF58B11F}">
      <dgm:prSet custT="1"/>
      <dgm:spPr/>
      <dgm:t>
        <a:bodyPr/>
        <a:lstStyle/>
        <a:p>
          <a:r>
            <a:rPr lang="en-IN" sz="1600"/>
            <a:t>Each group has different perspectives and priorities, making it challenging to design a single solution that meets everyone’s needs.</a:t>
          </a:r>
          <a:endParaRPr lang="en-US" sz="1600"/>
        </a:p>
      </dgm:t>
    </dgm:pt>
    <dgm:pt modelId="{8530A5D4-5892-4CCE-AB10-5DAEABA41EB9}" type="parTrans" cxnId="{7B469FAA-2B6F-4F98-9F09-D7F3B28AC59F}">
      <dgm:prSet/>
      <dgm:spPr/>
      <dgm:t>
        <a:bodyPr/>
        <a:lstStyle/>
        <a:p>
          <a:endParaRPr lang="en-US" sz="3600"/>
        </a:p>
      </dgm:t>
    </dgm:pt>
    <dgm:pt modelId="{CA693B6A-2930-44EE-BE0A-056520717026}" type="sibTrans" cxnId="{7B469FAA-2B6F-4F98-9F09-D7F3B28AC59F}">
      <dgm:prSet/>
      <dgm:spPr/>
      <dgm:t>
        <a:bodyPr/>
        <a:lstStyle/>
        <a:p>
          <a:endParaRPr lang="en-US" sz="2400"/>
        </a:p>
      </dgm:t>
    </dgm:pt>
    <dgm:pt modelId="{6941EB4C-0697-475E-A2E6-C7A9F75D3B9C}" type="pres">
      <dgm:prSet presAssocID="{1BCE028B-A6EB-4AFC-B928-655FB1CE23F4}" presName="linear" presStyleCnt="0">
        <dgm:presLayoutVars>
          <dgm:animLvl val="lvl"/>
          <dgm:resizeHandles val="exact"/>
        </dgm:presLayoutVars>
      </dgm:prSet>
      <dgm:spPr/>
    </dgm:pt>
    <dgm:pt modelId="{5A28C0EE-4D79-4B58-A531-90511D1DDC0D}" type="pres">
      <dgm:prSet presAssocID="{2EEC404E-BA6E-488F-8465-5B3637ABD834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A29C369C-99AE-4EBE-AD83-E0C9DAA5C5D5}" type="pres">
      <dgm:prSet presAssocID="{241F9B38-BEFE-4FDC-8C56-CE003D77F1FC}" presName="spacer" presStyleCnt="0"/>
      <dgm:spPr/>
    </dgm:pt>
    <dgm:pt modelId="{B6567AE5-99C8-4BDA-8C0E-D78A85C68517}" type="pres">
      <dgm:prSet presAssocID="{A80DB92D-2E54-46F4-B036-631E996B38C5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C7292B44-846F-42C1-9B89-4A21BA13DFE0}" type="pres">
      <dgm:prSet presAssocID="{E94D67E4-D177-4649-82C9-70B8DD062AFE}" presName="spacer" presStyleCnt="0"/>
      <dgm:spPr/>
    </dgm:pt>
    <dgm:pt modelId="{344EE67B-0340-446B-88AE-68EBD6180FFC}" type="pres">
      <dgm:prSet presAssocID="{3ED54065-DDE3-439C-9689-D5767126D800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DD0207D7-6820-4CB6-8272-17929FC5B3BF}" type="pres">
      <dgm:prSet presAssocID="{B5FE4CB9-D54A-47FA-A598-6770310ED0AC}" presName="spacer" presStyleCnt="0"/>
      <dgm:spPr/>
    </dgm:pt>
    <dgm:pt modelId="{8C955CB0-8822-4D89-A580-9D34C15EEB15}" type="pres">
      <dgm:prSet presAssocID="{AA94584F-A660-47F2-A4B4-268D8B04EFD4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2E4AC15E-68BF-4D41-86A8-FEA58193C4E8}" type="pres">
      <dgm:prSet presAssocID="{66D1417E-F4A8-4426-A545-9410A8DFB94D}" presName="spacer" presStyleCnt="0"/>
      <dgm:spPr/>
    </dgm:pt>
    <dgm:pt modelId="{795FFE12-9AEB-4529-85E8-1BE46E34E534}" type="pres">
      <dgm:prSet presAssocID="{DC3A6BDF-D8DE-40C4-B710-37FFB76AFA1F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5C61B990-37F8-417B-A4C2-528CB6EC5609}" type="pres">
      <dgm:prSet presAssocID="{DE4325C4-3630-4344-9A7C-F088A3CA924C}" presName="spacer" presStyleCnt="0"/>
      <dgm:spPr/>
    </dgm:pt>
    <dgm:pt modelId="{CD2183AD-C0A1-40A1-B5B0-90CEBCEC2FBD}" type="pres">
      <dgm:prSet presAssocID="{584CB53E-D399-4C45-BF1A-6E6EAFD4D52F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1619CFF5-AF70-4A67-9AB0-F2C18A6CDC97}" type="pres">
      <dgm:prSet presAssocID="{340DE86B-0DF4-49EF-A52A-188B2E58BC47}" presName="spacer" presStyleCnt="0"/>
      <dgm:spPr/>
    </dgm:pt>
    <dgm:pt modelId="{B83CC77D-2F45-4888-888F-E1560B718B20}" type="pres">
      <dgm:prSet presAssocID="{18F6D7ED-0DCA-4C6C-BBCD-FFDBC90F8889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46C1D5F4-EDB5-49F5-BBA1-62AAEC9F4CBD}" type="pres">
      <dgm:prSet presAssocID="{1C008955-FF91-4398-BBA5-D086F940B3BA}" presName="spacer" presStyleCnt="0"/>
      <dgm:spPr/>
    </dgm:pt>
    <dgm:pt modelId="{34FEF62C-CA93-4880-935F-C6E0E5750A18}" type="pres">
      <dgm:prSet presAssocID="{8FA33B4F-C640-4DD5-A8D1-7801C228D1BD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9106AD87-7C4D-4DA8-AC39-5976CC5BE516}" type="pres">
      <dgm:prSet presAssocID="{9C2F53F2-A776-4602-834D-EC7EC3AAE079}" presName="spacer" presStyleCnt="0"/>
      <dgm:spPr/>
    </dgm:pt>
    <dgm:pt modelId="{C4B93B27-726A-4FA6-9DF5-77F8DFCBB114}" type="pres">
      <dgm:prSet presAssocID="{32BB2334-1B1A-4F15-BC67-F842EF58B11F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33E34C04-D38F-4142-BD24-F136DB9A2757}" type="presOf" srcId="{A80DB92D-2E54-46F4-B036-631E996B38C5}" destId="{B6567AE5-99C8-4BDA-8C0E-D78A85C68517}" srcOrd="0" destOrd="0" presId="urn:microsoft.com/office/officeart/2005/8/layout/vList2"/>
    <dgm:cxn modelId="{5BCA9819-5D2C-4B5E-B23D-7D9E0D67B8D7}" srcId="{1BCE028B-A6EB-4AFC-B928-655FB1CE23F4}" destId="{8FA33B4F-C640-4DD5-A8D1-7801C228D1BD}" srcOrd="7" destOrd="0" parTransId="{9C62BE16-E0BB-4EE3-9BC6-D9E1197069F0}" sibTransId="{9C2F53F2-A776-4602-834D-EC7EC3AAE079}"/>
    <dgm:cxn modelId="{E00B6234-60D8-4602-841C-45791C896025}" srcId="{1BCE028B-A6EB-4AFC-B928-655FB1CE23F4}" destId="{18F6D7ED-0DCA-4C6C-BBCD-FFDBC90F8889}" srcOrd="6" destOrd="0" parTransId="{9935BFE8-DA06-4D2C-9255-126D40A29FAC}" sibTransId="{1C008955-FF91-4398-BBA5-D086F940B3BA}"/>
    <dgm:cxn modelId="{D7CA243F-E37F-4043-BAA1-A96178C4A80F}" srcId="{1BCE028B-A6EB-4AFC-B928-655FB1CE23F4}" destId="{DC3A6BDF-D8DE-40C4-B710-37FFB76AFA1F}" srcOrd="4" destOrd="0" parTransId="{F9C2876D-2B3E-43DD-8AA6-CC59F26F18EC}" sibTransId="{DE4325C4-3630-4344-9A7C-F088A3CA924C}"/>
    <dgm:cxn modelId="{5F839160-810E-4DA5-BAF8-8C0176C5311A}" srcId="{1BCE028B-A6EB-4AFC-B928-655FB1CE23F4}" destId="{584CB53E-D399-4C45-BF1A-6E6EAFD4D52F}" srcOrd="5" destOrd="0" parTransId="{9EE94218-4698-42CC-85C8-0074A1F6C546}" sibTransId="{340DE86B-0DF4-49EF-A52A-188B2E58BC47}"/>
    <dgm:cxn modelId="{321EB74A-C0CB-4C8D-A67E-4ACE9AAA52D4}" srcId="{1BCE028B-A6EB-4AFC-B928-655FB1CE23F4}" destId="{A80DB92D-2E54-46F4-B036-631E996B38C5}" srcOrd="1" destOrd="0" parTransId="{F57FF72B-ACC2-4BEB-A663-CD9A85292869}" sibTransId="{E94D67E4-D177-4649-82C9-70B8DD062AFE}"/>
    <dgm:cxn modelId="{25DE9151-9759-4B23-9926-6D64CED33B76}" srcId="{1BCE028B-A6EB-4AFC-B928-655FB1CE23F4}" destId="{2EEC404E-BA6E-488F-8465-5B3637ABD834}" srcOrd="0" destOrd="0" parTransId="{EB2EDCAC-BC9A-4DA3-B822-F72BAA3277E5}" sibTransId="{241F9B38-BEFE-4FDC-8C56-CE003D77F1FC}"/>
    <dgm:cxn modelId="{AEC6C681-B605-4060-943E-9C7D1474EBEB}" srcId="{1BCE028B-A6EB-4AFC-B928-655FB1CE23F4}" destId="{AA94584F-A660-47F2-A4B4-268D8B04EFD4}" srcOrd="3" destOrd="0" parTransId="{BC3D2719-DD80-4E5D-AD3A-7BA40C918745}" sibTransId="{66D1417E-F4A8-4426-A545-9410A8DFB94D}"/>
    <dgm:cxn modelId="{08B64A8A-3C91-4773-8901-4BF84D77BCFB}" type="presOf" srcId="{DC3A6BDF-D8DE-40C4-B710-37FFB76AFA1F}" destId="{795FFE12-9AEB-4529-85E8-1BE46E34E534}" srcOrd="0" destOrd="0" presId="urn:microsoft.com/office/officeart/2005/8/layout/vList2"/>
    <dgm:cxn modelId="{0E49458E-3ADF-410D-B757-4F85969A559C}" type="presOf" srcId="{2EEC404E-BA6E-488F-8465-5B3637ABD834}" destId="{5A28C0EE-4D79-4B58-A531-90511D1DDC0D}" srcOrd="0" destOrd="0" presId="urn:microsoft.com/office/officeart/2005/8/layout/vList2"/>
    <dgm:cxn modelId="{E9056890-80E0-44E7-A79C-5E3679B03712}" type="presOf" srcId="{32BB2334-1B1A-4F15-BC67-F842EF58B11F}" destId="{C4B93B27-726A-4FA6-9DF5-77F8DFCBB114}" srcOrd="0" destOrd="0" presId="urn:microsoft.com/office/officeart/2005/8/layout/vList2"/>
    <dgm:cxn modelId="{7B469FAA-2B6F-4F98-9F09-D7F3B28AC59F}" srcId="{1BCE028B-A6EB-4AFC-B928-655FB1CE23F4}" destId="{32BB2334-1B1A-4F15-BC67-F842EF58B11F}" srcOrd="8" destOrd="0" parTransId="{8530A5D4-5892-4CCE-AB10-5DAEABA41EB9}" sibTransId="{CA693B6A-2930-44EE-BE0A-056520717026}"/>
    <dgm:cxn modelId="{A6A125C8-39E5-446E-87EC-DFFC2A9401DE}" type="presOf" srcId="{584CB53E-D399-4C45-BF1A-6E6EAFD4D52F}" destId="{CD2183AD-C0A1-40A1-B5B0-90CEBCEC2FBD}" srcOrd="0" destOrd="0" presId="urn:microsoft.com/office/officeart/2005/8/layout/vList2"/>
    <dgm:cxn modelId="{CBBC2ACD-7218-4833-88A8-0183DF93C5A7}" type="presOf" srcId="{3ED54065-DDE3-439C-9689-D5767126D800}" destId="{344EE67B-0340-446B-88AE-68EBD6180FFC}" srcOrd="0" destOrd="0" presId="urn:microsoft.com/office/officeart/2005/8/layout/vList2"/>
    <dgm:cxn modelId="{3A56D6D8-57E3-4AE9-A712-A97561E20C14}" type="presOf" srcId="{8FA33B4F-C640-4DD5-A8D1-7801C228D1BD}" destId="{34FEF62C-CA93-4880-935F-C6E0E5750A18}" srcOrd="0" destOrd="0" presId="urn:microsoft.com/office/officeart/2005/8/layout/vList2"/>
    <dgm:cxn modelId="{304078DF-08F5-47DE-82F6-E457C60B8478}" type="presOf" srcId="{1BCE028B-A6EB-4AFC-B928-655FB1CE23F4}" destId="{6941EB4C-0697-475E-A2E6-C7A9F75D3B9C}" srcOrd="0" destOrd="0" presId="urn:microsoft.com/office/officeart/2005/8/layout/vList2"/>
    <dgm:cxn modelId="{89964FEB-1174-401E-A3A9-3778DD1959B3}" type="presOf" srcId="{AA94584F-A660-47F2-A4B4-268D8B04EFD4}" destId="{8C955CB0-8822-4D89-A580-9D34C15EEB15}" srcOrd="0" destOrd="0" presId="urn:microsoft.com/office/officeart/2005/8/layout/vList2"/>
    <dgm:cxn modelId="{ECD087F6-5538-4E9E-A8DF-EB82E89C1E74}" srcId="{1BCE028B-A6EB-4AFC-B928-655FB1CE23F4}" destId="{3ED54065-DDE3-439C-9689-D5767126D800}" srcOrd="2" destOrd="0" parTransId="{5987AA77-D716-4221-82E8-51058EE22C24}" sibTransId="{B5FE4CB9-D54A-47FA-A598-6770310ED0AC}"/>
    <dgm:cxn modelId="{31F955FB-F033-47E4-B82C-3559AC89B2C8}" type="presOf" srcId="{18F6D7ED-0DCA-4C6C-BBCD-FFDBC90F8889}" destId="{B83CC77D-2F45-4888-888F-E1560B718B20}" srcOrd="0" destOrd="0" presId="urn:microsoft.com/office/officeart/2005/8/layout/vList2"/>
    <dgm:cxn modelId="{8562CE9F-E7B9-44D8-9C02-775ABCB81E9A}" type="presParOf" srcId="{6941EB4C-0697-475E-A2E6-C7A9F75D3B9C}" destId="{5A28C0EE-4D79-4B58-A531-90511D1DDC0D}" srcOrd="0" destOrd="0" presId="urn:microsoft.com/office/officeart/2005/8/layout/vList2"/>
    <dgm:cxn modelId="{74A97992-96B9-4DA8-9E1F-8896D586907D}" type="presParOf" srcId="{6941EB4C-0697-475E-A2E6-C7A9F75D3B9C}" destId="{A29C369C-99AE-4EBE-AD83-E0C9DAA5C5D5}" srcOrd="1" destOrd="0" presId="urn:microsoft.com/office/officeart/2005/8/layout/vList2"/>
    <dgm:cxn modelId="{096B4FE7-560C-4559-8B40-E42F4EC6DDF7}" type="presParOf" srcId="{6941EB4C-0697-475E-A2E6-C7A9F75D3B9C}" destId="{B6567AE5-99C8-4BDA-8C0E-D78A85C68517}" srcOrd="2" destOrd="0" presId="urn:microsoft.com/office/officeart/2005/8/layout/vList2"/>
    <dgm:cxn modelId="{F8FFA868-BC64-4536-A3FB-ADBEAAF47463}" type="presParOf" srcId="{6941EB4C-0697-475E-A2E6-C7A9F75D3B9C}" destId="{C7292B44-846F-42C1-9B89-4A21BA13DFE0}" srcOrd="3" destOrd="0" presId="urn:microsoft.com/office/officeart/2005/8/layout/vList2"/>
    <dgm:cxn modelId="{A58F49BC-48AF-419E-A2F5-343B8A5C5587}" type="presParOf" srcId="{6941EB4C-0697-475E-A2E6-C7A9F75D3B9C}" destId="{344EE67B-0340-446B-88AE-68EBD6180FFC}" srcOrd="4" destOrd="0" presId="urn:microsoft.com/office/officeart/2005/8/layout/vList2"/>
    <dgm:cxn modelId="{A130E234-D6F6-4205-A350-462341932FE9}" type="presParOf" srcId="{6941EB4C-0697-475E-A2E6-C7A9F75D3B9C}" destId="{DD0207D7-6820-4CB6-8272-17929FC5B3BF}" srcOrd="5" destOrd="0" presId="urn:microsoft.com/office/officeart/2005/8/layout/vList2"/>
    <dgm:cxn modelId="{C5822D82-2D99-466E-B4FC-C9481F11236C}" type="presParOf" srcId="{6941EB4C-0697-475E-A2E6-C7A9F75D3B9C}" destId="{8C955CB0-8822-4D89-A580-9D34C15EEB15}" srcOrd="6" destOrd="0" presId="urn:microsoft.com/office/officeart/2005/8/layout/vList2"/>
    <dgm:cxn modelId="{13A043CE-DCA3-4D73-8671-2FD1D687E859}" type="presParOf" srcId="{6941EB4C-0697-475E-A2E6-C7A9F75D3B9C}" destId="{2E4AC15E-68BF-4D41-86A8-FEA58193C4E8}" srcOrd="7" destOrd="0" presId="urn:microsoft.com/office/officeart/2005/8/layout/vList2"/>
    <dgm:cxn modelId="{614094AE-7310-4564-8615-33B70D7BF1C3}" type="presParOf" srcId="{6941EB4C-0697-475E-A2E6-C7A9F75D3B9C}" destId="{795FFE12-9AEB-4529-85E8-1BE46E34E534}" srcOrd="8" destOrd="0" presId="urn:microsoft.com/office/officeart/2005/8/layout/vList2"/>
    <dgm:cxn modelId="{50D68615-FDB2-4C04-99D7-73E97D0C2D89}" type="presParOf" srcId="{6941EB4C-0697-475E-A2E6-C7A9F75D3B9C}" destId="{5C61B990-37F8-417B-A4C2-528CB6EC5609}" srcOrd="9" destOrd="0" presId="urn:microsoft.com/office/officeart/2005/8/layout/vList2"/>
    <dgm:cxn modelId="{4918B163-81F3-43E9-B6C4-2921E495BBC7}" type="presParOf" srcId="{6941EB4C-0697-475E-A2E6-C7A9F75D3B9C}" destId="{CD2183AD-C0A1-40A1-B5B0-90CEBCEC2FBD}" srcOrd="10" destOrd="0" presId="urn:microsoft.com/office/officeart/2005/8/layout/vList2"/>
    <dgm:cxn modelId="{7DD3E334-05CB-4959-AD5E-5F43ACE9F8C5}" type="presParOf" srcId="{6941EB4C-0697-475E-A2E6-C7A9F75D3B9C}" destId="{1619CFF5-AF70-4A67-9AB0-F2C18A6CDC97}" srcOrd="11" destOrd="0" presId="urn:microsoft.com/office/officeart/2005/8/layout/vList2"/>
    <dgm:cxn modelId="{B4E574C9-DC35-4183-8AE8-B87A159E9C51}" type="presParOf" srcId="{6941EB4C-0697-475E-A2E6-C7A9F75D3B9C}" destId="{B83CC77D-2F45-4888-888F-E1560B718B20}" srcOrd="12" destOrd="0" presId="urn:microsoft.com/office/officeart/2005/8/layout/vList2"/>
    <dgm:cxn modelId="{CBE466ED-6F7E-4FA5-824C-81C580F10D8B}" type="presParOf" srcId="{6941EB4C-0697-475E-A2E6-C7A9F75D3B9C}" destId="{46C1D5F4-EDB5-49F5-BBA1-62AAEC9F4CBD}" srcOrd="13" destOrd="0" presId="urn:microsoft.com/office/officeart/2005/8/layout/vList2"/>
    <dgm:cxn modelId="{27A27B0C-429D-4BD7-980A-6B1DF970BA17}" type="presParOf" srcId="{6941EB4C-0697-475E-A2E6-C7A9F75D3B9C}" destId="{34FEF62C-CA93-4880-935F-C6E0E5750A18}" srcOrd="14" destOrd="0" presId="urn:microsoft.com/office/officeart/2005/8/layout/vList2"/>
    <dgm:cxn modelId="{7580B3E4-F5AD-4B3A-96AE-46530ABCFA0A}" type="presParOf" srcId="{6941EB4C-0697-475E-A2E6-C7A9F75D3B9C}" destId="{9106AD87-7C4D-4DA8-AC39-5976CC5BE516}" srcOrd="15" destOrd="0" presId="urn:microsoft.com/office/officeart/2005/8/layout/vList2"/>
    <dgm:cxn modelId="{BE366D4A-F7C2-4F10-B18B-822868349192}" type="presParOf" srcId="{6941EB4C-0697-475E-A2E6-C7A9F75D3B9C}" destId="{C4B93B27-726A-4FA6-9DF5-77F8DFCBB114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475575-B63A-4768-A22B-9A33612F2C64}" type="doc">
      <dgm:prSet loTypeId="urn:microsoft.com/office/officeart/2005/8/layout/vList2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1C44974B-B02F-4EF6-80AA-E095397A7245}">
      <dgm:prSet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IN" sz="1800" b="1"/>
            <a:t>2. Diversity Among Senior Citizens</a:t>
          </a:r>
          <a:endParaRPr lang="en-US" sz="1800"/>
        </a:p>
      </dgm:t>
    </dgm:pt>
    <dgm:pt modelId="{235D4D72-F747-4050-B100-D7B2352F6498}" type="parTrans" cxnId="{681D5584-DD6D-4D0E-920E-66EF6A4B9ADC}">
      <dgm:prSet/>
      <dgm:spPr/>
      <dgm:t>
        <a:bodyPr/>
        <a:lstStyle/>
        <a:p>
          <a:endParaRPr lang="en-US" sz="2400"/>
        </a:p>
      </dgm:t>
    </dgm:pt>
    <dgm:pt modelId="{EA1BE415-1439-4D95-8271-D54106FB75A8}" type="sibTrans" cxnId="{681D5584-DD6D-4D0E-920E-66EF6A4B9ADC}">
      <dgm:prSet/>
      <dgm:spPr/>
      <dgm:t>
        <a:bodyPr/>
        <a:lstStyle/>
        <a:p>
          <a:endParaRPr lang="en-US" sz="2400"/>
        </a:p>
      </dgm:t>
    </dgm:pt>
    <dgm:pt modelId="{A5527209-3462-46BE-B1DC-1369D0AE9814}">
      <dgm:prSet custT="1"/>
      <dgm:spPr/>
      <dgm:t>
        <a:bodyPr/>
        <a:lstStyle/>
        <a:p>
          <a:r>
            <a:rPr lang="en-IN" sz="1800"/>
            <a:t>Senior citizens differ in terms of:</a:t>
          </a:r>
          <a:endParaRPr lang="en-US" sz="1800"/>
        </a:p>
      </dgm:t>
    </dgm:pt>
    <dgm:pt modelId="{C4904BAD-7C4F-459C-8790-2BBF4F55ACE8}" type="parTrans" cxnId="{2CDC1C59-E8AB-4125-9F37-3DF9BDE7BD4B}">
      <dgm:prSet/>
      <dgm:spPr/>
      <dgm:t>
        <a:bodyPr/>
        <a:lstStyle/>
        <a:p>
          <a:endParaRPr lang="en-US" sz="2400"/>
        </a:p>
      </dgm:t>
    </dgm:pt>
    <dgm:pt modelId="{B451B328-9727-41AD-83BE-2BBCBF46A6DA}" type="sibTrans" cxnId="{2CDC1C59-E8AB-4125-9F37-3DF9BDE7BD4B}">
      <dgm:prSet/>
      <dgm:spPr/>
      <dgm:t>
        <a:bodyPr/>
        <a:lstStyle/>
        <a:p>
          <a:endParaRPr lang="en-US" sz="2400"/>
        </a:p>
      </dgm:t>
    </dgm:pt>
    <dgm:pt modelId="{9D34C379-023F-43D3-B18F-B5FE72703AE4}">
      <dgm:prSet custT="1"/>
      <dgm:spPr/>
      <dgm:t>
        <a:bodyPr/>
        <a:lstStyle/>
        <a:p>
          <a:r>
            <a:rPr lang="en-IN" sz="1800"/>
            <a:t>Education level</a:t>
          </a:r>
          <a:endParaRPr lang="en-US" sz="1800"/>
        </a:p>
      </dgm:t>
    </dgm:pt>
    <dgm:pt modelId="{FAC0D622-6DA0-41B1-89E4-6B8C7F81277E}" type="parTrans" cxnId="{E3D8A5F3-C80E-4890-B713-A17F9A1E1851}">
      <dgm:prSet/>
      <dgm:spPr/>
      <dgm:t>
        <a:bodyPr/>
        <a:lstStyle/>
        <a:p>
          <a:endParaRPr lang="en-US" sz="2400"/>
        </a:p>
      </dgm:t>
    </dgm:pt>
    <dgm:pt modelId="{754166E2-A4B8-4448-8608-9B49EAE1DF3B}" type="sibTrans" cxnId="{E3D8A5F3-C80E-4890-B713-A17F9A1E1851}">
      <dgm:prSet/>
      <dgm:spPr/>
      <dgm:t>
        <a:bodyPr/>
        <a:lstStyle/>
        <a:p>
          <a:endParaRPr lang="en-US" sz="2400"/>
        </a:p>
      </dgm:t>
    </dgm:pt>
    <dgm:pt modelId="{1CF4F9D3-B245-4DDC-AE20-E69E21E7A55E}">
      <dgm:prSet custT="1"/>
      <dgm:spPr/>
      <dgm:t>
        <a:bodyPr/>
        <a:lstStyle/>
        <a:p>
          <a:r>
            <a:rPr lang="en-IN" sz="1800"/>
            <a:t>Economic status</a:t>
          </a:r>
          <a:endParaRPr lang="en-US" sz="1800"/>
        </a:p>
      </dgm:t>
    </dgm:pt>
    <dgm:pt modelId="{5F73EFB9-D200-4DAF-A406-79B0AE8246A6}" type="parTrans" cxnId="{01858C7C-5B48-4685-B730-201F24564AB8}">
      <dgm:prSet/>
      <dgm:spPr/>
      <dgm:t>
        <a:bodyPr/>
        <a:lstStyle/>
        <a:p>
          <a:endParaRPr lang="en-US" sz="2400"/>
        </a:p>
      </dgm:t>
    </dgm:pt>
    <dgm:pt modelId="{30ACCDF7-3E0F-4860-9921-E8157E7496F3}" type="sibTrans" cxnId="{01858C7C-5B48-4685-B730-201F24564AB8}">
      <dgm:prSet/>
      <dgm:spPr/>
      <dgm:t>
        <a:bodyPr/>
        <a:lstStyle/>
        <a:p>
          <a:endParaRPr lang="en-US" sz="2400"/>
        </a:p>
      </dgm:t>
    </dgm:pt>
    <dgm:pt modelId="{13AC51FE-1EC1-4CC0-8542-A19FBEF275F3}">
      <dgm:prSet custT="1"/>
      <dgm:spPr/>
      <dgm:t>
        <a:bodyPr/>
        <a:lstStyle/>
        <a:p>
          <a:r>
            <a:rPr lang="en-IN" sz="1800"/>
            <a:t>Technology exposure</a:t>
          </a:r>
          <a:endParaRPr lang="en-US" sz="1800"/>
        </a:p>
      </dgm:t>
    </dgm:pt>
    <dgm:pt modelId="{30340968-0880-43D8-BF6F-4FA3CB61AC1B}" type="parTrans" cxnId="{B05DCE0C-FB61-4A92-BE79-0D5228E179AE}">
      <dgm:prSet/>
      <dgm:spPr/>
      <dgm:t>
        <a:bodyPr/>
        <a:lstStyle/>
        <a:p>
          <a:endParaRPr lang="en-US" sz="2400"/>
        </a:p>
      </dgm:t>
    </dgm:pt>
    <dgm:pt modelId="{27351221-7C29-497C-B7D8-0FBF833347B9}" type="sibTrans" cxnId="{B05DCE0C-FB61-4A92-BE79-0D5228E179AE}">
      <dgm:prSet/>
      <dgm:spPr/>
      <dgm:t>
        <a:bodyPr/>
        <a:lstStyle/>
        <a:p>
          <a:endParaRPr lang="en-US" sz="2400"/>
        </a:p>
      </dgm:t>
    </dgm:pt>
    <dgm:pt modelId="{7D684BFA-1E0C-4057-90BF-7D3FABBA8F01}">
      <dgm:prSet custT="1"/>
      <dgm:spPr/>
      <dgm:t>
        <a:bodyPr/>
        <a:lstStyle/>
        <a:p>
          <a:r>
            <a:rPr lang="en-IN" sz="1800"/>
            <a:t>Health conditions</a:t>
          </a:r>
          <a:endParaRPr lang="en-US" sz="1800"/>
        </a:p>
      </dgm:t>
    </dgm:pt>
    <dgm:pt modelId="{093E5258-A165-4E5F-B895-86B16EF70256}" type="parTrans" cxnId="{482E15BC-694C-4304-89E5-A0CA14BD4692}">
      <dgm:prSet/>
      <dgm:spPr/>
      <dgm:t>
        <a:bodyPr/>
        <a:lstStyle/>
        <a:p>
          <a:endParaRPr lang="en-US" sz="2400"/>
        </a:p>
      </dgm:t>
    </dgm:pt>
    <dgm:pt modelId="{E31C85A9-E384-4A15-82CC-414053977765}" type="sibTrans" cxnId="{482E15BC-694C-4304-89E5-A0CA14BD4692}">
      <dgm:prSet/>
      <dgm:spPr/>
      <dgm:t>
        <a:bodyPr/>
        <a:lstStyle/>
        <a:p>
          <a:endParaRPr lang="en-US" sz="2400"/>
        </a:p>
      </dgm:t>
    </dgm:pt>
    <dgm:pt modelId="{9CE4BE1E-4E53-4934-A5EC-57BD991C2861}">
      <dgm:prSet custT="1"/>
      <dgm:spPr/>
      <dgm:t>
        <a:bodyPr/>
        <a:lstStyle/>
        <a:p>
          <a:r>
            <a:rPr lang="en-IN" sz="1800"/>
            <a:t>Some elderly individuals may have prior experience using computers, while others may have never interacted with digital technologies.</a:t>
          </a:r>
          <a:endParaRPr lang="en-US" sz="1800"/>
        </a:p>
      </dgm:t>
    </dgm:pt>
    <dgm:pt modelId="{25575D2E-0ED8-41DA-AF11-692C3E72C32A}" type="parTrans" cxnId="{69D0D83C-663E-43A5-99FF-5F6F38058980}">
      <dgm:prSet/>
      <dgm:spPr/>
      <dgm:t>
        <a:bodyPr/>
        <a:lstStyle/>
        <a:p>
          <a:endParaRPr lang="en-US" sz="2400"/>
        </a:p>
      </dgm:t>
    </dgm:pt>
    <dgm:pt modelId="{7BE0B81E-B5E8-4038-B47A-370FA222BC3E}" type="sibTrans" cxnId="{69D0D83C-663E-43A5-99FF-5F6F38058980}">
      <dgm:prSet/>
      <dgm:spPr/>
      <dgm:t>
        <a:bodyPr/>
        <a:lstStyle/>
        <a:p>
          <a:endParaRPr lang="en-US" sz="2400"/>
        </a:p>
      </dgm:t>
    </dgm:pt>
    <dgm:pt modelId="{B48DC95E-32F7-4571-8104-BCDCBF592A3A}" type="pres">
      <dgm:prSet presAssocID="{BF475575-B63A-4768-A22B-9A33612F2C64}" presName="linear" presStyleCnt="0">
        <dgm:presLayoutVars>
          <dgm:animLvl val="lvl"/>
          <dgm:resizeHandles val="exact"/>
        </dgm:presLayoutVars>
      </dgm:prSet>
      <dgm:spPr/>
    </dgm:pt>
    <dgm:pt modelId="{F832185E-9F85-49B9-B9B4-7380819B7AB8}" type="pres">
      <dgm:prSet presAssocID="{1C44974B-B02F-4EF6-80AA-E095397A7245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3D26D6BC-9D4E-48D8-9146-4CF1A68A3C4D}" type="pres">
      <dgm:prSet presAssocID="{EA1BE415-1439-4D95-8271-D54106FB75A8}" presName="spacer" presStyleCnt="0"/>
      <dgm:spPr/>
    </dgm:pt>
    <dgm:pt modelId="{33BCA249-2C1D-40BD-82B5-2CAC7FF86BF8}" type="pres">
      <dgm:prSet presAssocID="{A5527209-3462-46BE-B1DC-1369D0AE9814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88F5A879-7531-4843-B5A1-8F4E4B415F99}" type="pres">
      <dgm:prSet presAssocID="{B451B328-9727-41AD-83BE-2BBCBF46A6DA}" presName="spacer" presStyleCnt="0"/>
      <dgm:spPr/>
    </dgm:pt>
    <dgm:pt modelId="{13C10795-AF2F-43FB-A255-7E7D5111D024}" type="pres">
      <dgm:prSet presAssocID="{9D34C379-023F-43D3-B18F-B5FE72703AE4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71778DC5-1496-43E9-85BF-8CED6A6E079C}" type="pres">
      <dgm:prSet presAssocID="{754166E2-A4B8-4448-8608-9B49EAE1DF3B}" presName="spacer" presStyleCnt="0"/>
      <dgm:spPr/>
    </dgm:pt>
    <dgm:pt modelId="{AFD04E1F-53B3-4553-BB3E-8FDFF49D1FC9}" type="pres">
      <dgm:prSet presAssocID="{1CF4F9D3-B245-4DDC-AE20-E69E21E7A55E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BD7E65DF-2E87-42CE-9B56-692DCFDB8F31}" type="pres">
      <dgm:prSet presAssocID="{30ACCDF7-3E0F-4860-9921-E8157E7496F3}" presName="spacer" presStyleCnt="0"/>
      <dgm:spPr/>
    </dgm:pt>
    <dgm:pt modelId="{60E216D3-B651-4FCB-AC2E-528A695C4F22}" type="pres">
      <dgm:prSet presAssocID="{13AC51FE-1EC1-4CC0-8542-A19FBEF275F3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C8EFABE9-D20C-4EB6-B788-D93F8BFDCEDE}" type="pres">
      <dgm:prSet presAssocID="{27351221-7C29-497C-B7D8-0FBF833347B9}" presName="spacer" presStyleCnt="0"/>
      <dgm:spPr/>
    </dgm:pt>
    <dgm:pt modelId="{119D783C-B969-44BD-8998-2EFD910F937F}" type="pres">
      <dgm:prSet presAssocID="{7D684BFA-1E0C-4057-90BF-7D3FABBA8F01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35EE8A49-C8CB-4DA2-A4A7-C954B1060967}" type="pres">
      <dgm:prSet presAssocID="{E31C85A9-E384-4A15-82CC-414053977765}" presName="spacer" presStyleCnt="0"/>
      <dgm:spPr/>
    </dgm:pt>
    <dgm:pt modelId="{5A18AC2E-6975-40FD-9EAF-3B73F771E16C}" type="pres">
      <dgm:prSet presAssocID="{9CE4BE1E-4E53-4934-A5EC-57BD991C2861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B05DCE0C-FB61-4A92-BE79-0D5228E179AE}" srcId="{BF475575-B63A-4768-A22B-9A33612F2C64}" destId="{13AC51FE-1EC1-4CC0-8542-A19FBEF275F3}" srcOrd="4" destOrd="0" parTransId="{30340968-0880-43D8-BF6F-4FA3CB61AC1B}" sibTransId="{27351221-7C29-497C-B7D8-0FBF833347B9}"/>
    <dgm:cxn modelId="{9FA86316-73DC-46A0-A001-FACF1A7C3DE4}" type="presOf" srcId="{BF475575-B63A-4768-A22B-9A33612F2C64}" destId="{B48DC95E-32F7-4571-8104-BCDCBF592A3A}" srcOrd="0" destOrd="0" presId="urn:microsoft.com/office/officeart/2005/8/layout/vList2"/>
    <dgm:cxn modelId="{69D0D83C-663E-43A5-99FF-5F6F38058980}" srcId="{BF475575-B63A-4768-A22B-9A33612F2C64}" destId="{9CE4BE1E-4E53-4934-A5EC-57BD991C2861}" srcOrd="6" destOrd="0" parTransId="{25575D2E-0ED8-41DA-AF11-692C3E72C32A}" sibTransId="{7BE0B81E-B5E8-4038-B47A-370FA222BC3E}"/>
    <dgm:cxn modelId="{A8A9C86A-0E90-48AD-9B0A-2158DECF2772}" type="presOf" srcId="{1C44974B-B02F-4EF6-80AA-E095397A7245}" destId="{F832185E-9F85-49B9-B9B4-7380819B7AB8}" srcOrd="0" destOrd="0" presId="urn:microsoft.com/office/officeart/2005/8/layout/vList2"/>
    <dgm:cxn modelId="{FFEC4F6C-CFD4-4DEF-B908-BD897DFDDB94}" type="presOf" srcId="{1CF4F9D3-B245-4DDC-AE20-E69E21E7A55E}" destId="{AFD04E1F-53B3-4553-BB3E-8FDFF49D1FC9}" srcOrd="0" destOrd="0" presId="urn:microsoft.com/office/officeart/2005/8/layout/vList2"/>
    <dgm:cxn modelId="{3D7E6774-D431-48E7-B1A7-17C0A804F795}" type="presOf" srcId="{A5527209-3462-46BE-B1DC-1369D0AE9814}" destId="{33BCA249-2C1D-40BD-82B5-2CAC7FF86BF8}" srcOrd="0" destOrd="0" presId="urn:microsoft.com/office/officeart/2005/8/layout/vList2"/>
    <dgm:cxn modelId="{6E327178-D8AE-4E4D-AFAB-630A8DB97BD4}" type="presOf" srcId="{9D34C379-023F-43D3-B18F-B5FE72703AE4}" destId="{13C10795-AF2F-43FB-A255-7E7D5111D024}" srcOrd="0" destOrd="0" presId="urn:microsoft.com/office/officeart/2005/8/layout/vList2"/>
    <dgm:cxn modelId="{2CDC1C59-E8AB-4125-9F37-3DF9BDE7BD4B}" srcId="{BF475575-B63A-4768-A22B-9A33612F2C64}" destId="{A5527209-3462-46BE-B1DC-1369D0AE9814}" srcOrd="1" destOrd="0" parTransId="{C4904BAD-7C4F-459C-8790-2BBF4F55ACE8}" sibTransId="{B451B328-9727-41AD-83BE-2BBCBF46A6DA}"/>
    <dgm:cxn modelId="{A87FED79-5622-45B0-A542-339416E89D73}" type="presOf" srcId="{7D684BFA-1E0C-4057-90BF-7D3FABBA8F01}" destId="{119D783C-B969-44BD-8998-2EFD910F937F}" srcOrd="0" destOrd="0" presId="urn:microsoft.com/office/officeart/2005/8/layout/vList2"/>
    <dgm:cxn modelId="{01858C7C-5B48-4685-B730-201F24564AB8}" srcId="{BF475575-B63A-4768-A22B-9A33612F2C64}" destId="{1CF4F9D3-B245-4DDC-AE20-E69E21E7A55E}" srcOrd="3" destOrd="0" parTransId="{5F73EFB9-D200-4DAF-A406-79B0AE8246A6}" sibTransId="{30ACCDF7-3E0F-4860-9921-E8157E7496F3}"/>
    <dgm:cxn modelId="{681D5584-DD6D-4D0E-920E-66EF6A4B9ADC}" srcId="{BF475575-B63A-4768-A22B-9A33612F2C64}" destId="{1C44974B-B02F-4EF6-80AA-E095397A7245}" srcOrd="0" destOrd="0" parTransId="{235D4D72-F747-4050-B100-D7B2352F6498}" sibTransId="{EA1BE415-1439-4D95-8271-D54106FB75A8}"/>
    <dgm:cxn modelId="{482E15BC-694C-4304-89E5-A0CA14BD4692}" srcId="{BF475575-B63A-4768-A22B-9A33612F2C64}" destId="{7D684BFA-1E0C-4057-90BF-7D3FABBA8F01}" srcOrd="5" destOrd="0" parTransId="{093E5258-A165-4E5F-B895-86B16EF70256}" sibTransId="{E31C85A9-E384-4A15-82CC-414053977765}"/>
    <dgm:cxn modelId="{E3D8A5F3-C80E-4890-B713-A17F9A1E1851}" srcId="{BF475575-B63A-4768-A22B-9A33612F2C64}" destId="{9D34C379-023F-43D3-B18F-B5FE72703AE4}" srcOrd="2" destOrd="0" parTransId="{FAC0D622-6DA0-41B1-89E4-6B8C7F81277E}" sibTransId="{754166E2-A4B8-4448-8608-9B49EAE1DF3B}"/>
    <dgm:cxn modelId="{711989FC-A3D8-4BF1-AF9E-E0AA308D224C}" type="presOf" srcId="{13AC51FE-1EC1-4CC0-8542-A19FBEF275F3}" destId="{60E216D3-B651-4FCB-AC2E-528A695C4F22}" srcOrd="0" destOrd="0" presId="urn:microsoft.com/office/officeart/2005/8/layout/vList2"/>
    <dgm:cxn modelId="{1CE526FD-CC3E-4B48-9902-9BAFFBD6780A}" type="presOf" srcId="{9CE4BE1E-4E53-4934-A5EC-57BD991C2861}" destId="{5A18AC2E-6975-40FD-9EAF-3B73F771E16C}" srcOrd="0" destOrd="0" presId="urn:microsoft.com/office/officeart/2005/8/layout/vList2"/>
    <dgm:cxn modelId="{72D18B53-51F2-4491-94B9-F5D8A54AD68F}" type="presParOf" srcId="{B48DC95E-32F7-4571-8104-BCDCBF592A3A}" destId="{F832185E-9F85-49B9-B9B4-7380819B7AB8}" srcOrd="0" destOrd="0" presId="urn:microsoft.com/office/officeart/2005/8/layout/vList2"/>
    <dgm:cxn modelId="{46B01BA8-EE8C-433F-9EED-FCA0CBAE8FDD}" type="presParOf" srcId="{B48DC95E-32F7-4571-8104-BCDCBF592A3A}" destId="{3D26D6BC-9D4E-48D8-9146-4CF1A68A3C4D}" srcOrd="1" destOrd="0" presId="urn:microsoft.com/office/officeart/2005/8/layout/vList2"/>
    <dgm:cxn modelId="{7F829755-D821-46F6-8A55-3383BA6A07EB}" type="presParOf" srcId="{B48DC95E-32F7-4571-8104-BCDCBF592A3A}" destId="{33BCA249-2C1D-40BD-82B5-2CAC7FF86BF8}" srcOrd="2" destOrd="0" presId="urn:microsoft.com/office/officeart/2005/8/layout/vList2"/>
    <dgm:cxn modelId="{4BCF1B23-0266-4904-B47F-0C9D0E0847FC}" type="presParOf" srcId="{B48DC95E-32F7-4571-8104-BCDCBF592A3A}" destId="{88F5A879-7531-4843-B5A1-8F4E4B415F99}" srcOrd="3" destOrd="0" presId="urn:microsoft.com/office/officeart/2005/8/layout/vList2"/>
    <dgm:cxn modelId="{3289341D-09B5-44CE-8B30-1F5910DBA325}" type="presParOf" srcId="{B48DC95E-32F7-4571-8104-BCDCBF592A3A}" destId="{13C10795-AF2F-43FB-A255-7E7D5111D024}" srcOrd="4" destOrd="0" presId="urn:microsoft.com/office/officeart/2005/8/layout/vList2"/>
    <dgm:cxn modelId="{3C6607D6-1C32-436F-872E-3A291A801E70}" type="presParOf" srcId="{B48DC95E-32F7-4571-8104-BCDCBF592A3A}" destId="{71778DC5-1496-43E9-85BF-8CED6A6E079C}" srcOrd="5" destOrd="0" presId="urn:microsoft.com/office/officeart/2005/8/layout/vList2"/>
    <dgm:cxn modelId="{B29D9165-0560-4F21-A230-8201E77E8948}" type="presParOf" srcId="{B48DC95E-32F7-4571-8104-BCDCBF592A3A}" destId="{AFD04E1F-53B3-4553-BB3E-8FDFF49D1FC9}" srcOrd="6" destOrd="0" presId="urn:microsoft.com/office/officeart/2005/8/layout/vList2"/>
    <dgm:cxn modelId="{FC6C0AA5-3B13-41B5-B152-C0CEE5544DEB}" type="presParOf" srcId="{B48DC95E-32F7-4571-8104-BCDCBF592A3A}" destId="{BD7E65DF-2E87-42CE-9B56-692DCFDB8F31}" srcOrd="7" destOrd="0" presId="urn:microsoft.com/office/officeart/2005/8/layout/vList2"/>
    <dgm:cxn modelId="{6392EDE9-D45D-4D4F-AF50-A3859727ED20}" type="presParOf" srcId="{B48DC95E-32F7-4571-8104-BCDCBF592A3A}" destId="{60E216D3-B651-4FCB-AC2E-528A695C4F22}" srcOrd="8" destOrd="0" presId="urn:microsoft.com/office/officeart/2005/8/layout/vList2"/>
    <dgm:cxn modelId="{787C6014-BBCD-476F-94C5-FF215E790EB5}" type="presParOf" srcId="{B48DC95E-32F7-4571-8104-BCDCBF592A3A}" destId="{C8EFABE9-D20C-4EB6-B788-D93F8BFDCEDE}" srcOrd="9" destOrd="0" presId="urn:microsoft.com/office/officeart/2005/8/layout/vList2"/>
    <dgm:cxn modelId="{7450841D-F435-4C1B-8C79-4BB9A842EC42}" type="presParOf" srcId="{B48DC95E-32F7-4571-8104-BCDCBF592A3A}" destId="{119D783C-B969-44BD-8998-2EFD910F937F}" srcOrd="10" destOrd="0" presId="urn:microsoft.com/office/officeart/2005/8/layout/vList2"/>
    <dgm:cxn modelId="{E0B0BDF5-41A8-4E3B-B9CD-34CCE80B4265}" type="presParOf" srcId="{B48DC95E-32F7-4571-8104-BCDCBF592A3A}" destId="{35EE8A49-C8CB-4DA2-A4A7-C954B1060967}" srcOrd="11" destOrd="0" presId="urn:microsoft.com/office/officeart/2005/8/layout/vList2"/>
    <dgm:cxn modelId="{AB684DCE-7E18-426E-A415-23D8BDEE8A40}" type="presParOf" srcId="{B48DC95E-32F7-4571-8104-BCDCBF592A3A}" destId="{5A18AC2E-6975-40FD-9EAF-3B73F771E16C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2C7D833-E848-4813-8BB1-B51F48883331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CC7146B3-E1AC-40B9-BDBB-FBDFE47B4ED3}">
      <dgm:prSet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IN" sz="1600" b="1" dirty="0"/>
            <a:t>3. Rapid Technological Change</a:t>
          </a:r>
          <a:endParaRPr lang="en-US" sz="1600" dirty="0"/>
        </a:p>
      </dgm:t>
    </dgm:pt>
    <dgm:pt modelId="{E021F93D-950E-4C1F-9C3C-45B1593E9276}" type="parTrans" cxnId="{2E6D78C0-F1BE-4EBB-8E02-A03DDE9DB842}">
      <dgm:prSet/>
      <dgm:spPr/>
      <dgm:t>
        <a:bodyPr/>
        <a:lstStyle/>
        <a:p>
          <a:endParaRPr lang="en-US" sz="2400"/>
        </a:p>
      </dgm:t>
    </dgm:pt>
    <dgm:pt modelId="{CC48433D-6C3C-4836-A90B-C0989CFDDFF4}" type="sibTrans" cxnId="{2E6D78C0-F1BE-4EBB-8E02-A03DDE9DB842}">
      <dgm:prSet/>
      <dgm:spPr/>
      <dgm:t>
        <a:bodyPr/>
        <a:lstStyle/>
        <a:p>
          <a:endParaRPr lang="en-US" sz="2400"/>
        </a:p>
      </dgm:t>
    </dgm:pt>
    <dgm:pt modelId="{86F7EFA2-066E-45A5-B616-226D9A917726}">
      <dgm:prSet custT="1"/>
      <dgm:spPr/>
      <dgm:t>
        <a:bodyPr/>
        <a:lstStyle/>
        <a:p>
          <a:r>
            <a:rPr lang="en-IN" sz="1600"/>
            <a:t>Digital technologies evolve quickly. Software updates, new applications, and changing interfaces can make it difficult for elderly individuals to keep up with technological developments.</a:t>
          </a:r>
          <a:endParaRPr lang="en-US" sz="1600"/>
        </a:p>
      </dgm:t>
    </dgm:pt>
    <dgm:pt modelId="{33A01C36-58CF-4942-88CE-B2799C6F1D46}" type="parTrans" cxnId="{54557BAB-D233-4CFC-95CD-B5BEE3CE53E8}">
      <dgm:prSet/>
      <dgm:spPr/>
      <dgm:t>
        <a:bodyPr/>
        <a:lstStyle/>
        <a:p>
          <a:endParaRPr lang="en-US" sz="2400"/>
        </a:p>
      </dgm:t>
    </dgm:pt>
    <dgm:pt modelId="{3F6B517B-1A62-4F95-9C4E-2C0BAF50E0E0}" type="sibTrans" cxnId="{54557BAB-D233-4CFC-95CD-B5BEE3CE53E8}">
      <dgm:prSet/>
      <dgm:spPr/>
      <dgm:t>
        <a:bodyPr/>
        <a:lstStyle/>
        <a:p>
          <a:endParaRPr lang="en-US" sz="2400"/>
        </a:p>
      </dgm:t>
    </dgm:pt>
    <dgm:pt modelId="{238486B0-AB63-4810-AC8F-34056C42DAE0}">
      <dgm:prSet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IN" sz="1600" b="1"/>
            <a:t>4. Physical and Cognitive Limitations</a:t>
          </a:r>
          <a:endParaRPr lang="en-US" sz="1600"/>
        </a:p>
      </dgm:t>
    </dgm:pt>
    <dgm:pt modelId="{A7E6D0A5-4C9E-4DEB-96E7-3725208AFE6E}" type="parTrans" cxnId="{90829E77-D416-4BAF-A139-EF97A8652F05}">
      <dgm:prSet/>
      <dgm:spPr/>
      <dgm:t>
        <a:bodyPr/>
        <a:lstStyle/>
        <a:p>
          <a:endParaRPr lang="en-US" sz="2400"/>
        </a:p>
      </dgm:t>
    </dgm:pt>
    <dgm:pt modelId="{EB2176BD-6522-423C-B61D-A6A757CBF234}" type="sibTrans" cxnId="{90829E77-D416-4BAF-A139-EF97A8652F05}">
      <dgm:prSet/>
      <dgm:spPr/>
      <dgm:t>
        <a:bodyPr/>
        <a:lstStyle/>
        <a:p>
          <a:endParaRPr lang="en-US" sz="2400"/>
        </a:p>
      </dgm:t>
    </dgm:pt>
    <dgm:pt modelId="{41584016-6FE6-47AF-8AFB-81B20E6D55A3}">
      <dgm:prSet custT="1"/>
      <dgm:spPr/>
      <dgm:t>
        <a:bodyPr/>
        <a:lstStyle/>
        <a:p>
          <a:r>
            <a:rPr lang="en-IN" sz="1600"/>
            <a:t>Age-related issues such as poor eyesight, reduced motor skills, and memory challenges can make it difficult for senior citizens to use digital devices.</a:t>
          </a:r>
          <a:endParaRPr lang="en-US" sz="1600"/>
        </a:p>
      </dgm:t>
    </dgm:pt>
    <dgm:pt modelId="{671A6E56-44D3-446D-8819-636A81FD929D}" type="parTrans" cxnId="{1F432E4E-C40B-4809-84C5-0A5D234A8DB1}">
      <dgm:prSet/>
      <dgm:spPr/>
      <dgm:t>
        <a:bodyPr/>
        <a:lstStyle/>
        <a:p>
          <a:endParaRPr lang="en-US" sz="2400"/>
        </a:p>
      </dgm:t>
    </dgm:pt>
    <dgm:pt modelId="{04902825-A53C-4508-91FB-055CB9D4AC4B}" type="sibTrans" cxnId="{1F432E4E-C40B-4809-84C5-0A5D234A8DB1}">
      <dgm:prSet/>
      <dgm:spPr/>
      <dgm:t>
        <a:bodyPr/>
        <a:lstStyle/>
        <a:p>
          <a:endParaRPr lang="en-US" sz="2400"/>
        </a:p>
      </dgm:t>
    </dgm:pt>
    <dgm:pt modelId="{8A8A1E8F-87A0-475D-B162-4B2217E7BDEF}">
      <dgm:prSet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IN" sz="1600" b="1"/>
            <a:t>5. Psychological Barriers</a:t>
          </a:r>
          <a:endParaRPr lang="en-US" sz="1600"/>
        </a:p>
      </dgm:t>
    </dgm:pt>
    <dgm:pt modelId="{4B0D96E8-424A-4080-B16F-D76BD896B769}" type="parTrans" cxnId="{EEBB1989-BE48-4223-B23D-C6E615F11E53}">
      <dgm:prSet/>
      <dgm:spPr/>
      <dgm:t>
        <a:bodyPr/>
        <a:lstStyle/>
        <a:p>
          <a:endParaRPr lang="en-US" sz="2400"/>
        </a:p>
      </dgm:t>
    </dgm:pt>
    <dgm:pt modelId="{BFE0C5F1-F83E-45C9-B26F-65E0722F10AD}" type="sibTrans" cxnId="{EEBB1989-BE48-4223-B23D-C6E615F11E53}">
      <dgm:prSet/>
      <dgm:spPr/>
      <dgm:t>
        <a:bodyPr/>
        <a:lstStyle/>
        <a:p>
          <a:endParaRPr lang="en-US" sz="2400"/>
        </a:p>
      </dgm:t>
    </dgm:pt>
    <dgm:pt modelId="{CA4C923E-EEB9-49AA-868D-3BE7C7D5347C}">
      <dgm:prSet custT="1"/>
      <dgm:spPr/>
      <dgm:t>
        <a:bodyPr/>
        <a:lstStyle/>
        <a:p>
          <a:r>
            <a:rPr lang="en-IN" sz="1600"/>
            <a:t>Many elderly individuals feel anxious or fearful when using digital devices due to concerns about making mistakes or becoming victims of online fraud.</a:t>
          </a:r>
          <a:endParaRPr lang="en-US" sz="1600"/>
        </a:p>
      </dgm:t>
    </dgm:pt>
    <dgm:pt modelId="{E7E38F5F-10F9-4D48-A824-85DFCDE1BBE4}" type="parTrans" cxnId="{B1C2101E-854D-40F7-AD89-EA70DAA5C947}">
      <dgm:prSet/>
      <dgm:spPr/>
      <dgm:t>
        <a:bodyPr/>
        <a:lstStyle/>
        <a:p>
          <a:endParaRPr lang="en-US" sz="2400"/>
        </a:p>
      </dgm:t>
    </dgm:pt>
    <dgm:pt modelId="{D9845B31-55F3-4BB8-B498-8FF94147BD20}" type="sibTrans" cxnId="{B1C2101E-854D-40F7-AD89-EA70DAA5C947}">
      <dgm:prSet/>
      <dgm:spPr/>
      <dgm:t>
        <a:bodyPr/>
        <a:lstStyle/>
        <a:p>
          <a:endParaRPr lang="en-US" sz="2400"/>
        </a:p>
      </dgm:t>
    </dgm:pt>
    <dgm:pt modelId="{928F8226-3E28-4A2C-9720-E9E9CE50A88B}">
      <dgm:prSet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IN" sz="1600" b="1"/>
            <a:t>6. Accessibility and Infrastructure Issues</a:t>
          </a:r>
          <a:endParaRPr lang="en-US" sz="1600"/>
        </a:p>
      </dgm:t>
    </dgm:pt>
    <dgm:pt modelId="{D26724C2-52C8-4B9B-8DBB-8DD2B93645B9}" type="parTrans" cxnId="{EBA92043-8800-43C8-AE65-2F167E8E9A03}">
      <dgm:prSet/>
      <dgm:spPr/>
      <dgm:t>
        <a:bodyPr/>
        <a:lstStyle/>
        <a:p>
          <a:endParaRPr lang="en-US" sz="2400"/>
        </a:p>
      </dgm:t>
    </dgm:pt>
    <dgm:pt modelId="{DD81329F-0689-41B3-A32D-01A8CF202572}" type="sibTrans" cxnId="{EBA92043-8800-43C8-AE65-2F167E8E9A03}">
      <dgm:prSet/>
      <dgm:spPr/>
      <dgm:t>
        <a:bodyPr/>
        <a:lstStyle/>
        <a:p>
          <a:endParaRPr lang="en-US" sz="2400"/>
        </a:p>
      </dgm:t>
    </dgm:pt>
    <dgm:pt modelId="{A050EBA6-23B2-4339-9D69-67CFCD87AC39}">
      <dgm:prSet custT="1"/>
      <dgm:spPr/>
      <dgm:t>
        <a:bodyPr/>
        <a:lstStyle/>
        <a:p>
          <a:r>
            <a:rPr lang="en-IN" sz="1600"/>
            <a:t>Limited internet connectivity, lack of digital devices, and insufficient training opportunities can further restrict digital learning among elderly populations.</a:t>
          </a:r>
          <a:endParaRPr lang="en-US" sz="1600"/>
        </a:p>
      </dgm:t>
    </dgm:pt>
    <dgm:pt modelId="{4C59257B-D5BE-4655-A54F-20A2572DFAA5}" type="parTrans" cxnId="{C4D2B352-23B2-4BC7-8C22-5CA72D2657A1}">
      <dgm:prSet/>
      <dgm:spPr/>
      <dgm:t>
        <a:bodyPr/>
        <a:lstStyle/>
        <a:p>
          <a:endParaRPr lang="en-US" sz="2400"/>
        </a:p>
      </dgm:t>
    </dgm:pt>
    <dgm:pt modelId="{A831A635-D621-4A19-B9E2-9B122070A00D}" type="sibTrans" cxnId="{C4D2B352-23B2-4BC7-8C22-5CA72D2657A1}">
      <dgm:prSet/>
      <dgm:spPr/>
      <dgm:t>
        <a:bodyPr/>
        <a:lstStyle/>
        <a:p>
          <a:endParaRPr lang="en-US" sz="2400"/>
        </a:p>
      </dgm:t>
    </dgm:pt>
    <dgm:pt modelId="{D320CBB7-6544-4949-8F14-3D1B125D7EED}" type="pres">
      <dgm:prSet presAssocID="{72C7D833-E848-4813-8BB1-B51F48883331}" presName="linear" presStyleCnt="0">
        <dgm:presLayoutVars>
          <dgm:animLvl val="lvl"/>
          <dgm:resizeHandles val="exact"/>
        </dgm:presLayoutVars>
      </dgm:prSet>
      <dgm:spPr/>
    </dgm:pt>
    <dgm:pt modelId="{87CAEFDF-5631-4B2E-9358-3E936A509AF1}" type="pres">
      <dgm:prSet presAssocID="{CC7146B3-E1AC-40B9-BDBB-FBDFE47B4ED3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35EEA3F7-0D44-4A83-A936-AAA75131782A}" type="pres">
      <dgm:prSet presAssocID="{CC48433D-6C3C-4836-A90B-C0989CFDDFF4}" presName="spacer" presStyleCnt="0"/>
      <dgm:spPr/>
    </dgm:pt>
    <dgm:pt modelId="{AC587D1F-2FA5-4897-86B4-6613690530C3}" type="pres">
      <dgm:prSet presAssocID="{86F7EFA2-066E-45A5-B616-226D9A917726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71918B9D-E7EC-47D7-8916-75876BDB755A}" type="pres">
      <dgm:prSet presAssocID="{3F6B517B-1A62-4F95-9C4E-2C0BAF50E0E0}" presName="spacer" presStyleCnt="0"/>
      <dgm:spPr/>
    </dgm:pt>
    <dgm:pt modelId="{1B5837EB-B968-483F-823F-873BA8357F5E}" type="pres">
      <dgm:prSet presAssocID="{238486B0-AB63-4810-AC8F-34056C42DAE0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51B05B3B-A5E9-4C7B-817B-D9FC555BB11B}" type="pres">
      <dgm:prSet presAssocID="{EB2176BD-6522-423C-B61D-A6A757CBF234}" presName="spacer" presStyleCnt="0"/>
      <dgm:spPr/>
    </dgm:pt>
    <dgm:pt modelId="{18D8C0C4-AD55-47D2-B1E4-9A258F5ACD20}" type="pres">
      <dgm:prSet presAssocID="{41584016-6FE6-47AF-8AFB-81B20E6D55A3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0F4DA7CD-A646-4858-BC15-B81DB1221F0C}" type="pres">
      <dgm:prSet presAssocID="{04902825-A53C-4508-91FB-055CB9D4AC4B}" presName="spacer" presStyleCnt="0"/>
      <dgm:spPr/>
    </dgm:pt>
    <dgm:pt modelId="{AEAD22C6-73CD-4122-973F-F6E5DFD12A86}" type="pres">
      <dgm:prSet presAssocID="{8A8A1E8F-87A0-475D-B162-4B2217E7BDEF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9A8F3AE1-2437-40F3-AA2A-0838E1D65C5C}" type="pres">
      <dgm:prSet presAssocID="{BFE0C5F1-F83E-45C9-B26F-65E0722F10AD}" presName="spacer" presStyleCnt="0"/>
      <dgm:spPr/>
    </dgm:pt>
    <dgm:pt modelId="{FA597282-EE66-4065-9FB8-14FBC1F3A77C}" type="pres">
      <dgm:prSet presAssocID="{CA4C923E-EEB9-49AA-868D-3BE7C7D5347C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B731EECB-E1DD-4E7B-9677-CCB5A5E4B258}" type="pres">
      <dgm:prSet presAssocID="{D9845B31-55F3-4BB8-B498-8FF94147BD20}" presName="spacer" presStyleCnt="0"/>
      <dgm:spPr/>
    </dgm:pt>
    <dgm:pt modelId="{76CFCCC9-4490-4BCC-B299-CBB7B4D2A435}" type="pres">
      <dgm:prSet presAssocID="{928F8226-3E28-4A2C-9720-E9E9CE50A88B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936F342B-7516-4494-AC08-87A2B05BD12C}" type="pres">
      <dgm:prSet presAssocID="{DD81329F-0689-41B3-A32D-01A8CF202572}" presName="spacer" presStyleCnt="0"/>
      <dgm:spPr/>
    </dgm:pt>
    <dgm:pt modelId="{352B6060-A4C6-4898-856A-923E05C66E8A}" type="pres">
      <dgm:prSet presAssocID="{A050EBA6-23B2-4339-9D69-67CFCD87AC39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5CFBD50B-E957-4EF8-9797-30F7E4FBF8B2}" type="presOf" srcId="{86F7EFA2-066E-45A5-B616-226D9A917726}" destId="{AC587D1F-2FA5-4897-86B4-6613690530C3}" srcOrd="0" destOrd="0" presId="urn:microsoft.com/office/officeart/2005/8/layout/vList2"/>
    <dgm:cxn modelId="{B1C2101E-854D-40F7-AD89-EA70DAA5C947}" srcId="{72C7D833-E848-4813-8BB1-B51F48883331}" destId="{CA4C923E-EEB9-49AA-868D-3BE7C7D5347C}" srcOrd="5" destOrd="0" parTransId="{E7E38F5F-10F9-4D48-A824-85DFCDE1BBE4}" sibTransId="{D9845B31-55F3-4BB8-B498-8FF94147BD20}"/>
    <dgm:cxn modelId="{EBA92043-8800-43C8-AE65-2F167E8E9A03}" srcId="{72C7D833-E848-4813-8BB1-B51F48883331}" destId="{928F8226-3E28-4A2C-9720-E9E9CE50A88B}" srcOrd="6" destOrd="0" parTransId="{D26724C2-52C8-4B9B-8DBB-8DD2B93645B9}" sibTransId="{DD81329F-0689-41B3-A32D-01A8CF202572}"/>
    <dgm:cxn modelId="{3A66574D-DAEB-466A-AED5-31BC8C8502EB}" type="presOf" srcId="{238486B0-AB63-4810-AC8F-34056C42DAE0}" destId="{1B5837EB-B968-483F-823F-873BA8357F5E}" srcOrd="0" destOrd="0" presId="urn:microsoft.com/office/officeart/2005/8/layout/vList2"/>
    <dgm:cxn modelId="{1F432E4E-C40B-4809-84C5-0A5D234A8DB1}" srcId="{72C7D833-E848-4813-8BB1-B51F48883331}" destId="{41584016-6FE6-47AF-8AFB-81B20E6D55A3}" srcOrd="3" destOrd="0" parTransId="{671A6E56-44D3-446D-8819-636A81FD929D}" sibTransId="{04902825-A53C-4508-91FB-055CB9D4AC4B}"/>
    <dgm:cxn modelId="{CB7A0170-C49C-474F-9A70-436DEDB387A7}" type="presOf" srcId="{41584016-6FE6-47AF-8AFB-81B20E6D55A3}" destId="{18D8C0C4-AD55-47D2-B1E4-9A258F5ACD20}" srcOrd="0" destOrd="0" presId="urn:microsoft.com/office/officeart/2005/8/layout/vList2"/>
    <dgm:cxn modelId="{C4D2B352-23B2-4BC7-8C22-5CA72D2657A1}" srcId="{72C7D833-E848-4813-8BB1-B51F48883331}" destId="{A050EBA6-23B2-4339-9D69-67CFCD87AC39}" srcOrd="7" destOrd="0" parTransId="{4C59257B-D5BE-4655-A54F-20A2572DFAA5}" sibTransId="{A831A635-D621-4A19-B9E2-9B122070A00D}"/>
    <dgm:cxn modelId="{0A866D55-92A7-478C-B938-3FE0798484E0}" type="presOf" srcId="{CC7146B3-E1AC-40B9-BDBB-FBDFE47B4ED3}" destId="{87CAEFDF-5631-4B2E-9358-3E936A509AF1}" srcOrd="0" destOrd="0" presId="urn:microsoft.com/office/officeart/2005/8/layout/vList2"/>
    <dgm:cxn modelId="{5DCD5E56-0A3C-4A45-883A-C399A423BF21}" type="presOf" srcId="{CA4C923E-EEB9-49AA-868D-3BE7C7D5347C}" destId="{FA597282-EE66-4065-9FB8-14FBC1F3A77C}" srcOrd="0" destOrd="0" presId="urn:microsoft.com/office/officeart/2005/8/layout/vList2"/>
    <dgm:cxn modelId="{90829E77-D416-4BAF-A139-EF97A8652F05}" srcId="{72C7D833-E848-4813-8BB1-B51F48883331}" destId="{238486B0-AB63-4810-AC8F-34056C42DAE0}" srcOrd="2" destOrd="0" parTransId="{A7E6D0A5-4C9E-4DEB-96E7-3725208AFE6E}" sibTransId="{EB2176BD-6522-423C-B61D-A6A757CBF234}"/>
    <dgm:cxn modelId="{6B94DC88-5E65-4F44-9915-A98DED67F941}" type="presOf" srcId="{72C7D833-E848-4813-8BB1-B51F48883331}" destId="{D320CBB7-6544-4949-8F14-3D1B125D7EED}" srcOrd="0" destOrd="0" presId="urn:microsoft.com/office/officeart/2005/8/layout/vList2"/>
    <dgm:cxn modelId="{EEBB1989-BE48-4223-B23D-C6E615F11E53}" srcId="{72C7D833-E848-4813-8BB1-B51F48883331}" destId="{8A8A1E8F-87A0-475D-B162-4B2217E7BDEF}" srcOrd="4" destOrd="0" parTransId="{4B0D96E8-424A-4080-B16F-D76BD896B769}" sibTransId="{BFE0C5F1-F83E-45C9-B26F-65E0722F10AD}"/>
    <dgm:cxn modelId="{FAA6F393-9955-4DFE-9B30-86814DE2A323}" type="presOf" srcId="{928F8226-3E28-4A2C-9720-E9E9CE50A88B}" destId="{76CFCCC9-4490-4BCC-B299-CBB7B4D2A435}" srcOrd="0" destOrd="0" presId="urn:microsoft.com/office/officeart/2005/8/layout/vList2"/>
    <dgm:cxn modelId="{54557BAB-D233-4CFC-95CD-B5BEE3CE53E8}" srcId="{72C7D833-E848-4813-8BB1-B51F48883331}" destId="{86F7EFA2-066E-45A5-B616-226D9A917726}" srcOrd="1" destOrd="0" parTransId="{33A01C36-58CF-4942-88CE-B2799C6F1D46}" sibTransId="{3F6B517B-1A62-4F95-9C4E-2C0BAF50E0E0}"/>
    <dgm:cxn modelId="{AAF7C5B4-EC19-49EA-9F76-3E38FA60E70A}" type="presOf" srcId="{8A8A1E8F-87A0-475D-B162-4B2217E7BDEF}" destId="{AEAD22C6-73CD-4122-973F-F6E5DFD12A86}" srcOrd="0" destOrd="0" presId="urn:microsoft.com/office/officeart/2005/8/layout/vList2"/>
    <dgm:cxn modelId="{2E6D78C0-F1BE-4EBB-8E02-A03DDE9DB842}" srcId="{72C7D833-E848-4813-8BB1-B51F48883331}" destId="{CC7146B3-E1AC-40B9-BDBB-FBDFE47B4ED3}" srcOrd="0" destOrd="0" parTransId="{E021F93D-950E-4C1F-9C3C-45B1593E9276}" sibTransId="{CC48433D-6C3C-4836-A90B-C0989CFDDFF4}"/>
    <dgm:cxn modelId="{5E9964CF-7F36-48C1-B8F8-E26DA314A515}" type="presOf" srcId="{A050EBA6-23B2-4339-9D69-67CFCD87AC39}" destId="{352B6060-A4C6-4898-856A-923E05C66E8A}" srcOrd="0" destOrd="0" presId="urn:microsoft.com/office/officeart/2005/8/layout/vList2"/>
    <dgm:cxn modelId="{ADFD9047-B04A-4B41-8CF1-2E24636DB8F7}" type="presParOf" srcId="{D320CBB7-6544-4949-8F14-3D1B125D7EED}" destId="{87CAEFDF-5631-4B2E-9358-3E936A509AF1}" srcOrd="0" destOrd="0" presId="urn:microsoft.com/office/officeart/2005/8/layout/vList2"/>
    <dgm:cxn modelId="{E102C25B-810C-42F6-A2BD-7FD0672CC982}" type="presParOf" srcId="{D320CBB7-6544-4949-8F14-3D1B125D7EED}" destId="{35EEA3F7-0D44-4A83-A936-AAA75131782A}" srcOrd="1" destOrd="0" presId="urn:microsoft.com/office/officeart/2005/8/layout/vList2"/>
    <dgm:cxn modelId="{CFA2F841-3565-4FEA-8EC6-2B8A8E0EED2E}" type="presParOf" srcId="{D320CBB7-6544-4949-8F14-3D1B125D7EED}" destId="{AC587D1F-2FA5-4897-86B4-6613690530C3}" srcOrd="2" destOrd="0" presId="urn:microsoft.com/office/officeart/2005/8/layout/vList2"/>
    <dgm:cxn modelId="{C0B0079E-7953-4299-A6D9-51D03C9B8700}" type="presParOf" srcId="{D320CBB7-6544-4949-8F14-3D1B125D7EED}" destId="{71918B9D-E7EC-47D7-8916-75876BDB755A}" srcOrd="3" destOrd="0" presId="urn:microsoft.com/office/officeart/2005/8/layout/vList2"/>
    <dgm:cxn modelId="{CBD09B1E-47F6-466D-A6CA-26CFAFC88999}" type="presParOf" srcId="{D320CBB7-6544-4949-8F14-3D1B125D7EED}" destId="{1B5837EB-B968-483F-823F-873BA8357F5E}" srcOrd="4" destOrd="0" presId="urn:microsoft.com/office/officeart/2005/8/layout/vList2"/>
    <dgm:cxn modelId="{2218013F-37A4-4AA6-AF88-5C43E1C1AB00}" type="presParOf" srcId="{D320CBB7-6544-4949-8F14-3D1B125D7EED}" destId="{51B05B3B-A5E9-4C7B-817B-D9FC555BB11B}" srcOrd="5" destOrd="0" presId="urn:microsoft.com/office/officeart/2005/8/layout/vList2"/>
    <dgm:cxn modelId="{F7F98B5D-A4AA-49FE-8D36-DE45E7DFC537}" type="presParOf" srcId="{D320CBB7-6544-4949-8F14-3D1B125D7EED}" destId="{18D8C0C4-AD55-47D2-B1E4-9A258F5ACD20}" srcOrd="6" destOrd="0" presId="urn:microsoft.com/office/officeart/2005/8/layout/vList2"/>
    <dgm:cxn modelId="{9947A2A4-98C3-4F39-9B0E-3C01A11FC16B}" type="presParOf" srcId="{D320CBB7-6544-4949-8F14-3D1B125D7EED}" destId="{0F4DA7CD-A646-4858-BC15-B81DB1221F0C}" srcOrd="7" destOrd="0" presId="urn:microsoft.com/office/officeart/2005/8/layout/vList2"/>
    <dgm:cxn modelId="{983ED9E9-2460-4AEF-A0D0-31FB91C9E5AE}" type="presParOf" srcId="{D320CBB7-6544-4949-8F14-3D1B125D7EED}" destId="{AEAD22C6-73CD-4122-973F-F6E5DFD12A86}" srcOrd="8" destOrd="0" presId="urn:microsoft.com/office/officeart/2005/8/layout/vList2"/>
    <dgm:cxn modelId="{9CA07859-E52E-4662-B065-5966CBB69465}" type="presParOf" srcId="{D320CBB7-6544-4949-8F14-3D1B125D7EED}" destId="{9A8F3AE1-2437-40F3-AA2A-0838E1D65C5C}" srcOrd="9" destOrd="0" presId="urn:microsoft.com/office/officeart/2005/8/layout/vList2"/>
    <dgm:cxn modelId="{A5D8DFA4-152C-44D1-A37A-35B6232FFA06}" type="presParOf" srcId="{D320CBB7-6544-4949-8F14-3D1B125D7EED}" destId="{FA597282-EE66-4065-9FB8-14FBC1F3A77C}" srcOrd="10" destOrd="0" presId="urn:microsoft.com/office/officeart/2005/8/layout/vList2"/>
    <dgm:cxn modelId="{35D94CEC-AEB8-422A-9A27-DDA584297662}" type="presParOf" srcId="{D320CBB7-6544-4949-8F14-3D1B125D7EED}" destId="{B731EECB-E1DD-4E7B-9677-CCB5A5E4B258}" srcOrd="11" destOrd="0" presId="urn:microsoft.com/office/officeart/2005/8/layout/vList2"/>
    <dgm:cxn modelId="{975BFF30-8C23-4BC0-9888-EE5ED41D12F5}" type="presParOf" srcId="{D320CBB7-6544-4949-8F14-3D1B125D7EED}" destId="{76CFCCC9-4490-4BCC-B299-CBB7B4D2A435}" srcOrd="12" destOrd="0" presId="urn:microsoft.com/office/officeart/2005/8/layout/vList2"/>
    <dgm:cxn modelId="{C756C834-5E63-4720-B402-CADF66385D4F}" type="presParOf" srcId="{D320CBB7-6544-4949-8F14-3D1B125D7EED}" destId="{936F342B-7516-4494-AC08-87A2B05BD12C}" srcOrd="13" destOrd="0" presId="urn:microsoft.com/office/officeart/2005/8/layout/vList2"/>
    <dgm:cxn modelId="{BD9EA88D-244A-4913-9A4E-EE22F8019380}" type="presParOf" srcId="{D320CBB7-6544-4949-8F14-3D1B125D7EED}" destId="{352B6060-A4C6-4898-856A-923E05C66E8A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3A71B2B-B63F-43EA-8B95-68425EC836DC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989BDCE-1DAE-4BFE-96D7-A166D1709041}">
      <dgm:prSet custT="1"/>
      <dgm:spPr/>
      <dgm:t>
        <a:bodyPr/>
        <a:lstStyle/>
        <a:p>
          <a:r>
            <a:rPr lang="en-US" sz="2800" b="1" dirty="0">
              <a:solidFill>
                <a:schemeClr val="tx1"/>
              </a:solidFill>
            </a:rPr>
            <a:t>A. Functional Requirements</a:t>
          </a:r>
          <a:endParaRPr lang="en-US" sz="2800" dirty="0">
            <a:solidFill>
              <a:schemeClr val="tx1"/>
            </a:solidFill>
          </a:endParaRPr>
        </a:p>
      </dgm:t>
    </dgm:pt>
    <dgm:pt modelId="{3C133860-C25C-4347-A9B6-192E2232EDD2}" type="parTrans" cxnId="{0C4EF20D-B2BB-49F2-BA81-A0AB15C34823}">
      <dgm:prSet/>
      <dgm:spPr/>
      <dgm:t>
        <a:bodyPr/>
        <a:lstStyle/>
        <a:p>
          <a:endParaRPr lang="en-US" sz="4400"/>
        </a:p>
      </dgm:t>
    </dgm:pt>
    <dgm:pt modelId="{D3AD1A0D-7041-408F-A6A9-4409E36F8EA6}" type="sibTrans" cxnId="{0C4EF20D-B2BB-49F2-BA81-A0AB15C34823}">
      <dgm:prSet/>
      <dgm:spPr/>
      <dgm:t>
        <a:bodyPr/>
        <a:lstStyle/>
        <a:p>
          <a:endParaRPr lang="en-US" sz="4400"/>
        </a:p>
      </dgm:t>
    </dgm:pt>
    <dgm:pt modelId="{E236362E-45F5-402C-9A2B-44203EF83213}">
      <dgm:prSet custT="1"/>
      <dgm:spPr/>
      <dgm:t>
        <a:bodyPr/>
        <a:lstStyle/>
        <a:p>
          <a:r>
            <a:rPr lang="en-US" sz="1800" b="1" dirty="0"/>
            <a:t>User Profiles:</a:t>
          </a:r>
          <a:r>
            <a:rPr lang="en-US" sz="1800" dirty="0"/>
            <a:t> Ability for seniors to create simplified profiles with large-scale avatars and basic contact info.</a:t>
          </a:r>
        </a:p>
      </dgm:t>
    </dgm:pt>
    <dgm:pt modelId="{1305746C-5118-4DCC-ADFD-04DC6E23706F}" type="parTrans" cxnId="{FB7E2C54-EF62-4F7D-BDF5-0000EF37F034}">
      <dgm:prSet/>
      <dgm:spPr/>
      <dgm:t>
        <a:bodyPr/>
        <a:lstStyle/>
        <a:p>
          <a:endParaRPr lang="en-US" sz="4400"/>
        </a:p>
      </dgm:t>
    </dgm:pt>
    <dgm:pt modelId="{216B8693-FD7B-46B9-B05C-FFF083AFB752}" type="sibTrans" cxnId="{FB7E2C54-EF62-4F7D-BDF5-0000EF37F034}">
      <dgm:prSet/>
      <dgm:spPr/>
      <dgm:t>
        <a:bodyPr/>
        <a:lstStyle/>
        <a:p>
          <a:endParaRPr lang="en-US" sz="4400"/>
        </a:p>
      </dgm:t>
    </dgm:pt>
    <dgm:pt modelId="{487A873A-7631-4445-BCAA-31C28412BC50}">
      <dgm:prSet custT="1"/>
      <dgm:spPr/>
      <dgm:t>
        <a:bodyPr/>
        <a:lstStyle/>
        <a:p>
          <a:r>
            <a:rPr lang="en-US" sz="1800" b="1" dirty="0"/>
            <a:t>Modular Learning Path:</a:t>
          </a:r>
          <a:r>
            <a:rPr lang="en-US" sz="1800" dirty="0"/>
            <a:t> A structured curriculum including:</a:t>
          </a:r>
        </a:p>
      </dgm:t>
    </dgm:pt>
    <dgm:pt modelId="{BEF5D63E-0E5F-4D4F-9EAE-485488B0A582}" type="parTrans" cxnId="{DEF995BB-6EEA-4437-92A0-AFA4AD95B280}">
      <dgm:prSet/>
      <dgm:spPr/>
      <dgm:t>
        <a:bodyPr/>
        <a:lstStyle/>
        <a:p>
          <a:endParaRPr lang="en-US" sz="4400"/>
        </a:p>
      </dgm:t>
    </dgm:pt>
    <dgm:pt modelId="{28AB71FC-8BC7-426C-9AB2-E9C522365768}" type="sibTrans" cxnId="{DEF995BB-6EEA-4437-92A0-AFA4AD95B280}">
      <dgm:prSet/>
      <dgm:spPr/>
      <dgm:t>
        <a:bodyPr/>
        <a:lstStyle/>
        <a:p>
          <a:endParaRPr lang="en-US" sz="4400"/>
        </a:p>
      </dgm:t>
    </dgm:pt>
    <dgm:pt modelId="{2C724BC8-4E88-4EB6-A0E2-8FA827BA98AA}">
      <dgm:prSet custT="1"/>
      <dgm:spPr/>
      <dgm:t>
        <a:bodyPr/>
        <a:lstStyle/>
        <a:p>
          <a:r>
            <a:rPr lang="en-US" sz="1400" b="1" dirty="0"/>
            <a:t>Basics:</a:t>
          </a:r>
          <a:r>
            <a:rPr lang="en-US" sz="1400" dirty="0"/>
            <a:t> Turning on devices, Wi-Fi connectivity, and gesture control (tap, swipe).</a:t>
          </a:r>
        </a:p>
      </dgm:t>
    </dgm:pt>
    <dgm:pt modelId="{4AB3301A-2B31-4951-B261-07C4C5D7E0EA}" type="parTrans" cxnId="{7612FFF5-AACF-40AE-A99B-58A4ADA21106}">
      <dgm:prSet/>
      <dgm:spPr/>
      <dgm:t>
        <a:bodyPr/>
        <a:lstStyle/>
        <a:p>
          <a:endParaRPr lang="en-US" sz="4400"/>
        </a:p>
      </dgm:t>
    </dgm:pt>
    <dgm:pt modelId="{AE0564DB-A3A0-4C8F-A02A-F32777F8927B}" type="sibTrans" cxnId="{7612FFF5-AACF-40AE-A99B-58A4ADA21106}">
      <dgm:prSet/>
      <dgm:spPr/>
      <dgm:t>
        <a:bodyPr/>
        <a:lstStyle/>
        <a:p>
          <a:endParaRPr lang="en-US" sz="4400"/>
        </a:p>
      </dgm:t>
    </dgm:pt>
    <dgm:pt modelId="{B08AE9E8-FD7A-4DC2-B964-F08660ED4DCE}">
      <dgm:prSet custT="1"/>
      <dgm:spPr/>
      <dgm:t>
        <a:bodyPr/>
        <a:lstStyle/>
        <a:p>
          <a:r>
            <a:rPr lang="en-US" sz="1800" b="1" dirty="0"/>
            <a:t>Voice-Guided Navigation:</a:t>
          </a:r>
          <a:r>
            <a:rPr lang="en-US" sz="1800" dirty="0"/>
            <a:t> An integrated AI voice assistant to guide users through the interface.</a:t>
          </a:r>
        </a:p>
      </dgm:t>
    </dgm:pt>
    <dgm:pt modelId="{D77B047F-F830-4024-AFBD-A8813DC2A4B6}" type="parTrans" cxnId="{825E55BF-3A95-41F4-81E2-59D50E76C4D7}">
      <dgm:prSet/>
      <dgm:spPr/>
      <dgm:t>
        <a:bodyPr/>
        <a:lstStyle/>
        <a:p>
          <a:endParaRPr lang="en-US" sz="4400"/>
        </a:p>
      </dgm:t>
    </dgm:pt>
    <dgm:pt modelId="{38A4DBC8-B869-430B-B964-0A555EECE7DA}" type="sibTrans" cxnId="{825E55BF-3A95-41F4-81E2-59D50E76C4D7}">
      <dgm:prSet/>
      <dgm:spPr/>
      <dgm:t>
        <a:bodyPr/>
        <a:lstStyle/>
        <a:p>
          <a:endParaRPr lang="en-US" sz="4400"/>
        </a:p>
      </dgm:t>
    </dgm:pt>
    <dgm:pt modelId="{BFD07098-44BE-44FB-AEFB-191EDE0F3CB8}">
      <dgm:prSet custT="1"/>
      <dgm:spPr/>
      <dgm:t>
        <a:bodyPr/>
        <a:lstStyle/>
        <a:p>
          <a:r>
            <a:rPr lang="en-US" sz="1800" b="1"/>
            <a:t>Interactive Exercises:</a:t>
          </a:r>
          <a:r>
            <a:rPr lang="en-US" sz="1800"/>
            <a:t> "Sandbox" modes where users can practice sending a text or "paying" a mock bill without real-world consequences.</a:t>
          </a:r>
        </a:p>
      </dgm:t>
    </dgm:pt>
    <dgm:pt modelId="{781D0070-8215-4BE8-8ABF-5ED2B6CB28E3}" type="parTrans" cxnId="{4473527D-D52D-4663-BA5E-9863C1DF8871}">
      <dgm:prSet/>
      <dgm:spPr/>
      <dgm:t>
        <a:bodyPr/>
        <a:lstStyle/>
        <a:p>
          <a:endParaRPr lang="en-US" sz="4400"/>
        </a:p>
      </dgm:t>
    </dgm:pt>
    <dgm:pt modelId="{02C41A47-EAC0-46FF-8EDD-D877FDFD1A0A}" type="sibTrans" cxnId="{4473527D-D52D-4663-BA5E-9863C1DF8871}">
      <dgm:prSet/>
      <dgm:spPr/>
      <dgm:t>
        <a:bodyPr/>
        <a:lstStyle/>
        <a:p>
          <a:endParaRPr lang="en-US" sz="4400"/>
        </a:p>
      </dgm:t>
    </dgm:pt>
    <dgm:pt modelId="{05C73996-4FED-4DB0-953A-7A406357F06C}">
      <dgm:prSet custT="1"/>
      <dgm:spPr/>
      <dgm:t>
        <a:bodyPr/>
        <a:lstStyle/>
        <a:p>
          <a:r>
            <a:rPr lang="en-US" sz="1800" b="1" dirty="0"/>
            <a:t>Progress Tracking:</a:t>
          </a:r>
          <a:r>
            <a:rPr lang="en-US" sz="1800" dirty="0"/>
            <a:t> Visual milestones (badges or stars) to provide positive reinforcement and a sense of accomplishment.</a:t>
          </a:r>
        </a:p>
      </dgm:t>
    </dgm:pt>
    <dgm:pt modelId="{9711CF96-7C6F-4277-8BCE-1899E58E03E9}" type="parTrans" cxnId="{1AD0016F-57FF-4329-A677-9D6963A22001}">
      <dgm:prSet/>
      <dgm:spPr/>
      <dgm:t>
        <a:bodyPr/>
        <a:lstStyle/>
        <a:p>
          <a:endParaRPr lang="en-US" sz="4400"/>
        </a:p>
      </dgm:t>
    </dgm:pt>
    <dgm:pt modelId="{94255198-1AAE-429F-96E8-A2E53AB60312}" type="sibTrans" cxnId="{1AD0016F-57FF-4329-A677-9D6963A22001}">
      <dgm:prSet/>
      <dgm:spPr/>
      <dgm:t>
        <a:bodyPr/>
        <a:lstStyle/>
        <a:p>
          <a:endParaRPr lang="en-US" sz="4400"/>
        </a:p>
      </dgm:t>
    </dgm:pt>
    <dgm:pt modelId="{522209F9-076A-4993-8751-AAEF19416809}">
      <dgm:prSet/>
      <dgm:spPr/>
      <dgm:t>
        <a:bodyPr/>
        <a:lstStyle/>
        <a:p>
          <a:r>
            <a:rPr lang="en-US" b="1" dirty="0"/>
            <a:t>Essential Services:</a:t>
          </a:r>
          <a:r>
            <a:rPr lang="en-US" dirty="0"/>
            <a:t> Online banking basics, booking medical appointments, and using government portals.</a:t>
          </a:r>
          <a:endParaRPr lang="en-IN" dirty="0"/>
        </a:p>
      </dgm:t>
    </dgm:pt>
    <dgm:pt modelId="{E8D4865C-B74A-4112-9E4A-78D3D5432DC7}" type="parTrans" cxnId="{DBCF8ACB-A44D-4B93-B800-79CB4E8AC5EF}">
      <dgm:prSet/>
      <dgm:spPr/>
      <dgm:t>
        <a:bodyPr/>
        <a:lstStyle/>
        <a:p>
          <a:endParaRPr lang="en-IN"/>
        </a:p>
      </dgm:t>
    </dgm:pt>
    <dgm:pt modelId="{FA4C0ADF-3613-4E71-B483-C488AF7772B8}" type="sibTrans" cxnId="{DBCF8ACB-A44D-4B93-B800-79CB4E8AC5EF}">
      <dgm:prSet/>
      <dgm:spPr/>
      <dgm:t>
        <a:bodyPr/>
        <a:lstStyle/>
        <a:p>
          <a:endParaRPr lang="en-IN"/>
        </a:p>
      </dgm:t>
    </dgm:pt>
    <dgm:pt modelId="{1C9372B1-8658-40FB-81A3-F4956F9C31B4}">
      <dgm:prSet/>
      <dgm:spPr/>
      <dgm:t>
        <a:bodyPr/>
        <a:lstStyle/>
        <a:p>
          <a:r>
            <a:rPr lang="en-US" b="1" dirty="0"/>
            <a:t>Cybersecurity:</a:t>
          </a:r>
          <a:r>
            <a:rPr lang="en-US" dirty="0"/>
            <a:t> Modules on identifying phishing, creating strong passwords, and "red-flag" recognition for scams.</a:t>
          </a:r>
        </a:p>
      </dgm:t>
    </dgm:pt>
    <dgm:pt modelId="{D0049C9B-DF0E-49AA-ABDF-EE733B3753BB}" type="parTrans" cxnId="{A25A365A-D8ED-414C-99D9-40330737A3AC}">
      <dgm:prSet/>
      <dgm:spPr/>
      <dgm:t>
        <a:bodyPr/>
        <a:lstStyle/>
        <a:p>
          <a:endParaRPr lang="en-IN"/>
        </a:p>
      </dgm:t>
    </dgm:pt>
    <dgm:pt modelId="{BD3FCC1E-5C8A-4054-A636-F531A08101A9}" type="sibTrans" cxnId="{A25A365A-D8ED-414C-99D9-40330737A3AC}">
      <dgm:prSet/>
      <dgm:spPr/>
      <dgm:t>
        <a:bodyPr/>
        <a:lstStyle/>
        <a:p>
          <a:endParaRPr lang="en-IN"/>
        </a:p>
      </dgm:t>
    </dgm:pt>
    <dgm:pt modelId="{3A56878B-FDE3-4237-B187-11AFD798F07D}" type="pres">
      <dgm:prSet presAssocID="{23A71B2B-B63F-43EA-8B95-68425EC836DC}" presName="diagram" presStyleCnt="0">
        <dgm:presLayoutVars>
          <dgm:dir/>
          <dgm:resizeHandles val="exact"/>
        </dgm:presLayoutVars>
      </dgm:prSet>
      <dgm:spPr/>
    </dgm:pt>
    <dgm:pt modelId="{10DB7B94-F577-4D6D-A215-340F5AF11DA9}" type="pres">
      <dgm:prSet presAssocID="{0989BDCE-1DAE-4BFE-96D7-A166D1709041}" presName="node" presStyleLbl="node1" presStyleIdx="0" presStyleCnt="8">
        <dgm:presLayoutVars>
          <dgm:bulletEnabled val="1"/>
        </dgm:presLayoutVars>
      </dgm:prSet>
      <dgm:spPr/>
    </dgm:pt>
    <dgm:pt modelId="{0BCDA228-DC3F-469F-91FE-92EC0281A3A9}" type="pres">
      <dgm:prSet presAssocID="{D3AD1A0D-7041-408F-A6A9-4409E36F8EA6}" presName="sibTrans" presStyleCnt="0"/>
      <dgm:spPr/>
    </dgm:pt>
    <dgm:pt modelId="{69E6616C-9E7F-4FCF-BB34-C000D5E760B1}" type="pres">
      <dgm:prSet presAssocID="{E236362E-45F5-402C-9A2B-44203EF83213}" presName="node" presStyleLbl="node1" presStyleIdx="1" presStyleCnt="8">
        <dgm:presLayoutVars>
          <dgm:bulletEnabled val="1"/>
        </dgm:presLayoutVars>
      </dgm:prSet>
      <dgm:spPr/>
    </dgm:pt>
    <dgm:pt modelId="{ECACA62F-57B3-4AC8-B2C9-74061F324B40}" type="pres">
      <dgm:prSet presAssocID="{216B8693-FD7B-46B9-B05C-FFF083AFB752}" presName="sibTrans" presStyleCnt="0"/>
      <dgm:spPr/>
    </dgm:pt>
    <dgm:pt modelId="{83583CF2-AADA-4459-957F-43271F87B8AB}" type="pres">
      <dgm:prSet presAssocID="{487A873A-7631-4445-BCAA-31C28412BC50}" presName="node" presStyleLbl="node1" presStyleIdx="2" presStyleCnt="8">
        <dgm:presLayoutVars>
          <dgm:bulletEnabled val="1"/>
        </dgm:presLayoutVars>
      </dgm:prSet>
      <dgm:spPr/>
    </dgm:pt>
    <dgm:pt modelId="{DDD361C9-FF16-4773-8498-2B5FF47AC85F}" type="pres">
      <dgm:prSet presAssocID="{28AB71FC-8BC7-426C-9AB2-E9C522365768}" presName="sibTrans" presStyleCnt="0"/>
      <dgm:spPr/>
    </dgm:pt>
    <dgm:pt modelId="{B7E9D1FF-9B0C-414A-A4C4-E074D414E56C}" type="pres">
      <dgm:prSet presAssocID="{522209F9-076A-4993-8751-AAEF19416809}" presName="node" presStyleLbl="node1" presStyleIdx="3" presStyleCnt="8">
        <dgm:presLayoutVars>
          <dgm:bulletEnabled val="1"/>
        </dgm:presLayoutVars>
      </dgm:prSet>
      <dgm:spPr/>
    </dgm:pt>
    <dgm:pt modelId="{3B141DE1-9842-4EC3-8791-305DCBEA653B}" type="pres">
      <dgm:prSet presAssocID="{FA4C0ADF-3613-4E71-B483-C488AF7772B8}" presName="sibTrans" presStyleCnt="0"/>
      <dgm:spPr/>
    </dgm:pt>
    <dgm:pt modelId="{6991B0C2-1B89-4749-8088-40D4D717E93C}" type="pres">
      <dgm:prSet presAssocID="{1C9372B1-8658-40FB-81A3-F4956F9C31B4}" presName="node" presStyleLbl="node1" presStyleIdx="4" presStyleCnt="8">
        <dgm:presLayoutVars>
          <dgm:bulletEnabled val="1"/>
        </dgm:presLayoutVars>
      </dgm:prSet>
      <dgm:spPr/>
    </dgm:pt>
    <dgm:pt modelId="{B86E678F-E458-4264-8CCF-0F7C40E7F185}" type="pres">
      <dgm:prSet presAssocID="{BD3FCC1E-5C8A-4054-A636-F531A08101A9}" presName="sibTrans" presStyleCnt="0"/>
      <dgm:spPr/>
    </dgm:pt>
    <dgm:pt modelId="{3A40F33F-F0F1-483B-95AD-2413347E7485}" type="pres">
      <dgm:prSet presAssocID="{B08AE9E8-FD7A-4DC2-B964-F08660ED4DCE}" presName="node" presStyleLbl="node1" presStyleIdx="5" presStyleCnt="8">
        <dgm:presLayoutVars>
          <dgm:bulletEnabled val="1"/>
        </dgm:presLayoutVars>
      </dgm:prSet>
      <dgm:spPr/>
    </dgm:pt>
    <dgm:pt modelId="{9EA27F11-0858-48C2-81B9-48566833C810}" type="pres">
      <dgm:prSet presAssocID="{38A4DBC8-B869-430B-B964-0A555EECE7DA}" presName="sibTrans" presStyleCnt="0"/>
      <dgm:spPr/>
    </dgm:pt>
    <dgm:pt modelId="{CF7E176F-6612-4669-A5F9-3B8026C66E60}" type="pres">
      <dgm:prSet presAssocID="{BFD07098-44BE-44FB-AEFB-191EDE0F3CB8}" presName="node" presStyleLbl="node1" presStyleIdx="6" presStyleCnt="8">
        <dgm:presLayoutVars>
          <dgm:bulletEnabled val="1"/>
        </dgm:presLayoutVars>
      </dgm:prSet>
      <dgm:spPr/>
    </dgm:pt>
    <dgm:pt modelId="{88441360-BC0A-412F-9832-92D3487EE476}" type="pres">
      <dgm:prSet presAssocID="{02C41A47-EAC0-46FF-8EDD-D877FDFD1A0A}" presName="sibTrans" presStyleCnt="0"/>
      <dgm:spPr/>
    </dgm:pt>
    <dgm:pt modelId="{B5807B42-A176-4E6E-AB81-6897A18F2B7A}" type="pres">
      <dgm:prSet presAssocID="{05C73996-4FED-4DB0-953A-7A406357F06C}" presName="node" presStyleLbl="node1" presStyleIdx="7" presStyleCnt="8">
        <dgm:presLayoutVars>
          <dgm:bulletEnabled val="1"/>
        </dgm:presLayoutVars>
      </dgm:prSet>
      <dgm:spPr/>
    </dgm:pt>
  </dgm:ptLst>
  <dgm:cxnLst>
    <dgm:cxn modelId="{0C4EF20D-B2BB-49F2-BA81-A0AB15C34823}" srcId="{23A71B2B-B63F-43EA-8B95-68425EC836DC}" destId="{0989BDCE-1DAE-4BFE-96D7-A166D1709041}" srcOrd="0" destOrd="0" parTransId="{3C133860-C25C-4347-A9B6-192E2232EDD2}" sibTransId="{D3AD1A0D-7041-408F-A6A9-4409E36F8EA6}"/>
    <dgm:cxn modelId="{C34FBB1F-E2A2-426D-87F1-63511DA99B89}" type="presOf" srcId="{2C724BC8-4E88-4EB6-A0E2-8FA827BA98AA}" destId="{83583CF2-AADA-4459-957F-43271F87B8AB}" srcOrd="0" destOrd="1" presId="urn:microsoft.com/office/officeart/2005/8/layout/default"/>
    <dgm:cxn modelId="{C5E0EE22-0A9E-4E81-9528-7D2AF7EC468D}" type="presOf" srcId="{487A873A-7631-4445-BCAA-31C28412BC50}" destId="{83583CF2-AADA-4459-957F-43271F87B8AB}" srcOrd="0" destOrd="0" presId="urn:microsoft.com/office/officeart/2005/8/layout/default"/>
    <dgm:cxn modelId="{38ECCA30-D231-43AA-B96A-0D6294E4B89F}" type="presOf" srcId="{E236362E-45F5-402C-9A2B-44203EF83213}" destId="{69E6616C-9E7F-4FCF-BB34-C000D5E760B1}" srcOrd="0" destOrd="0" presId="urn:microsoft.com/office/officeart/2005/8/layout/default"/>
    <dgm:cxn modelId="{B2AFE064-8401-4F3D-BFB5-F246C037B4AE}" type="presOf" srcId="{23A71B2B-B63F-43EA-8B95-68425EC836DC}" destId="{3A56878B-FDE3-4237-B187-11AFD798F07D}" srcOrd="0" destOrd="0" presId="urn:microsoft.com/office/officeart/2005/8/layout/default"/>
    <dgm:cxn modelId="{1AD0016F-57FF-4329-A677-9D6963A22001}" srcId="{23A71B2B-B63F-43EA-8B95-68425EC836DC}" destId="{05C73996-4FED-4DB0-953A-7A406357F06C}" srcOrd="7" destOrd="0" parTransId="{9711CF96-7C6F-4277-8BCE-1899E58E03E9}" sibTransId="{94255198-1AAE-429F-96E8-A2E53AB60312}"/>
    <dgm:cxn modelId="{B2C16C72-18CB-4641-AD44-7F772CF673E2}" type="presOf" srcId="{522209F9-076A-4993-8751-AAEF19416809}" destId="{B7E9D1FF-9B0C-414A-A4C4-E074D414E56C}" srcOrd="0" destOrd="0" presId="urn:microsoft.com/office/officeart/2005/8/layout/default"/>
    <dgm:cxn modelId="{FB7E2C54-EF62-4F7D-BDF5-0000EF37F034}" srcId="{23A71B2B-B63F-43EA-8B95-68425EC836DC}" destId="{E236362E-45F5-402C-9A2B-44203EF83213}" srcOrd="1" destOrd="0" parTransId="{1305746C-5118-4DCC-ADFD-04DC6E23706F}" sibTransId="{216B8693-FD7B-46B9-B05C-FFF083AFB752}"/>
    <dgm:cxn modelId="{15427577-8D42-49E0-8F56-DB0F2D74EDD2}" type="presOf" srcId="{BFD07098-44BE-44FB-AEFB-191EDE0F3CB8}" destId="{CF7E176F-6612-4669-A5F9-3B8026C66E60}" srcOrd="0" destOrd="0" presId="urn:microsoft.com/office/officeart/2005/8/layout/default"/>
    <dgm:cxn modelId="{A25A365A-D8ED-414C-99D9-40330737A3AC}" srcId="{23A71B2B-B63F-43EA-8B95-68425EC836DC}" destId="{1C9372B1-8658-40FB-81A3-F4956F9C31B4}" srcOrd="4" destOrd="0" parTransId="{D0049C9B-DF0E-49AA-ABDF-EE733B3753BB}" sibTransId="{BD3FCC1E-5C8A-4054-A636-F531A08101A9}"/>
    <dgm:cxn modelId="{4473527D-D52D-4663-BA5E-9863C1DF8871}" srcId="{23A71B2B-B63F-43EA-8B95-68425EC836DC}" destId="{BFD07098-44BE-44FB-AEFB-191EDE0F3CB8}" srcOrd="6" destOrd="0" parTransId="{781D0070-8215-4BE8-8ABF-5ED2B6CB28E3}" sibTransId="{02C41A47-EAC0-46FF-8EDD-D877FDFD1A0A}"/>
    <dgm:cxn modelId="{DEF995BB-6EEA-4437-92A0-AFA4AD95B280}" srcId="{23A71B2B-B63F-43EA-8B95-68425EC836DC}" destId="{487A873A-7631-4445-BCAA-31C28412BC50}" srcOrd="2" destOrd="0" parTransId="{BEF5D63E-0E5F-4D4F-9EAE-485488B0A582}" sibTransId="{28AB71FC-8BC7-426C-9AB2-E9C522365768}"/>
    <dgm:cxn modelId="{825E55BF-3A95-41F4-81E2-59D50E76C4D7}" srcId="{23A71B2B-B63F-43EA-8B95-68425EC836DC}" destId="{B08AE9E8-FD7A-4DC2-B964-F08660ED4DCE}" srcOrd="5" destOrd="0" parTransId="{D77B047F-F830-4024-AFBD-A8813DC2A4B6}" sibTransId="{38A4DBC8-B869-430B-B964-0A555EECE7DA}"/>
    <dgm:cxn modelId="{5EF22CC5-093C-4CF0-8A4D-9E357CBA35ED}" type="presOf" srcId="{05C73996-4FED-4DB0-953A-7A406357F06C}" destId="{B5807B42-A176-4E6E-AB81-6897A18F2B7A}" srcOrd="0" destOrd="0" presId="urn:microsoft.com/office/officeart/2005/8/layout/default"/>
    <dgm:cxn modelId="{DBCF8ACB-A44D-4B93-B800-79CB4E8AC5EF}" srcId="{23A71B2B-B63F-43EA-8B95-68425EC836DC}" destId="{522209F9-076A-4993-8751-AAEF19416809}" srcOrd="3" destOrd="0" parTransId="{E8D4865C-B74A-4112-9E4A-78D3D5432DC7}" sibTransId="{FA4C0ADF-3613-4E71-B483-C488AF7772B8}"/>
    <dgm:cxn modelId="{A535F3D7-F186-4ABD-8875-96862F4BE832}" type="presOf" srcId="{1C9372B1-8658-40FB-81A3-F4956F9C31B4}" destId="{6991B0C2-1B89-4749-8088-40D4D717E93C}" srcOrd="0" destOrd="0" presId="urn:microsoft.com/office/officeart/2005/8/layout/default"/>
    <dgm:cxn modelId="{04EBD3E6-37F0-415C-8E34-A4213FF72D14}" type="presOf" srcId="{B08AE9E8-FD7A-4DC2-B964-F08660ED4DCE}" destId="{3A40F33F-F0F1-483B-95AD-2413347E7485}" srcOrd="0" destOrd="0" presId="urn:microsoft.com/office/officeart/2005/8/layout/default"/>
    <dgm:cxn modelId="{7B8824EB-7518-43A4-A01F-C83DA2ED3E10}" type="presOf" srcId="{0989BDCE-1DAE-4BFE-96D7-A166D1709041}" destId="{10DB7B94-F577-4D6D-A215-340F5AF11DA9}" srcOrd="0" destOrd="0" presId="urn:microsoft.com/office/officeart/2005/8/layout/default"/>
    <dgm:cxn modelId="{7612FFF5-AACF-40AE-A99B-58A4ADA21106}" srcId="{487A873A-7631-4445-BCAA-31C28412BC50}" destId="{2C724BC8-4E88-4EB6-A0E2-8FA827BA98AA}" srcOrd="0" destOrd="0" parTransId="{4AB3301A-2B31-4951-B261-07C4C5D7E0EA}" sibTransId="{AE0564DB-A3A0-4C8F-A02A-F32777F8927B}"/>
    <dgm:cxn modelId="{02C5303D-770F-40EA-976E-7064FF4DD944}" type="presParOf" srcId="{3A56878B-FDE3-4237-B187-11AFD798F07D}" destId="{10DB7B94-F577-4D6D-A215-340F5AF11DA9}" srcOrd="0" destOrd="0" presId="urn:microsoft.com/office/officeart/2005/8/layout/default"/>
    <dgm:cxn modelId="{A5E43B7E-E174-496B-9B81-480DBC79EAC3}" type="presParOf" srcId="{3A56878B-FDE3-4237-B187-11AFD798F07D}" destId="{0BCDA228-DC3F-469F-91FE-92EC0281A3A9}" srcOrd="1" destOrd="0" presId="urn:microsoft.com/office/officeart/2005/8/layout/default"/>
    <dgm:cxn modelId="{AD8C5BE2-17E1-44B2-A931-2A8478E8958D}" type="presParOf" srcId="{3A56878B-FDE3-4237-B187-11AFD798F07D}" destId="{69E6616C-9E7F-4FCF-BB34-C000D5E760B1}" srcOrd="2" destOrd="0" presId="urn:microsoft.com/office/officeart/2005/8/layout/default"/>
    <dgm:cxn modelId="{DF30B09A-59F9-441D-AE9F-AF429C31D9D2}" type="presParOf" srcId="{3A56878B-FDE3-4237-B187-11AFD798F07D}" destId="{ECACA62F-57B3-4AC8-B2C9-74061F324B40}" srcOrd="3" destOrd="0" presId="urn:microsoft.com/office/officeart/2005/8/layout/default"/>
    <dgm:cxn modelId="{AC069B16-4758-4675-95D3-70E807F1C639}" type="presParOf" srcId="{3A56878B-FDE3-4237-B187-11AFD798F07D}" destId="{83583CF2-AADA-4459-957F-43271F87B8AB}" srcOrd="4" destOrd="0" presId="urn:microsoft.com/office/officeart/2005/8/layout/default"/>
    <dgm:cxn modelId="{DA019793-C9CB-4CBB-9DE7-52CC58C90568}" type="presParOf" srcId="{3A56878B-FDE3-4237-B187-11AFD798F07D}" destId="{DDD361C9-FF16-4773-8498-2B5FF47AC85F}" srcOrd="5" destOrd="0" presId="urn:microsoft.com/office/officeart/2005/8/layout/default"/>
    <dgm:cxn modelId="{1AD41829-B7F2-4A26-B150-CFEA4DE7D846}" type="presParOf" srcId="{3A56878B-FDE3-4237-B187-11AFD798F07D}" destId="{B7E9D1FF-9B0C-414A-A4C4-E074D414E56C}" srcOrd="6" destOrd="0" presId="urn:microsoft.com/office/officeart/2005/8/layout/default"/>
    <dgm:cxn modelId="{CA77129A-04A4-4863-8A38-7DB5ACF0F842}" type="presParOf" srcId="{3A56878B-FDE3-4237-B187-11AFD798F07D}" destId="{3B141DE1-9842-4EC3-8791-305DCBEA653B}" srcOrd="7" destOrd="0" presId="urn:microsoft.com/office/officeart/2005/8/layout/default"/>
    <dgm:cxn modelId="{FC70BC1A-3706-4AED-9EFC-BCF532FE05F2}" type="presParOf" srcId="{3A56878B-FDE3-4237-B187-11AFD798F07D}" destId="{6991B0C2-1B89-4749-8088-40D4D717E93C}" srcOrd="8" destOrd="0" presId="urn:microsoft.com/office/officeart/2005/8/layout/default"/>
    <dgm:cxn modelId="{F725B038-4737-470A-B2AA-075AA822E633}" type="presParOf" srcId="{3A56878B-FDE3-4237-B187-11AFD798F07D}" destId="{B86E678F-E458-4264-8CCF-0F7C40E7F185}" srcOrd="9" destOrd="0" presId="urn:microsoft.com/office/officeart/2005/8/layout/default"/>
    <dgm:cxn modelId="{7537A4C5-6D10-4AB1-AC4B-9E9EBBD1730B}" type="presParOf" srcId="{3A56878B-FDE3-4237-B187-11AFD798F07D}" destId="{3A40F33F-F0F1-483B-95AD-2413347E7485}" srcOrd="10" destOrd="0" presId="urn:microsoft.com/office/officeart/2005/8/layout/default"/>
    <dgm:cxn modelId="{FD826281-F43B-4A29-95CB-05C03C52AEE3}" type="presParOf" srcId="{3A56878B-FDE3-4237-B187-11AFD798F07D}" destId="{9EA27F11-0858-48C2-81B9-48566833C810}" srcOrd="11" destOrd="0" presId="urn:microsoft.com/office/officeart/2005/8/layout/default"/>
    <dgm:cxn modelId="{8A0FAC7B-DF92-47C8-A00D-4D6BCC765735}" type="presParOf" srcId="{3A56878B-FDE3-4237-B187-11AFD798F07D}" destId="{CF7E176F-6612-4669-A5F9-3B8026C66E60}" srcOrd="12" destOrd="0" presId="urn:microsoft.com/office/officeart/2005/8/layout/default"/>
    <dgm:cxn modelId="{B33E1375-D987-4A7C-8C31-9445354F0C64}" type="presParOf" srcId="{3A56878B-FDE3-4237-B187-11AFD798F07D}" destId="{88441360-BC0A-412F-9832-92D3487EE476}" srcOrd="13" destOrd="0" presId="urn:microsoft.com/office/officeart/2005/8/layout/default"/>
    <dgm:cxn modelId="{167658C8-F3F1-4139-9DC5-3F1133C46BF1}" type="presParOf" srcId="{3A56878B-FDE3-4237-B187-11AFD798F07D}" destId="{B5807B42-A176-4E6E-AB81-6897A18F2B7A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9891F41-6987-4D6B-B822-672A08724A4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15610F1-5247-4C1B-8974-79893381E147}">
      <dgm:prSet custT="1"/>
      <dgm:spPr/>
      <dgm:t>
        <a:bodyPr/>
        <a:lstStyle/>
        <a:p>
          <a:r>
            <a:rPr lang="en-US" sz="3200" b="1" dirty="0">
              <a:solidFill>
                <a:schemeClr val="tx1"/>
              </a:solidFill>
            </a:rPr>
            <a:t>B</a:t>
          </a:r>
          <a:r>
            <a:rPr lang="en-US" sz="4000" b="1" dirty="0">
              <a:solidFill>
                <a:schemeClr val="tx1"/>
              </a:solidFill>
            </a:rPr>
            <a:t>. </a:t>
          </a:r>
          <a:r>
            <a:rPr lang="en-US" sz="3200" b="1" dirty="0">
              <a:solidFill>
                <a:schemeClr val="tx1"/>
              </a:solidFill>
            </a:rPr>
            <a:t>Non-Functional Requirements </a:t>
          </a:r>
          <a:endParaRPr lang="en-US" sz="1900" dirty="0">
            <a:solidFill>
              <a:schemeClr val="tx1"/>
            </a:solidFill>
          </a:endParaRPr>
        </a:p>
      </dgm:t>
    </dgm:pt>
    <dgm:pt modelId="{E3C234E0-11AC-433C-AF06-93C3A8B522A1}" type="parTrans" cxnId="{22DE7A89-E7E8-43ED-9D2B-387F50CFC76D}">
      <dgm:prSet/>
      <dgm:spPr/>
      <dgm:t>
        <a:bodyPr/>
        <a:lstStyle/>
        <a:p>
          <a:endParaRPr lang="en-US"/>
        </a:p>
      </dgm:t>
    </dgm:pt>
    <dgm:pt modelId="{8B617A37-5956-45C5-80B8-C95E80FB913C}" type="sibTrans" cxnId="{22DE7A89-E7E8-43ED-9D2B-387F50CFC76D}">
      <dgm:prSet/>
      <dgm:spPr/>
      <dgm:t>
        <a:bodyPr/>
        <a:lstStyle/>
        <a:p>
          <a:endParaRPr lang="en-US"/>
        </a:p>
      </dgm:t>
    </dgm:pt>
    <dgm:pt modelId="{CBC27126-1CFB-4865-BB22-4DC9C6F58364}">
      <dgm:prSet/>
      <dgm:spPr/>
      <dgm:t>
        <a:bodyPr/>
        <a:lstStyle/>
        <a:p>
          <a:r>
            <a:rPr lang="en-US" b="1"/>
            <a:t>Usability (Accessibility):</a:t>
          </a:r>
          <a:r>
            <a:rPr lang="en-US"/>
            <a:t> Must comply with </a:t>
          </a:r>
          <a:r>
            <a:rPr lang="en-US" b="1"/>
            <a:t>WCAG 2.1 Level AA</a:t>
          </a:r>
          <a:r>
            <a:rPr lang="en-US"/>
            <a:t> standards.</a:t>
          </a:r>
        </a:p>
      </dgm:t>
    </dgm:pt>
    <dgm:pt modelId="{342FD778-1951-4EC5-A860-46A36BCB4DD8}" type="parTrans" cxnId="{7955CAA5-C02A-4B35-AFCD-8E386EAA025C}">
      <dgm:prSet/>
      <dgm:spPr/>
      <dgm:t>
        <a:bodyPr/>
        <a:lstStyle/>
        <a:p>
          <a:endParaRPr lang="en-US"/>
        </a:p>
      </dgm:t>
    </dgm:pt>
    <dgm:pt modelId="{75CA0D49-B06C-4CB7-AE9D-CB4C778AC011}" type="sibTrans" cxnId="{7955CAA5-C02A-4B35-AFCD-8E386EAA025C}">
      <dgm:prSet/>
      <dgm:spPr/>
      <dgm:t>
        <a:bodyPr/>
        <a:lstStyle/>
        <a:p>
          <a:endParaRPr lang="en-US"/>
        </a:p>
      </dgm:t>
    </dgm:pt>
    <dgm:pt modelId="{2B328FAC-A3F7-4EBA-ABD8-369972B37198}">
      <dgm:prSet/>
      <dgm:spPr/>
      <dgm:t>
        <a:bodyPr/>
        <a:lstStyle/>
        <a:p>
          <a:r>
            <a:rPr lang="en-US" b="1"/>
            <a:t>Reliability:</a:t>
          </a:r>
          <a:r>
            <a:rPr lang="en-US"/>
            <a:t> The system should have 99.9% uptime, as seniors may lose confidence if the tool is frequently unavailable.</a:t>
          </a:r>
        </a:p>
      </dgm:t>
    </dgm:pt>
    <dgm:pt modelId="{2A3C98DE-58C1-41C2-A60F-6530BDCF611A}" type="parTrans" cxnId="{89D5F4B2-8FD8-4BDA-9AA7-34C429293856}">
      <dgm:prSet/>
      <dgm:spPr/>
      <dgm:t>
        <a:bodyPr/>
        <a:lstStyle/>
        <a:p>
          <a:endParaRPr lang="en-US"/>
        </a:p>
      </dgm:t>
    </dgm:pt>
    <dgm:pt modelId="{1D91124C-A9D1-4739-A14F-164D4DED246F}" type="sibTrans" cxnId="{89D5F4B2-8FD8-4BDA-9AA7-34C429293856}">
      <dgm:prSet/>
      <dgm:spPr/>
      <dgm:t>
        <a:bodyPr/>
        <a:lstStyle/>
        <a:p>
          <a:endParaRPr lang="en-US"/>
        </a:p>
      </dgm:t>
    </dgm:pt>
    <dgm:pt modelId="{D86104E8-C9AC-4DB0-A2D0-1BCC0A80ED44}">
      <dgm:prSet/>
      <dgm:spPr/>
      <dgm:t>
        <a:bodyPr/>
        <a:lstStyle/>
        <a:p>
          <a:r>
            <a:rPr lang="en-US" b="1"/>
            <a:t>Security:</a:t>
          </a:r>
          <a:r>
            <a:rPr lang="en-US"/>
            <a:t> Multi-factor authentication (MFA) that uses simple methods like biometric (fingerprint) or physical security keys rather than complex SMS codes.</a:t>
          </a:r>
        </a:p>
      </dgm:t>
    </dgm:pt>
    <dgm:pt modelId="{373C2FF8-2E17-47DB-BEC3-5AA4A7E9DB06}" type="parTrans" cxnId="{BDBD8F8F-F5ED-41AF-999A-1B6E52F7B3AF}">
      <dgm:prSet/>
      <dgm:spPr/>
      <dgm:t>
        <a:bodyPr/>
        <a:lstStyle/>
        <a:p>
          <a:endParaRPr lang="en-US"/>
        </a:p>
      </dgm:t>
    </dgm:pt>
    <dgm:pt modelId="{63D1B74C-EC11-4393-A37E-71E785C8AD71}" type="sibTrans" cxnId="{BDBD8F8F-F5ED-41AF-999A-1B6E52F7B3AF}">
      <dgm:prSet/>
      <dgm:spPr/>
      <dgm:t>
        <a:bodyPr/>
        <a:lstStyle/>
        <a:p>
          <a:endParaRPr lang="en-US"/>
        </a:p>
      </dgm:t>
    </dgm:pt>
    <dgm:pt modelId="{094F713A-C37F-42CD-B6F5-9BE5885B979B}">
      <dgm:prSet/>
      <dgm:spPr/>
      <dgm:t>
        <a:bodyPr/>
        <a:lstStyle/>
        <a:p>
          <a:r>
            <a:rPr lang="en-US" b="1"/>
            <a:t>Patience-First Design:</a:t>
          </a:r>
          <a:r>
            <a:rPr lang="en-US"/>
            <a:t> The system should not "time out" quickly; extended session times are required for slower input speeds.</a:t>
          </a:r>
        </a:p>
      </dgm:t>
    </dgm:pt>
    <dgm:pt modelId="{B99502AD-7C3B-4FAE-BD78-104E7FBAEC86}" type="parTrans" cxnId="{9C2C32D6-5023-420C-BCFB-466E0B8AD427}">
      <dgm:prSet/>
      <dgm:spPr/>
      <dgm:t>
        <a:bodyPr/>
        <a:lstStyle/>
        <a:p>
          <a:endParaRPr lang="en-US"/>
        </a:p>
      </dgm:t>
    </dgm:pt>
    <dgm:pt modelId="{ED0C31C0-51C6-4682-8B6C-94ED0225DC7B}" type="sibTrans" cxnId="{9C2C32D6-5023-420C-BCFB-466E0B8AD427}">
      <dgm:prSet/>
      <dgm:spPr/>
      <dgm:t>
        <a:bodyPr/>
        <a:lstStyle/>
        <a:p>
          <a:endParaRPr lang="en-US"/>
        </a:p>
      </dgm:t>
    </dgm:pt>
    <dgm:pt modelId="{2FF85EC8-57F0-4E99-923B-0BEAD88D65ED}" type="pres">
      <dgm:prSet presAssocID="{89891F41-6987-4D6B-B822-672A08724A44}" presName="root" presStyleCnt="0">
        <dgm:presLayoutVars>
          <dgm:dir/>
          <dgm:resizeHandles val="exact"/>
        </dgm:presLayoutVars>
      </dgm:prSet>
      <dgm:spPr/>
    </dgm:pt>
    <dgm:pt modelId="{E3FD651E-1BD3-4574-B8DB-A406BD613D5F}" type="pres">
      <dgm:prSet presAssocID="{315610F1-5247-4C1B-8974-79893381E147}" presName="compNode" presStyleCnt="0"/>
      <dgm:spPr/>
    </dgm:pt>
    <dgm:pt modelId="{1BC02DB9-31CF-48A1-AA1E-CD03FC333343}" type="pres">
      <dgm:prSet presAssocID="{315610F1-5247-4C1B-8974-79893381E147}" presName="bgRect" presStyleLbl="bgShp" presStyleIdx="0" presStyleCnt="5"/>
      <dgm:spPr/>
    </dgm:pt>
    <dgm:pt modelId="{08406C7F-208D-40E6-B9BC-99A14DE9F7A9}" type="pres">
      <dgm:prSet presAssocID="{315610F1-5247-4C1B-8974-79893381E14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C08F520-9DA3-46D5-B98B-601C48228ADB}" type="pres">
      <dgm:prSet presAssocID="{315610F1-5247-4C1B-8974-79893381E147}" presName="spaceRect" presStyleCnt="0"/>
      <dgm:spPr/>
    </dgm:pt>
    <dgm:pt modelId="{6E75DAD8-3CA3-4D1B-9D4C-61FA2BCB1450}" type="pres">
      <dgm:prSet presAssocID="{315610F1-5247-4C1B-8974-79893381E147}" presName="parTx" presStyleLbl="revTx" presStyleIdx="0" presStyleCnt="5">
        <dgm:presLayoutVars>
          <dgm:chMax val="0"/>
          <dgm:chPref val="0"/>
        </dgm:presLayoutVars>
      </dgm:prSet>
      <dgm:spPr/>
    </dgm:pt>
    <dgm:pt modelId="{B965DC1D-EA64-44E6-8EE5-4D5623D519DA}" type="pres">
      <dgm:prSet presAssocID="{8B617A37-5956-45C5-80B8-C95E80FB913C}" presName="sibTrans" presStyleCnt="0"/>
      <dgm:spPr/>
    </dgm:pt>
    <dgm:pt modelId="{AB83C69B-8C53-497F-809D-F73D6413A588}" type="pres">
      <dgm:prSet presAssocID="{CBC27126-1CFB-4865-BB22-4DC9C6F58364}" presName="compNode" presStyleCnt="0"/>
      <dgm:spPr/>
    </dgm:pt>
    <dgm:pt modelId="{88CDE4B4-83B0-4A50-A3A2-17E69B48BC62}" type="pres">
      <dgm:prSet presAssocID="{CBC27126-1CFB-4865-BB22-4DC9C6F58364}" presName="bgRect" presStyleLbl="bgShp" presStyleIdx="1" presStyleCnt="5"/>
      <dgm:spPr/>
    </dgm:pt>
    <dgm:pt modelId="{9E9CD8C5-B21D-4ABA-96B7-C17B21540CF7}" type="pres">
      <dgm:prSet presAssocID="{CBC27126-1CFB-4865-BB22-4DC9C6F5836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FB4C38E8-560A-4293-A66E-BAA85F528F94}" type="pres">
      <dgm:prSet presAssocID="{CBC27126-1CFB-4865-BB22-4DC9C6F58364}" presName="spaceRect" presStyleCnt="0"/>
      <dgm:spPr/>
    </dgm:pt>
    <dgm:pt modelId="{02A1039E-65CF-4A74-8F04-D90CD6719D75}" type="pres">
      <dgm:prSet presAssocID="{CBC27126-1CFB-4865-BB22-4DC9C6F58364}" presName="parTx" presStyleLbl="revTx" presStyleIdx="1" presStyleCnt="5">
        <dgm:presLayoutVars>
          <dgm:chMax val="0"/>
          <dgm:chPref val="0"/>
        </dgm:presLayoutVars>
      </dgm:prSet>
      <dgm:spPr/>
    </dgm:pt>
    <dgm:pt modelId="{DE0FFF43-7CF3-4041-96FB-5D8389E2F8F7}" type="pres">
      <dgm:prSet presAssocID="{75CA0D49-B06C-4CB7-AE9D-CB4C778AC011}" presName="sibTrans" presStyleCnt="0"/>
      <dgm:spPr/>
    </dgm:pt>
    <dgm:pt modelId="{601D6019-BA2A-40A1-8112-7E3DA5E948C1}" type="pres">
      <dgm:prSet presAssocID="{2B328FAC-A3F7-4EBA-ABD8-369972B37198}" presName="compNode" presStyleCnt="0"/>
      <dgm:spPr/>
    </dgm:pt>
    <dgm:pt modelId="{F911454D-9C2C-4E0A-8D08-372683B4EB72}" type="pres">
      <dgm:prSet presAssocID="{2B328FAC-A3F7-4EBA-ABD8-369972B37198}" presName="bgRect" presStyleLbl="bgShp" presStyleIdx="2" presStyleCnt="5"/>
      <dgm:spPr/>
    </dgm:pt>
    <dgm:pt modelId="{5EFD9542-2E7E-4C01-B68C-90109C91FD84}" type="pres">
      <dgm:prSet presAssocID="{2B328FAC-A3F7-4EBA-ABD8-369972B3719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mmer"/>
        </a:ext>
      </dgm:extLst>
    </dgm:pt>
    <dgm:pt modelId="{07FD7E6C-61D1-45DB-B75B-0A8445731FF9}" type="pres">
      <dgm:prSet presAssocID="{2B328FAC-A3F7-4EBA-ABD8-369972B37198}" presName="spaceRect" presStyleCnt="0"/>
      <dgm:spPr/>
    </dgm:pt>
    <dgm:pt modelId="{B166FE56-BEB7-49CE-B3F2-16CD6BD559B2}" type="pres">
      <dgm:prSet presAssocID="{2B328FAC-A3F7-4EBA-ABD8-369972B37198}" presName="parTx" presStyleLbl="revTx" presStyleIdx="2" presStyleCnt="5">
        <dgm:presLayoutVars>
          <dgm:chMax val="0"/>
          <dgm:chPref val="0"/>
        </dgm:presLayoutVars>
      </dgm:prSet>
      <dgm:spPr/>
    </dgm:pt>
    <dgm:pt modelId="{84E453F6-949C-4513-B497-2AFEE549B9B0}" type="pres">
      <dgm:prSet presAssocID="{1D91124C-A9D1-4739-A14F-164D4DED246F}" presName="sibTrans" presStyleCnt="0"/>
      <dgm:spPr/>
    </dgm:pt>
    <dgm:pt modelId="{5A563BDD-DE32-4C7B-8C31-4015B2BA84F4}" type="pres">
      <dgm:prSet presAssocID="{D86104E8-C9AC-4DB0-A2D0-1BCC0A80ED44}" presName="compNode" presStyleCnt="0"/>
      <dgm:spPr/>
    </dgm:pt>
    <dgm:pt modelId="{3A1228C9-CAEF-40BE-9110-3BB446FC12E4}" type="pres">
      <dgm:prSet presAssocID="{D86104E8-C9AC-4DB0-A2D0-1BCC0A80ED44}" presName="bgRect" presStyleLbl="bgShp" presStyleIdx="3" presStyleCnt="5"/>
      <dgm:spPr/>
    </dgm:pt>
    <dgm:pt modelId="{AD637B0E-70B8-4E86-8262-704B75BB55A1}" type="pres">
      <dgm:prSet presAssocID="{D86104E8-C9AC-4DB0-A2D0-1BCC0A80ED4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4771A4F3-B1B5-46ED-B4D0-9E53D474D9EA}" type="pres">
      <dgm:prSet presAssocID="{D86104E8-C9AC-4DB0-A2D0-1BCC0A80ED44}" presName="spaceRect" presStyleCnt="0"/>
      <dgm:spPr/>
    </dgm:pt>
    <dgm:pt modelId="{D9A42E66-4AE3-42BA-A74B-3C4108A09711}" type="pres">
      <dgm:prSet presAssocID="{D86104E8-C9AC-4DB0-A2D0-1BCC0A80ED44}" presName="parTx" presStyleLbl="revTx" presStyleIdx="3" presStyleCnt="5">
        <dgm:presLayoutVars>
          <dgm:chMax val="0"/>
          <dgm:chPref val="0"/>
        </dgm:presLayoutVars>
      </dgm:prSet>
      <dgm:spPr/>
    </dgm:pt>
    <dgm:pt modelId="{C50D6390-721F-485C-900B-E969A31033D2}" type="pres">
      <dgm:prSet presAssocID="{63D1B74C-EC11-4393-A37E-71E785C8AD71}" presName="sibTrans" presStyleCnt="0"/>
      <dgm:spPr/>
    </dgm:pt>
    <dgm:pt modelId="{CF22D9CF-BDDC-4FCD-95FF-7175DF7FC467}" type="pres">
      <dgm:prSet presAssocID="{094F713A-C37F-42CD-B6F5-9BE5885B979B}" presName="compNode" presStyleCnt="0"/>
      <dgm:spPr/>
    </dgm:pt>
    <dgm:pt modelId="{0D4957C3-F856-4C36-BF91-4269C3A17DAA}" type="pres">
      <dgm:prSet presAssocID="{094F713A-C37F-42CD-B6F5-9BE5885B979B}" presName="bgRect" presStyleLbl="bgShp" presStyleIdx="4" presStyleCnt="5"/>
      <dgm:spPr/>
    </dgm:pt>
    <dgm:pt modelId="{4B1C3CA8-64B7-49DD-A735-C32320FAF16A}" type="pres">
      <dgm:prSet presAssocID="{094F713A-C37F-42CD-B6F5-9BE5885B979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76A7D648-CBC1-4ACA-8D18-C5739AE6917F}" type="pres">
      <dgm:prSet presAssocID="{094F713A-C37F-42CD-B6F5-9BE5885B979B}" presName="spaceRect" presStyleCnt="0"/>
      <dgm:spPr/>
    </dgm:pt>
    <dgm:pt modelId="{B4B95C90-85DF-4C39-8EFC-C0B1C95EF1B6}" type="pres">
      <dgm:prSet presAssocID="{094F713A-C37F-42CD-B6F5-9BE5885B979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1BB4538-7662-420D-AE3A-1736D80A018A}" type="presOf" srcId="{094F713A-C37F-42CD-B6F5-9BE5885B979B}" destId="{B4B95C90-85DF-4C39-8EFC-C0B1C95EF1B6}" srcOrd="0" destOrd="0" presId="urn:microsoft.com/office/officeart/2018/2/layout/IconVerticalSolidList"/>
    <dgm:cxn modelId="{3494D03A-A3F6-4346-9A3B-031DE335FADA}" type="presOf" srcId="{2B328FAC-A3F7-4EBA-ABD8-369972B37198}" destId="{B166FE56-BEB7-49CE-B3F2-16CD6BD559B2}" srcOrd="0" destOrd="0" presId="urn:microsoft.com/office/officeart/2018/2/layout/IconVerticalSolidList"/>
    <dgm:cxn modelId="{B3D2A478-BF4B-4858-82A0-CB51095D206E}" type="presOf" srcId="{89891F41-6987-4D6B-B822-672A08724A44}" destId="{2FF85EC8-57F0-4E99-923B-0BEAD88D65ED}" srcOrd="0" destOrd="0" presId="urn:microsoft.com/office/officeart/2018/2/layout/IconVerticalSolidList"/>
    <dgm:cxn modelId="{A6213982-20E8-4A41-AA95-5D7825AB96BD}" type="presOf" srcId="{315610F1-5247-4C1B-8974-79893381E147}" destId="{6E75DAD8-3CA3-4D1B-9D4C-61FA2BCB1450}" srcOrd="0" destOrd="0" presId="urn:microsoft.com/office/officeart/2018/2/layout/IconVerticalSolidList"/>
    <dgm:cxn modelId="{22DE7A89-E7E8-43ED-9D2B-387F50CFC76D}" srcId="{89891F41-6987-4D6B-B822-672A08724A44}" destId="{315610F1-5247-4C1B-8974-79893381E147}" srcOrd="0" destOrd="0" parTransId="{E3C234E0-11AC-433C-AF06-93C3A8B522A1}" sibTransId="{8B617A37-5956-45C5-80B8-C95E80FB913C}"/>
    <dgm:cxn modelId="{BDBD8F8F-F5ED-41AF-999A-1B6E52F7B3AF}" srcId="{89891F41-6987-4D6B-B822-672A08724A44}" destId="{D86104E8-C9AC-4DB0-A2D0-1BCC0A80ED44}" srcOrd="3" destOrd="0" parTransId="{373C2FF8-2E17-47DB-BEC3-5AA4A7E9DB06}" sibTransId="{63D1B74C-EC11-4393-A37E-71E785C8AD71}"/>
    <dgm:cxn modelId="{7955CAA5-C02A-4B35-AFCD-8E386EAA025C}" srcId="{89891F41-6987-4D6B-B822-672A08724A44}" destId="{CBC27126-1CFB-4865-BB22-4DC9C6F58364}" srcOrd="1" destOrd="0" parTransId="{342FD778-1951-4EC5-A860-46A36BCB4DD8}" sibTransId="{75CA0D49-B06C-4CB7-AE9D-CB4C778AC011}"/>
    <dgm:cxn modelId="{A3DE96A6-2DFD-49E5-A750-0A6674C8301F}" type="presOf" srcId="{CBC27126-1CFB-4865-BB22-4DC9C6F58364}" destId="{02A1039E-65CF-4A74-8F04-D90CD6719D75}" srcOrd="0" destOrd="0" presId="urn:microsoft.com/office/officeart/2018/2/layout/IconVerticalSolidList"/>
    <dgm:cxn modelId="{89D5F4B2-8FD8-4BDA-9AA7-34C429293856}" srcId="{89891F41-6987-4D6B-B822-672A08724A44}" destId="{2B328FAC-A3F7-4EBA-ABD8-369972B37198}" srcOrd="2" destOrd="0" parTransId="{2A3C98DE-58C1-41C2-A60F-6530BDCF611A}" sibTransId="{1D91124C-A9D1-4739-A14F-164D4DED246F}"/>
    <dgm:cxn modelId="{995958C9-ECD4-4B53-ABD1-157C6C6A8127}" type="presOf" srcId="{D86104E8-C9AC-4DB0-A2D0-1BCC0A80ED44}" destId="{D9A42E66-4AE3-42BA-A74B-3C4108A09711}" srcOrd="0" destOrd="0" presId="urn:microsoft.com/office/officeart/2018/2/layout/IconVerticalSolidList"/>
    <dgm:cxn modelId="{9C2C32D6-5023-420C-BCFB-466E0B8AD427}" srcId="{89891F41-6987-4D6B-B822-672A08724A44}" destId="{094F713A-C37F-42CD-B6F5-9BE5885B979B}" srcOrd="4" destOrd="0" parTransId="{B99502AD-7C3B-4FAE-BD78-104E7FBAEC86}" sibTransId="{ED0C31C0-51C6-4682-8B6C-94ED0225DC7B}"/>
    <dgm:cxn modelId="{DBFB805E-6062-4815-AAB0-650790737A3E}" type="presParOf" srcId="{2FF85EC8-57F0-4E99-923B-0BEAD88D65ED}" destId="{E3FD651E-1BD3-4574-B8DB-A406BD613D5F}" srcOrd="0" destOrd="0" presId="urn:microsoft.com/office/officeart/2018/2/layout/IconVerticalSolidList"/>
    <dgm:cxn modelId="{AE791156-1D38-4B2C-B540-CEB7E5C278E5}" type="presParOf" srcId="{E3FD651E-1BD3-4574-B8DB-A406BD613D5F}" destId="{1BC02DB9-31CF-48A1-AA1E-CD03FC333343}" srcOrd="0" destOrd="0" presId="urn:microsoft.com/office/officeart/2018/2/layout/IconVerticalSolidList"/>
    <dgm:cxn modelId="{D55A36E3-9BD6-49FC-B22B-5559570C243E}" type="presParOf" srcId="{E3FD651E-1BD3-4574-B8DB-A406BD613D5F}" destId="{08406C7F-208D-40E6-B9BC-99A14DE9F7A9}" srcOrd="1" destOrd="0" presId="urn:microsoft.com/office/officeart/2018/2/layout/IconVerticalSolidList"/>
    <dgm:cxn modelId="{7F513DE1-DE52-4835-841B-07B95154A40E}" type="presParOf" srcId="{E3FD651E-1BD3-4574-B8DB-A406BD613D5F}" destId="{7C08F520-9DA3-46D5-B98B-601C48228ADB}" srcOrd="2" destOrd="0" presId="urn:microsoft.com/office/officeart/2018/2/layout/IconVerticalSolidList"/>
    <dgm:cxn modelId="{D499FF04-BD97-4D58-BF39-77C3D0B642A8}" type="presParOf" srcId="{E3FD651E-1BD3-4574-B8DB-A406BD613D5F}" destId="{6E75DAD8-3CA3-4D1B-9D4C-61FA2BCB1450}" srcOrd="3" destOrd="0" presId="urn:microsoft.com/office/officeart/2018/2/layout/IconVerticalSolidList"/>
    <dgm:cxn modelId="{2DB0D914-8B57-4506-828A-72925652DE81}" type="presParOf" srcId="{2FF85EC8-57F0-4E99-923B-0BEAD88D65ED}" destId="{B965DC1D-EA64-44E6-8EE5-4D5623D519DA}" srcOrd="1" destOrd="0" presId="urn:microsoft.com/office/officeart/2018/2/layout/IconVerticalSolidList"/>
    <dgm:cxn modelId="{1339B413-B343-4D25-8DAC-053743D0CFC4}" type="presParOf" srcId="{2FF85EC8-57F0-4E99-923B-0BEAD88D65ED}" destId="{AB83C69B-8C53-497F-809D-F73D6413A588}" srcOrd="2" destOrd="0" presId="urn:microsoft.com/office/officeart/2018/2/layout/IconVerticalSolidList"/>
    <dgm:cxn modelId="{6C8656EE-6EE9-4B08-948E-2DA40055EEBC}" type="presParOf" srcId="{AB83C69B-8C53-497F-809D-F73D6413A588}" destId="{88CDE4B4-83B0-4A50-A3A2-17E69B48BC62}" srcOrd="0" destOrd="0" presId="urn:microsoft.com/office/officeart/2018/2/layout/IconVerticalSolidList"/>
    <dgm:cxn modelId="{72450CDD-3774-4572-89B5-2EB70C147FEC}" type="presParOf" srcId="{AB83C69B-8C53-497F-809D-F73D6413A588}" destId="{9E9CD8C5-B21D-4ABA-96B7-C17B21540CF7}" srcOrd="1" destOrd="0" presId="urn:microsoft.com/office/officeart/2018/2/layout/IconVerticalSolidList"/>
    <dgm:cxn modelId="{44B52850-77E4-45A4-A74A-F6DCC7F828AA}" type="presParOf" srcId="{AB83C69B-8C53-497F-809D-F73D6413A588}" destId="{FB4C38E8-560A-4293-A66E-BAA85F528F94}" srcOrd="2" destOrd="0" presId="urn:microsoft.com/office/officeart/2018/2/layout/IconVerticalSolidList"/>
    <dgm:cxn modelId="{F4A3F5C1-DFEF-41ED-BC02-218EE011585D}" type="presParOf" srcId="{AB83C69B-8C53-497F-809D-F73D6413A588}" destId="{02A1039E-65CF-4A74-8F04-D90CD6719D75}" srcOrd="3" destOrd="0" presId="urn:microsoft.com/office/officeart/2018/2/layout/IconVerticalSolidList"/>
    <dgm:cxn modelId="{A545AE69-19B2-4481-8D82-EB2D10DDABCF}" type="presParOf" srcId="{2FF85EC8-57F0-4E99-923B-0BEAD88D65ED}" destId="{DE0FFF43-7CF3-4041-96FB-5D8389E2F8F7}" srcOrd="3" destOrd="0" presId="urn:microsoft.com/office/officeart/2018/2/layout/IconVerticalSolidList"/>
    <dgm:cxn modelId="{0BB0803E-79B8-4DCA-AF48-458899A5F4BF}" type="presParOf" srcId="{2FF85EC8-57F0-4E99-923B-0BEAD88D65ED}" destId="{601D6019-BA2A-40A1-8112-7E3DA5E948C1}" srcOrd="4" destOrd="0" presId="urn:microsoft.com/office/officeart/2018/2/layout/IconVerticalSolidList"/>
    <dgm:cxn modelId="{AE1C0029-285A-4E9E-AA7A-AD488350D1AA}" type="presParOf" srcId="{601D6019-BA2A-40A1-8112-7E3DA5E948C1}" destId="{F911454D-9C2C-4E0A-8D08-372683B4EB72}" srcOrd="0" destOrd="0" presId="urn:microsoft.com/office/officeart/2018/2/layout/IconVerticalSolidList"/>
    <dgm:cxn modelId="{56843635-7820-4878-89B1-661EA053838A}" type="presParOf" srcId="{601D6019-BA2A-40A1-8112-7E3DA5E948C1}" destId="{5EFD9542-2E7E-4C01-B68C-90109C91FD84}" srcOrd="1" destOrd="0" presId="urn:microsoft.com/office/officeart/2018/2/layout/IconVerticalSolidList"/>
    <dgm:cxn modelId="{4CD55D69-0196-4AC5-A914-670BD7BF1DC0}" type="presParOf" srcId="{601D6019-BA2A-40A1-8112-7E3DA5E948C1}" destId="{07FD7E6C-61D1-45DB-B75B-0A8445731FF9}" srcOrd="2" destOrd="0" presId="urn:microsoft.com/office/officeart/2018/2/layout/IconVerticalSolidList"/>
    <dgm:cxn modelId="{FC062C24-A56F-424F-BBF3-487D6A7820FF}" type="presParOf" srcId="{601D6019-BA2A-40A1-8112-7E3DA5E948C1}" destId="{B166FE56-BEB7-49CE-B3F2-16CD6BD559B2}" srcOrd="3" destOrd="0" presId="urn:microsoft.com/office/officeart/2018/2/layout/IconVerticalSolidList"/>
    <dgm:cxn modelId="{AC66E3A0-54EC-403C-894C-2E31D1F2E8D0}" type="presParOf" srcId="{2FF85EC8-57F0-4E99-923B-0BEAD88D65ED}" destId="{84E453F6-949C-4513-B497-2AFEE549B9B0}" srcOrd="5" destOrd="0" presId="urn:microsoft.com/office/officeart/2018/2/layout/IconVerticalSolidList"/>
    <dgm:cxn modelId="{6C5E2D51-6173-43AA-9FDD-0328F96690B3}" type="presParOf" srcId="{2FF85EC8-57F0-4E99-923B-0BEAD88D65ED}" destId="{5A563BDD-DE32-4C7B-8C31-4015B2BA84F4}" srcOrd="6" destOrd="0" presId="urn:microsoft.com/office/officeart/2018/2/layout/IconVerticalSolidList"/>
    <dgm:cxn modelId="{1DEBDCCB-29DB-408D-B402-1887EFFE32A1}" type="presParOf" srcId="{5A563BDD-DE32-4C7B-8C31-4015B2BA84F4}" destId="{3A1228C9-CAEF-40BE-9110-3BB446FC12E4}" srcOrd="0" destOrd="0" presId="urn:microsoft.com/office/officeart/2018/2/layout/IconVerticalSolidList"/>
    <dgm:cxn modelId="{2FF83ED2-F548-4756-9AB1-765D4CC4238D}" type="presParOf" srcId="{5A563BDD-DE32-4C7B-8C31-4015B2BA84F4}" destId="{AD637B0E-70B8-4E86-8262-704B75BB55A1}" srcOrd="1" destOrd="0" presId="urn:microsoft.com/office/officeart/2018/2/layout/IconVerticalSolidList"/>
    <dgm:cxn modelId="{34F51809-584A-4EA6-B5F1-3F4F1DCEFCB2}" type="presParOf" srcId="{5A563BDD-DE32-4C7B-8C31-4015B2BA84F4}" destId="{4771A4F3-B1B5-46ED-B4D0-9E53D474D9EA}" srcOrd="2" destOrd="0" presId="urn:microsoft.com/office/officeart/2018/2/layout/IconVerticalSolidList"/>
    <dgm:cxn modelId="{D676048E-4AA8-4C9F-8ADB-FEAA9F307A70}" type="presParOf" srcId="{5A563BDD-DE32-4C7B-8C31-4015B2BA84F4}" destId="{D9A42E66-4AE3-42BA-A74B-3C4108A09711}" srcOrd="3" destOrd="0" presId="urn:microsoft.com/office/officeart/2018/2/layout/IconVerticalSolidList"/>
    <dgm:cxn modelId="{E46F28CA-4381-4A79-8856-4205F65BC5E2}" type="presParOf" srcId="{2FF85EC8-57F0-4E99-923B-0BEAD88D65ED}" destId="{C50D6390-721F-485C-900B-E969A31033D2}" srcOrd="7" destOrd="0" presId="urn:microsoft.com/office/officeart/2018/2/layout/IconVerticalSolidList"/>
    <dgm:cxn modelId="{43450B40-8E8D-4929-A842-DF35358F5430}" type="presParOf" srcId="{2FF85EC8-57F0-4E99-923B-0BEAD88D65ED}" destId="{CF22D9CF-BDDC-4FCD-95FF-7175DF7FC467}" srcOrd="8" destOrd="0" presId="urn:microsoft.com/office/officeart/2018/2/layout/IconVerticalSolidList"/>
    <dgm:cxn modelId="{4AA1C697-4179-4A17-881A-40471AFCF51F}" type="presParOf" srcId="{CF22D9CF-BDDC-4FCD-95FF-7175DF7FC467}" destId="{0D4957C3-F856-4C36-BF91-4269C3A17DAA}" srcOrd="0" destOrd="0" presId="urn:microsoft.com/office/officeart/2018/2/layout/IconVerticalSolidList"/>
    <dgm:cxn modelId="{41F75392-38D1-4001-9BE0-0CD122AF06CA}" type="presParOf" srcId="{CF22D9CF-BDDC-4FCD-95FF-7175DF7FC467}" destId="{4B1C3CA8-64B7-49DD-A735-C32320FAF16A}" srcOrd="1" destOrd="0" presId="urn:microsoft.com/office/officeart/2018/2/layout/IconVerticalSolidList"/>
    <dgm:cxn modelId="{2A00DF57-8736-458E-A2F5-B61FCFAA575C}" type="presParOf" srcId="{CF22D9CF-BDDC-4FCD-95FF-7175DF7FC467}" destId="{76A7D648-CBC1-4ACA-8D18-C5739AE6917F}" srcOrd="2" destOrd="0" presId="urn:microsoft.com/office/officeart/2018/2/layout/IconVerticalSolidList"/>
    <dgm:cxn modelId="{91551DEC-5414-44B8-BB49-7E2E52AEA13F}" type="presParOf" srcId="{CF22D9CF-BDDC-4FCD-95FF-7175DF7FC467}" destId="{B4B95C90-85DF-4C39-8EFC-C0B1C95EF1B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596E939-9A61-443E-B697-754E205F01E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en-US"/>
        </a:p>
      </dgm:t>
    </dgm:pt>
    <dgm:pt modelId="{F1775FE8-9470-45F6-B5E0-2C73AB78E17A}">
      <dgm:prSet/>
      <dgm:spPr/>
      <dgm:t>
        <a:bodyPr/>
        <a:lstStyle/>
        <a:p>
          <a:r>
            <a:rPr lang="en-GB"/>
            <a:t>The proposed solution is to conduct </a:t>
          </a:r>
          <a:r>
            <a:rPr lang="en-GB" b="1"/>
            <a:t>digital literacy training programs specifically designed for senior citizens</a:t>
          </a:r>
          <a:r>
            <a:rPr lang="en-GB"/>
            <a:t>. The training will include simple lessons on using smartphones, browsing the internet, sending messages, making video calls, and performing online transactions safely.</a:t>
          </a:r>
          <a:endParaRPr lang="en-US"/>
        </a:p>
      </dgm:t>
    </dgm:pt>
    <dgm:pt modelId="{8B56583A-0D47-414F-AE14-EAC793573C6E}" type="parTrans" cxnId="{16C93262-DE17-46A7-AC26-43AEC0E2753D}">
      <dgm:prSet/>
      <dgm:spPr/>
      <dgm:t>
        <a:bodyPr/>
        <a:lstStyle/>
        <a:p>
          <a:endParaRPr lang="en-US"/>
        </a:p>
      </dgm:t>
    </dgm:pt>
    <dgm:pt modelId="{DE55882D-D7FB-41E9-B82C-99CB17094BC1}" type="sibTrans" cxnId="{16C93262-DE17-46A7-AC26-43AEC0E2753D}">
      <dgm:prSet/>
      <dgm:spPr/>
      <dgm:t>
        <a:bodyPr/>
        <a:lstStyle/>
        <a:p>
          <a:endParaRPr lang="en-US"/>
        </a:p>
      </dgm:t>
    </dgm:pt>
    <dgm:pt modelId="{8579D29A-C308-4329-9314-9EB75105BC92}">
      <dgm:prSet custT="1"/>
      <dgm:spPr/>
      <dgm:t>
        <a:bodyPr/>
        <a:lstStyle/>
        <a:p>
          <a:r>
            <a:rPr lang="en-GB" sz="2400"/>
            <a:t>Expected outcomes include:</a:t>
          </a:r>
          <a:endParaRPr lang="en-US" sz="2400"/>
        </a:p>
      </dgm:t>
    </dgm:pt>
    <dgm:pt modelId="{2876335D-05BC-47D7-885E-618A22EE6DD5}" type="parTrans" cxnId="{FEC3844E-A2BA-458E-A292-F7CBFE0C0AD3}">
      <dgm:prSet/>
      <dgm:spPr/>
      <dgm:t>
        <a:bodyPr/>
        <a:lstStyle/>
        <a:p>
          <a:endParaRPr lang="en-US"/>
        </a:p>
      </dgm:t>
    </dgm:pt>
    <dgm:pt modelId="{D8A0C8A1-B12C-4643-9839-1DA539F85455}" type="sibTrans" cxnId="{FEC3844E-A2BA-458E-A292-F7CBFE0C0AD3}">
      <dgm:prSet/>
      <dgm:spPr/>
      <dgm:t>
        <a:bodyPr/>
        <a:lstStyle/>
        <a:p>
          <a:endParaRPr lang="en-US"/>
        </a:p>
      </dgm:t>
    </dgm:pt>
    <dgm:pt modelId="{6D7E8AAC-4C97-4EB9-8D0C-4FBFE855D8D9}">
      <dgm:prSet custT="1"/>
      <dgm:spPr/>
      <dgm:t>
        <a:bodyPr/>
        <a:lstStyle/>
        <a:p>
          <a:r>
            <a:rPr lang="en-GB" sz="2000" dirty="0"/>
            <a:t>Senior citizens gaining confidence in using digital devices.</a:t>
          </a:r>
          <a:endParaRPr lang="en-US" sz="2000" dirty="0"/>
        </a:p>
      </dgm:t>
    </dgm:pt>
    <dgm:pt modelId="{CA83E729-5A8E-4B87-B172-D38EA58D47C6}" type="parTrans" cxnId="{2BB12D84-2317-4419-A699-C1AAD483C12B}">
      <dgm:prSet/>
      <dgm:spPr/>
      <dgm:t>
        <a:bodyPr/>
        <a:lstStyle/>
        <a:p>
          <a:endParaRPr lang="en-US"/>
        </a:p>
      </dgm:t>
    </dgm:pt>
    <dgm:pt modelId="{06443294-073B-4164-8DF4-487CFE36B6D7}" type="sibTrans" cxnId="{2BB12D84-2317-4419-A699-C1AAD483C12B}">
      <dgm:prSet/>
      <dgm:spPr/>
      <dgm:t>
        <a:bodyPr/>
        <a:lstStyle/>
        <a:p>
          <a:endParaRPr lang="en-US"/>
        </a:p>
      </dgm:t>
    </dgm:pt>
    <dgm:pt modelId="{E846A3DD-5C24-49BA-83AF-36CC21B29ABB}">
      <dgm:prSet custT="1"/>
      <dgm:spPr/>
      <dgm:t>
        <a:bodyPr/>
        <a:lstStyle/>
        <a:p>
          <a:r>
            <a:rPr lang="en-GB" sz="2000"/>
            <a:t>Increased ability to communicate with family and friends through digital platforms.</a:t>
          </a:r>
          <a:endParaRPr lang="en-US" sz="2000"/>
        </a:p>
      </dgm:t>
    </dgm:pt>
    <dgm:pt modelId="{DB483B7E-CC60-4451-A22C-BA38A8AF7695}" type="parTrans" cxnId="{FCF75751-DD00-4812-80CC-9C20CE80A983}">
      <dgm:prSet/>
      <dgm:spPr/>
      <dgm:t>
        <a:bodyPr/>
        <a:lstStyle/>
        <a:p>
          <a:endParaRPr lang="en-US"/>
        </a:p>
      </dgm:t>
    </dgm:pt>
    <dgm:pt modelId="{2D568FB6-C498-4343-80D2-A195F0CAA47A}" type="sibTrans" cxnId="{FCF75751-DD00-4812-80CC-9C20CE80A983}">
      <dgm:prSet/>
      <dgm:spPr/>
      <dgm:t>
        <a:bodyPr/>
        <a:lstStyle/>
        <a:p>
          <a:endParaRPr lang="en-US"/>
        </a:p>
      </dgm:t>
    </dgm:pt>
    <dgm:pt modelId="{F6780448-9B1E-4B84-832A-BA1B5136CC99}">
      <dgm:prSet custT="1"/>
      <dgm:spPr/>
      <dgm:t>
        <a:bodyPr/>
        <a:lstStyle/>
        <a:p>
          <a:r>
            <a:rPr lang="en-GB" sz="2000"/>
            <a:t>Better awareness about cybersecurity and online scams.</a:t>
          </a:r>
          <a:endParaRPr lang="en-US" sz="2000"/>
        </a:p>
      </dgm:t>
    </dgm:pt>
    <dgm:pt modelId="{68550C02-99E6-4901-8212-7E19C9FF435D}" type="parTrans" cxnId="{3EACCDC3-6561-4DE5-8E12-31D405FF02D0}">
      <dgm:prSet/>
      <dgm:spPr/>
      <dgm:t>
        <a:bodyPr/>
        <a:lstStyle/>
        <a:p>
          <a:endParaRPr lang="en-US"/>
        </a:p>
      </dgm:t>
    </dgm:pt>
    <dgm:pt modelId="{D495AB31-FC0B-43E3-AA61-FA5ADA99028D}" type="sibTrans" cxnId="{3EACCDC3-6561-4DE5-8E12-31D405FF02D0}">
      <dgm:prSet/>
      <dgm:spPr/>
      <dgm:t>
        <a:bodyPr/>
        <a:lstStyle/>
        <a:p>
          <a:endParaRPr lang="en-US"/>
        </a:p>
      </dgm:t>
    </dgm:pt>
    <dgm:pt modelId="{F6286361-8CA6-44A3-B02A-E1CA99C5E417}">
      <dgm:prSet custT="1"/>
      <dgm:spPr/>
      <dgm:t>
        <a:bodyPr/>
        <a:lstStyle/>
        <a:p>
          <a:r>
            <a:rPr lang="en-GB" sz="2000"/>
            <a:t>Greater independence in performing online tasks such as paying bills or accessing services.</a:t>
          </a:r>
          <a:endParaRPr lang="en-US" sz="2000"/>
        </a:p>
      </dgm:t>
    </dgm:pt>
    <dgm:pt modelId="{4C680C73-8A8F-4A2B-AE2B-16D8715A8346}" type="parTrans" cxnId="{3AF3D5FC-D285-4367-817E-973A45098D17}">
      <dgm:prSet/>
      <dgm:spPr/>
      <dgm:t>
        <a:bodyPr/>
        <a:lstStyle/>
        <a:p>
          <a:endParaRPr lang="en-US"/>
        </a:p>
      </dgm:t>
    </dgm:pt>
    <dgm:pt modelId="{D2FB3F78-B4D1-4C6A-A461-0516180BF657}" type="sibTrans" cxnId="{3AF3D5FC-D285-4367-817E-973A45098D17}">
      <dgm:prSet/>
      <dgm:spPr/>
      <dgm:t>
        <a:bodyPr/>
        <a:lstStyle/>
        <a:p>
          <a:endParaRPr lang="en-US"/>
        </a:p>
      </dgm:t>
    </dgm:pt>
    <dgm:pt modelId="{CF8CAF15-15C9-41DF-ABAB-E9929099989B}" type="pres">
      <dgm:prSet presAssocID="{5596E939-9A61-443E-B697-754E205F01E8}" presName="linear" presStyleCnt="0">
        <dgm:presLayoutVars>
          <dgm:animLvl val="lvl"/>
          <dgm:resizeHandles val="exact"/>
        </dgm:presLayoutVars>
      </dgm:prSet>
      <dgm:spPr/>
    </dgm:pt>
    <dgm:pt modelId="{C01260FF-4DEA-4E72-9681-3D9F3D42ECF1}" type="pres">
      <dgm:prSet presAssocID="{F1775FE8-9470-45F6-B5E0-2C73AB78E17A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1075AE08-BBF4-4004-8447-AE1180E73743}" type="pres">
      <dgm:prSet presAssocID="{DE55882D-D7FB-41E9-B82C-99CB17094BC1}" presName="spacer" presStyleCnt="0"/>
      <dgm:spPr/>
    </dgm:pt>
    <dgm:pt modelId="{EBB55CB3-4055-4E76-BAC2-BB83EBCCFD32}" type="pres">
      <dgm:prSet presAssocID="{8579D29A-C308-4329-9314-9EB75105BC9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ABB19D6-1AA6-4E74-89FE-43A7FB613AE0}" type="pres">
      <dgm:prSet presAssocID="{D8A0C8A1-B12C-4643-9839-1DA539F85455}" presName="spacer" presStyleCnt="0"/>
      <dgm:spPr/>
    </dgm:pt>
    <dgm:pt modelId="{4E2CF900-3698-4791-96D5-5B5804ED0C83}" type="pres">
      <dgm:prSet presAssocID="{6D7E8AAC-4C97-4EB9-8D0C-4FBFE855D8D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5286DB98-4817-4ED0-88B5-953C93E80449}" type="pres">
      <dgm:prSet presAssocID="{06443294-073B-4164-8DF4-487CFE36B6D7}" presName="spacer" presStyleCnt="0"/>
      <dgm:spPr/>
    </dgm:pt>
    <dgm:pt modelId="{D4917E8A-E3C8-4600-8B9F-14884A1696A4}" type="pres">
      <dgm:prSet presAssocID="{E846A3DD-5C24-49BA-83AF-36CC21B29ABB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93DEF73-CEDC-4FA3-B82B-D6E781125DD5}" type="pres">
      <dgm:prSet presAssocID="{2D568FB6-C498-4343-80D2-A195F0CAA47A}" presName="spacer" presStyleCnt="0"/>
      <dgm:spPr/>
    </dgm:pt>
    <dgm:pt modelId="{DFF2FB28-259B-4EBC-B3F6-ED77FCA9D16E}" type="pres">
      <dgm:prSet presAssocID="{F6780448-9B1E-4B84-832A-BA1B5136CC99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E945B1A-7B6E-43DF-A384-9EBCAE05B8D1}" type="pres">
      <dgm:prSet presAssocID="{D495AB31-FC0B-43E3-AA61-FA5ADA99028D}" presName="spacer" presStyleCnt="0"/>
      <dgm:spPr/>
    </dgm:pt>
    <dgm:pt modelId="{E436EFAB-5534-4767-887E-0B661AE6671E}" type="pres">
      <dgm:prSet presAssocID="{F6286361-8CA6-44A3-B02A-E1CA99C5E417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4C024206-7740-4CF7-B244-EDED854D3D37}" type="presOf" srcId="{E846A3DD-5C24-49BA-83AF-36CC21B29ABB}" destId="{D4917E8A-E3C8-4600-8B9F-14884A1696A4}" srcOrd="0" destOrd="0" presId="urn:microsoft.com/office/officeart/2005/8/layout/vList2"/>
    <dgm:cxn modelId="{77FF0C08-9935-4E50-B134-BA295E80BFA3}" type="presOf" srcId="{8579D29A-C308-4329-9314-9EB75105BC92}" destId="{EBB55CB3-4055-4E76-BAC2-BB83EBCCFD32}" srcOrd="0" destOrd="0" presId="urn:microsoft.com/office/officeart/2005/8/layout/vList2"/>
    <dgm:cxn modelId="{B1B58E3E-C287-4FB0-A3BB-8D77C5E75261}" type="presOf" srcId="{F6286361-8CA6-44A3-B02A-E1CA99C5E417}" destId="{E436EFAB-5534-4767-887E-0B661AE6671E}" srcOrd="0" destOrd="0" presId="urn:microsoft.com/office/officeart/2005/8/layout/vList2"/>
    <dgm:cxn modelId="{16C93262-DE17-46A7-AC26-43AEC0E2753D}" srcId="{5596E939-9A61-443E-B697-754E205F01E8}" destId="{F1775FE8-9470-45F6-B5E0-2C73AB78E17A}" srcOrd="0" destOrd="0" parTransId="{8B56583A-0D47-414F-AE14-EAC793573C6E}" sibTransId="{DE55882D-D7FB-41E9-B82C-99CB17094BC1}"/>
    <dgm:cxn modelId="{75598E43-AD00-4D5A-BA03-28CD396D7320}" type="presOf" srcId="{5596E939-9A61-443E-B697-754E205F01E8}" destId="{CF8CAF15-15C9-41DF-ABAB-E9929099989B}" srcOrd="0" destOrd="0" presId="urn:microsoft.com/office/officeart/2005/8/layout/vList2"/>
    <dgm:cxn modelId="{FEC3844E-A2BA-458E-A292-F7CBFE0C0AD3}" srcId="{5596E939-9A61-443E-B697-754E205F01E8}" destId="{8579D29A-C308-4329-9314-9EB75105BC92}" srcOrd="1" destOrd="0" parTransId="{2876335D-05BC-47D7-885E-618A22EE6DD5}" sibTransId="{D8A0C8A1-B12C-4643-9839-1DA539F85455}"/>
    <dgm:cxn modelId="{FCF75751-DD00-4812-80CC-9C20CE80A983}" srcId="{5596E939-9A61-443E-B697-754E205F01E8}" destId="{E846A3DD-5C24-49BA-83AF-36CC21B29ABB}" srcOrd="3" destOrd="0" parTransId="{DB483B7E-CC60-4451-A22C-BA38A8AF7695}" sibTransId="{2D568FB6-C498-4343-80D2-A195F0CAA47A}"/>
    <dgm:cxn modelId="{2BB12D84-2317-4419-A699-C1AAD483C12B}" srcId="{5596E939-9A61-443E-B697-754E205F01E8}" destId="{6D7E8AAC-4C97-4EB9-8D0C-4FBFE855D8D9}" srcOrd="2" destOrd="0" parTransId="{CA83E729-5A8E-4B87-B172-D38EA58D47C6}" sibTransId="{06443294-073B-4164-8DF4-487CFE36B6D7}"/>
    <dgm:cxn modelId="{020F5DAC-9C64-486A-BEF4-A12327346117}" type="presOf" srcId="{6D7E8AAC-4C97-4EB9-8D0C-4FBFE855D8D9}" destId="{4E2CF900-3698-4791-96D5-5B5804ED0C83}" srcOrd="0" destOrd="0" presId="urn:microsoft.com/office/officeart/2005/8/layout/vList2"/>
    <dgm:cxn modelId="{B2E3EEB9-D1FB-4A84-A4AC-644FAA00A0FD}" type="presOf" srcId="{F1775FE8-9470-45F6-B5E0-2C73AB78E17A}" destId="{C01260FF-4DEA-4E72-9681-3D9F3D42ECF1}" srcOrd="0" destOrd="0" presId="urn:microsoft.com/office/officeart/2005/8/layout/vList2"/>
    <dgm:cxn modelId="{3EACCDC3-6561-4DE5-8E12-31D405FF02D0}" srcId="{5596E939-9A61-443E-B697-754E205F01E8}" destId="{F6780448-9B1E-4B84-832A-BA1B5136CC99}" srcOrd="4" destOrd="0" parTransId="{68550C02-99E6-4901-8212-7E19C9FF435D}" sibTransId="{D495AB31-FC0B-43E3-AA61-FA5ADA99028D}"/>
    <dgm:cxn modelId="{A76122FA-1EFE-403A-99E0-772A173F97AF}" type="presOf" srcId="{F6780448-9B1E-4B84-832A-BA1B5136CC99}" destId="{DFF2FB28-259B-4EBC-B3F6-ED77FCA9D16E}" srcOrd="0" destOrd="0" presId="urn:microsoft.com/office/officeart/2005/8/layout/vList2"/>
    <dgm:cxn modelId="{3AF3D5FC-D285-4367-817E-973A45098D17}" srcId="{5596E939-9A61-443E-B697-754E205F01E8}" destId="{F6286361-8CA6-44A3-B02A-E1CA99C5E417}" srcOrd="5" destOrd="0" parTransId="{4C680C73-8A8F-4A2B-AE2B-16D8715A8346}" sibTransId="{D2FB3F78-B4D1-4C6A-A461-0516180BF657}"/>
    <dgm:cxn modelId="{3900A7FA-8012-4100-B99C-E0A46CCE6F8F}" type="presParOf" srcId="{CF8CAF15-15C9-41DF-ABAB-E9929099989B}" destId="{C01260FF-4DEA-4E72-9681-3D9F3D42ECF1}" srcOrd="0" destOrd="0" presId="urn:microsoft.com/office/officeart/2005/8/layout/vList2"/>
    <dgm:cxn modelId="{C3428D5B-39E8-4542-ACAD-B465ED34E81B}" type="presParOf" srcId="{CF8CAF15-15C9-41DF-ABAB-E9929099989B}" destId="{1075AE08-BBF4-4004-8447-AE1180E73743}" srcOrd="1" destOrd="0" presId="urn:microsoft.com/office/officeart/2005/8/layout/vList2"/>
    <dgm:cxn modelId="{E5056724-68C1-4C67-8B29-8982A08E2C89}" type="presParOf" srcId="{CF8CAF15-15C9-41DF-ABAB-E9929099989B}" destId="{EBB55CB3-4055-4E76-BAC2-BB83EBCCFD32}" srcOrd="2" destOrd="0" presId="urn:microsoft.com/office/officeart/2005/8/layout/vList2"/>
    <dgm:cxn modelId="{038DE9E7-2E5E-4119-99E9-F2D0352884BA}" type="presParOf" srcId="{CF8CAF15-15C9-41DF-ABAB-E9929099989B}" destId="{AABB19D6-1AA6-4E74-89FE-43A7FB613AE0}" srcOrd="3" destOrd="0" presId="urn:microsoft.com/office/officeart/2005/8/layout/vList2"/>
    <dgm:cxn modelId="{383EC759-2198-4151-B863-C14D9AF5F1BB}" type="presParOf" srcId="{CF8CAF15-15C9-41DF-ABAB-E9929099989B}" destId="{4E2CF900-3698-4791-96D5-5B5804ED0C83}" srcOrd="4" destOrd="0" presId="urn:microsoft.com/office/officeart/2005/8/layout/vList2"/>
    <dgm:cxn modelId="{B83EB747-5FA4-4551-94FF-E1022D698172}" type="presParOf" srcId="{CF8CAF15-15C9-41DF-ABAB-E9929099989B}" destId="{5286DB98-4817-4ED0-88B5-953C93E80449}" srcOrd="5" destOrd="0" presId="urn:microsoft.com/office/officeart/2005/8/layout/vList2"/>
    <dgm:cxn modelId="{380D8EF5-24F9-40CD-9EED-F6790E0BD4D0}" type="presParOf" srcId="{CF8CAF15-15C9-41DF-ABAB-E9929099989B}" destId="{D4917E8A-E3C8-4600-8B9F-14884A1696A4}" srcOrd="6" destOrd="0" presId="urn:microsoft.com/office/officeart/2005/8/layout/vList2"/>
    <dgm:cxn modelId="{A455961F-92EB-4F01-848D-479B0E8F2EF4}" type="presParOf" srcId="{CF8CAF15-15C9-41DF-ABAB-E9929099989B}" destId="{A93DEF73-CEDC-4FA3-B82B-D6E781125DD5}" srcOrd="7" destOrd="0" presId="urn:microsoft.com/office/officeart/2005/8/layout/vList2"/>
    <dgm:cxn modelId="{AD78493C-4B4C-437D-BB0F-1067A2316FA7}" type="presParOf" srcId="{CF8CAF15-15C9-41DF-ABAB-E9929099989B}" destId="{DFF2FB28-259B-4EBC-B3F6-ED77FCA9D16E}" srcOrd="8" destOrd="0" presId="urn:microsoft.com/office/officeart/2005/8/layout/vList2"/>
    <dgm:cxn modelId="{91F5B210-FC43-41D9-96CD-710DE9BF20B9}" type="presParOf" srcId="{CF8CAF15-15C9-41DF-ABAB-E9929099989B}" destId="{6E945B1A-7B6E-43DF-A384-9EBCAE05B8D1}" srcOrd="9" destOrd="0" presId="urn:microsoft.com/office/officeart/2005/8/layout/vList2"/>
    <dgm:cxn modelId="{E4DF1C2D-2120-4261-87F7-E4F125C1F8E5}" type="presParOf" srcId="{CF8CAF15-15C9-41DF-ABAB-E9929099989B}" destId="{E436EFAB-5534-4767-887E-0B661AE6671E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011F711-34D2-499B-B118-C1AD2C39E022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US"/>
        </a:p>
      </dgm:t>
    </dgm:pt>
    <dgm:pt modelId="{59D3B89D-7A91-4872-89C4-68801617F7A2}">
      <dgm:prSet/>
      <dgm:spPr/>
      <dgm:t>
        <a:bodyPr/>
        <a:lstStyle/>
        <a:p>
          <a:r>
            <a:rPr lang="en-GB"/>
            <a:t>Oh, S. S., Kim, K.‑A., Kim, M., Oh, J., Chu, S. H., &amp; Choi, J. (2021). </a:t>
          </a:r>
          <a:r>
            <a:rPr lang="en-GB" i="1"/>
            <a:t>Measurement of digital literacy among older adults: Systematic review</a:t>
          </a:r>
          <a:r>
            <a:rPr lang="en-GB"/>
            <a:t>. </a:t>
          </a:r>
          <a:r>
            <a:rPr lang="en-GB" i="1"/>
            <a:t>Journal of Medical Internet Research, 23</a:t>
          </a:r>
          <a:r>
            <a:rPr lang="en-GB"/>
            <a:t>(2), e26145. </a:t>
          </a:r>
          <a:r>
            <a:rPr lang="en-GB" u="sng">
              <a:hlinkClick xmlns:r="http://schemas.openxmlformats.org/officeDocument/2006/relationships" r:id="rId1"/>
            </a:rPr>
            <a:t>https://doi.org/10.2196/26145</a:t>
          </a:r>
          <a:r>
            <a:rPr lang="en-GB"/>
            <a:t> </a:t>
          </a:r>
          <a:endParaRPr lang="en-US"/>
        </a:p>
      </dgm:t>
    </dgm:pt>
    <dgm:pt modelId="{5D914CE1-41A4-4670-8918-1F04414D01B2}" type="parTrans" cxnId="{75499AF0-9469-4E12-9A7B-AB5810A332F4}">
      <dgm:prSet/>
      <dgm:spPr/>
      <dgm:t>
        <a:bodyPr/>
        <a:lstStyle/>
        <a:p>
          <a:endParaRPr lang="en-US"/>
        </a:p>
      </dgm:t>
    </dgm:pt>
    <dgm:pt modelId="{4AB11B2A-B57D-439A-8BD4-41A11CECC253}" type="sibTrans" cxnId="{75499AF0-9469-4E12-9A7B-AB5810A332F4}">
      <dgm:prSet/>
      <dgm:spPr/>
      <dgm:t>
        <a:bodyPr/>
        <a:lstStyle/>
        <a:p>
          <a:endParaRPr lang="en-US"/>
        </a:p>
      </dgm:t>
    </dgm:pt>
    <dgm:pt modelId="{E172CC7B-2A72-4128-90CD-CCB92D4880D2}">
      <dgm:prSet/>
      <dgm:spPr/>
      <dgm:t>
        <a:bodyPr/>
        <a:lstStyle/>
        <a:p>
          <a:r>
            <a:rPr lang="en-GB"/>
            <a:t>Moore, R. C., &amp; Hancock, J. T. (2022). </a:t>
          </a:r>
          <a:r>
            <a:rPr lang="en-GB" i="1"/>
            <a:t>A digital media literacy intervention for older adults improves resilience to fake news</a:t>
          </a:r>
          <a:r>
            <a:rPr lang="en-GB"/>
            <a:t>. </a:t>
          </a:r>
          <a:r>
            <a:rPr lang="en-GB" i="1"/>
            <a:t>Scientific Reports, 12</a:t>
          </a:r>
          <a:r>
            <a:rPr lang="en-GB"/>
            <a:t>, 6008. https://doi.org/10.1038/s41598‑022‑08437‑0 </a:t>
          </a:r>
          <a:endParaRPr lang="en-US"/>
        </a:p>
      </dgm:t>
    </dgm:pt>
    <dgm:pt modelId="{D0AB3C10-DEEE-436F-AC0F-FCED68AA2D99}" type="parTrans" cxnId="{B288C45D-D911-4CBD-8AEA-086E48AEDE5B}">
      <dgm:prSet/>
      <dgm:spPr/>
      <dgm:t>
        <a:bodyPr/>
        <a:lstStyle/>
        <a:p>
          <a:endParaRPr lang="en-US"/>
        </a:p>
      </dgm:t>
    </dgm:pt>
    <dgm:pt modelId="{E3DD3AC6-DBBC-4F89-802D-FA3F6DB27E3B}" type="sibTrans" cxnId="{B288C45D-D911-4CBD-8AEA-086E48AEDE5B}">
      <dgm:prSet/>
      <dgm:spPr/>
      <dgm:t>
        <a:bodyPr/>
        <a:lstStyle/>
        <a:p>
          <a:endParaRPr lang="en-US"/>
        </a:p>
      </dgm:t>
    </dgm:pt>
    <dgm:pt modelId="{AAE73406-AEE2-4E7E-9628-DBB28B439B0E}">
      <dgm:prSet/>
      <dgm:spPr/>
      <dgm:t>
        <a:bodyPr/>
        <a:lstStyle/>
        <a:p>
          <a:r>
            <a:rPr lang="en-GB"/>
            <a:t>Jena, B., &amp; Paltasingh, T. (2024). </a:t>
          </a:r>
          <a:r>
            <a:rPr lang="en-GB" i="1"/>
            <a:t>Digital literacy among older adults: A systematic review in the Indian context</a:t>
          </a:r>
          <a:r>
            <a:rPr lang="en-GB"/>
            <a:t>. </a:t>
          </a:r>
          <a:r>
            <a:rPr lang="en-GB" i="1"/>
            <a:t>Educational Gerontology, 51</a:t>
          </a:r>
          <a:r>
            <a:rPr lang="en-GB"/>
            <a:t>(4), 371–386. https://doi.org/10.1080/03601277.2024.2397428 </a:t>
          </a:r>
          <a:endParaRPr lang="en-US"/>
        </a:p>
      </dgm:t>
    </dgm:pt>
    <dgm:pt modelId="{3EBEE022-3A0D-44CD-805D-3ABB4D6CD7EB}" type="parTrans" cxnId="{0FC0C7E6-B431-49BE-9923-03AA5FDF0089}">
      <dgm:prSet/>
      <dgm:spPr/>
      <dgm:t>
        <a:bodyPr/>
        <a:lstStyle/>
        <a:p>
          <a:endParaRPr lang="en-US"/>
        </a:p>
      </dgm:t>
    </dgm:pt>
    <dgm:pt modelId="{E07CEB18-4839-45EF-A261-59C3058D6994}" type="sibTrans" cxnId="{0FC0C7E6-B431-49BE-9923-03AA5FDF0089}">
      <dgm:prSet/>
      <dgm:spPr/>
      <dgm:t>
        <a:bodyPr/>
        <a:lstStyle/>
        <a:p>
          <a:endParaRPr lang="en-US"/>
        </a:p>
      </dgm:t>
    </dgm:pt>
    <dgm:pt modelId="{8F5C4932-3268-48FE-A880-4420B6DDBD14}" type="pres">
      <dgm:prSet presAssocID="{9011F711-34D2-499B-B118-C1AD2C39E022}" presName="linear" presStyleCnt="0">
        <dgm:presLayoutVars>
          <dgm:animLvl val="lvl"/>
          <dgm:resizeHandles val="exact"/>
        </dgm:presLayoutVars>
      </dgm:prSet>
      <dgm:spPr/>
    </dgm:pt>
    <dgm:pt modelId="{F8338229-5C6A-40CF-8723-BEE36E2B2B3F}" type="pres">
      <dgm:prSet presAssocID="{59D3B89D-7A91-4872-89C4-68801617F7A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6566E40-4EBF-4374-9F0F-0B5C34B2E729}" type="pres">
      <dgm:prSet presAssocID="{4AB11B2A-B57D-439A-8BD4-41A11CECC253}" presName="spacer" presStyleCnt="0"/>
      <dgm:spPr/>
    </dgm:pt>
    <dgm:pt modelId="{7829DBA9-540C-43F0-A88E-5A07D13EE57F}" type="pres">
      <dgm:prSet presAssocID="{E172CC7B-2A72-4128-90CD-CCB92D4880D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3E6DBA5-64E5-4B45-800C-14BF62C36A52}" type="pres">
      <dgm:prSet presAssocID="{E3DD3AC6-DBBC-4F89-802D-FA3F6DB27E3B}" presName="spacer" presStyleCnt="0"/>
      <dgm:spPr/>
    </dgm:pt>
    <dgm:pt modelId="{A84B1F8A-EC85-43A3-9481-F91F2CD90331}" type="pres">
      <dgm:prSet presAssocID="{AAE73406-AEE2-4E7E-9628-DBB28B439B0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40BE533-8EAD-464F-97BD-8A2C03E4856C}" type="presOf" srcId="{AAE73406-AEE2-4E7E-9628-DBB28B439B0E}" destId="{A84B1F8A-EC85-43A3-9481-F91F2CD90331}" srcOrd="0" destOrd="0" presId="urn:microsoft.com/office/officeart/2005/8/layout/vList2"/>
    <dgm:cxn modelId="{B288C45D-D911-4CBD-8AEA-086E48AEDE5B}" srcId="{9011F711-34D2-499B-B118-C1AD2C39E022}" destId="{E172CC7B-2A72-4128-90CD-CCB92D4880D2}" srcOrd="1" destOrd="0" parTransId="{D0AB3C10-DEEE-436F-AC0F-FCED68AA2D99}" sibTransId="{E3DD3AC6-DBBC-4F89-802D-FA3F6DB27E3B}"/>
    <dgm:cxn modelId="{F6CAAC69-BFE5-44B6-A52F-3D4E5A82D536}" type="presOf" srcId="{9011F711-34D2-499B-B118-C1AD2C39E022}" destId="{8F5C4932-3268-48FE-A880-4420B6DDBD14}" srcOrd="0" destOrd="0" presId="urn:microsoft.com/office/officeart/2005/8/layout/vList2"/>
    <dgm:cxn modelId="{E0886676-39F5-47AA-A0FF-38F1175C25BC}" type="presOf" srcId="{59D3B89D-7A91-4872-89C4-68801617F7A2}" destId="{F8338229-5C6A-40CF-8723-BEE36E2B2B3F}" srcOrd="0" destOrd="0" presId="urn:microsoft.com/office/officeart/2005/8/layout/vList2"/>
    <dgm:cxn modelId="{3C238488-CE81-48F3-AF31-1F6C5F916E02}" type="presOf" srcId="{E172CC7B-2A72-4128-90CD-CCB92D4880D2}" destId="{7829DBA9-540C-43F0-A88E-5A07D13EE57F}" srcOrd="0" destOrd="0" presId="urn:microsoft.com/office/officeart/2005/8/layout/vList2"/>
    <dgm:cxn modelId="{0FC0C7E6-B431-49BE-9923-03AA5FDF0089}" srcId="{9011F711-34D2-499B-B118-C1AD2C39E022}" destId="{AAE73406-AEE2-4E7E-9628-DBB28B439B0E}" srcOrd="2" destOrd="0" parTransId="{3EBEE022-3A0D-44CD-805D-3ABB4D6CD7EB}" sibTransId="{E07CEB18-4839-45EF-A261-59C3058D6994}"/>
    <dgm:cxn modelId="{75499AF0-9469-4E12-9A7B-AB5810A332F4}" srcId="{9011F711-34D2-499B-B118-C1AD2C39E022}" destId="{59D3B89D-7A91-4872-89C4-68801617F7A2}" srcOrd="0" destOrd="0" parTransId="{5D914CE1-41A4-4670-8918-1F04414D01B2}" sibTransId="{4AB11B2A-B57D-439A-8BD4-41A11CECC253}"/>
    <dgm:cxn modelId="{D8DDF3A8-8472-45B3-B416-EF9A3406B823}" type="presParOf" srcId="{8F5C4932-3268-48FE-A880-4420B6DDBD14}" destId="{F8338229-5C6A-40CF-8723-BEE36E2B2B3F}" srcOrd="0" destOrd="0" presId="urn:microsoft.com/office/officeart/2005/8/layout/vList2"/>
    <dgm:cxn modelId="{051E6248-B1BF-444D-A01F-0E7193770B0D}" type="presParOf" srcId="{8F5C4932-3268-48FE-A880-4420B6DDBD14}" destId="{06566E40-4EBF-4374-9F0F-0B5C34B2E729}" srcOrd="1" destOrd="0" presId="urn:microsoft.com/office/officeart/2005/8/layout/vList2"/>
    <dgm:cxn modelId="{C0AF6EFF-6BB3-4B9D-8D38-45C7339D574C}" type="presParOf" srcId="{8F5C4932-3268-48FE-A880-4420B6DDBD14}" destId="{7829DBA9-540C-43F0-A88E-5A07D13EE57F}" srcOrd="2" destOrd="0" presId="urn:microsoft.com/office/officeart/2005/8/layout/vList2"/>
    <dgm:cxn modelId="{F2D32E29-CBCD-4B74-90EF-A4070D1E6C85}" type="presParOf" srcId="{8F5C4932-3268-48FE-A880-4420B6DDBD14}" destId="{B3E6DBA5-64E5-4B45-800C-14BF62C36A52}" srcOrd="3" destOrd="0" presId="urn:microsoft.com/office/officeart/2005/8/layout/vList2"/>
    <dgm:cxn modelId="{8249D6D4-BC05-433D-B1A0-81C73A3A7DD7}" type="presParOf" srcId="{8F5C4932-3268-48FE-A880-4420B6DDBD14}" destId="{A84B1F8A-EC85-43A3-9481-F91F2CD9033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95EBDDB-DB70-4A02-90DC-04A542B54807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US"/>
        </a:p>
      </dgm:t>
    </dgm:pt>
    <dgm:pt modelId="{13D5680B-DCA3-4C4B-A4DD-7DDDE07D388D}">
      <dgm:prSet/>
      <dgm:spPr/>
      <dgm:t>
        <a:bodyPr/>
        <a:lstStyle/>
        <a:p>
          <a:r>
            <a:rPr lang="en-GB"/>
            <a:t>Bhatia, R., &amp; Khan, F. (2024). </a:t>
          </a:r>
          <a:r>
            <a:rPr lang="en-GB" i="1"/>
            <a:t>Digital literacy among elderly people and usage of digital means</a:t>
          </a:r>
          <a:r>
            <a:rPr lang="en-GB"/>
            <a:t>. </a:t>
          </a:r>
          <a:r>
            <a:rPr lang="en-GB" i="1"/>
            <a:t>International Journal of Research and Analysis in Commerce and Management, 3</a:t>
          </a:r>
          <a:r>
            <a:rPr lang="en-GB"/>
            <a:t>(6), 1–14. </a:t>
          </a:r>
          <a:endParaRPr lang="en-US"/>
        </a:p>
      </dgm:t>
    </dgm:pt>
    <dgm:pt modelId="{CEBCC585-A20F-4D60-B96A-5BB4ACC9B4C6}" type="parTrans" cxnId="{CE1856A9-17F3-4FE3-AAFC-6301AF0933E7}">
      <dgm:prSet/>
      <dgm:spPr/>
      <dgm:t>
        <a:bodyPr/>
        <a:lstStyle/>
        <a:p>
          <a:endParaRPr lang="en-US"/>
        </a:p>
      </dgm:t>
    </dgm:pt>
    <dgm:pt modelId="{7C02345B-6D47-4C0B-B4CA-989E5636BD28}" type="sibTrans" cxnId="{CE1856A9-17F3-4FE3-AAFC-6301AF0933E7}">
      <dgm:prSet/>
      <dgm:spPr/>
      <dgm:t>
        <a:bodyPr/>
        <a:lstStyle/>
        <a:p>
          <a:endParaRPr lang="en-US"/>
        </a:p>
      </dgm:t>
    </dgm:pt>
    <dgm:pt modelId="{9B786507-6D3A-43DB-8024-53B68C4B05C5}">
      <dgm:prSet/>
      <dgm:spPr/>
      <dgm:t>
        <a:bodyPr/>
        <a:lstStyle/>
        <a:p>
          <a:r>
            <a:rPr lang="en-GB"/>
            <a:t>Yang, X., Hu, W., &amp; Deng, Y. (2025). </a:t>
          </a:r>
          <a:r>
            <a:rPr lang="en-GB" i="1"/>
            <a:t>Digital literacy impacts quality of life among older adults through hierarchical mediating mechanisms</a:t>
          </a:r>
          <a:r>
            <a:rPr lang="en-GB"/>
            <a:t>. </a:t>
          </a:r>
          <a:r>
            <a:rPr lang="en-GB" i="1"/>
            <a:t>Scientific Reports, 15</a:t>
          </a:r>
          <a:r>
            <a:rPr lang="en-GB"/>
            <a:t>, Article 19288. https://doi.org/10.1038/s41598‑025‑04472‑9 </a:t>
          </a:r>
          <a:endParaRPr lang="en-US"/>
        </a:p>
      </dgm:t>
    </dgm:pt>
    <dgm:pt modelId="{6CDB38AB-64E2-441D-A275-9E6481D938B0}" type="parTrans" cxnId="{A8FDCD32-9E8E-4BE5-B1E8-84311D2D2247}">
      <dgm:prSet/>
      <dgm:spPr/>
      <dgm:t>
        <a:bodyPr/>
        <a:lstStyle/>
        <a:p>
          <a:endParaRPr lang="en-US"/>
        </a:p>
      </dgm:t>
    </dgm:pt>
    <dgm:pt modelId="{0B8DFCAA-993D-4C0A-8D43-33862B2C570A}" type="sibTrans" cxnId="{A8FDCD32-9E8E-4BE5-B1E8-84311D2D2247}">
      <dgm:prSet/>
      <dgm:spPr/>
      <dgm:t>
        <a:bodyPr/>
        <a:lstStyle/>
        <a:p>
          <a:endParaRPr lang="en-US"/>
        </a:p>
      </dgm:t>
    </dgm:pt>
    <dgm:pt modelId="{341B3097-2A1D-4BAE-95C9-08AE1DF9A37D}">
      <dgm:prSet/>
      <dgm:spPr/>
      <dgm:t>
        <a:bodyPr/>
        <a:lstStyle/>
        <a:p>
          <a:r>
            <a:rPr lang="en-GB"/>
            <a:t>Shi, Z., Du, X., Li, J., Hou, R., Sun, J., &amp; Marohabutr, T. (2024). </a:t>
          </a:r>
          <a:r>
            <a:rPr lang="en-GB" i="1"/>
            <a:t>Factors influencing digital health literacy among older adults: A scoping review</a:t>
          </a:r>
          <a:r>
            <a:rPr lang="en-GB"/>
            <a:t>. </a:t>
          </a:r>
          <a:r>
            <a:rPr lang="en-GB" i="1"/>
            <a:t>Frontiers in Public Health, 12</a:t>
          </a:r>
          <a:r>
            <a:rPr lang="en-GB"/>
            <a:t>, 1447747. </a:t>
          </a:r>
          <a:endParaRPr lang="en-US"/>
        </a:p>
      </dgm:t>
    </dgm:pt>
    <dgm:pt modelId="{5C5457A1-DF2E-45D0-8ADB-84AD1C987DCB}" type="parTrans" cxnId="{1C766AA3-0028-480E-828F-B0628E58F12C}">
      <dgm:prSet/>
      <dgm:spPr/>
      <dgm:t>
        <a:bodyPr/>
        <a:lstStyle/>
        <a:p>
          <a:endParaRPr lang="en-US"/>
        </a:p>
      </dgm:t>
    </dgm:pt>
    <dgm:pt modelId="{7160F07C-03D7-4AF8-81FB-0C59552E3394}" type="sibTrans" cxnId="{1C766AA3-0028-480E-828F-B0628E58F12C}">
      <dgm:prSet/>
      <dgm:spPr/>
      <dgm:t>
        <a:bodyPr/>
        <a:lstStyle/>
        <a:p>
          <a:endParaRPr lang="en-US"/>
        </a:p>
      </dgm:t>
    </dgm:pt>
    <dgm:pt modelId="{FE992EEF-BEE1-4F52-A058-45AB670470A8}" type="pres">
      <dgm:prSet presAssocID="{B95EBDDB-DB70-4A02-90DC-04A542B54807}" presName="linear" presStyleCnt="0">
        <dgm:presLayoutVars>
          <dgm:animLvl val="lvl"/>
          <dgm:resizeHandles val="exact"/>
        </dgm:presLayoutVars>
      </dgm:prSet>
      <dgm:spPr/>
    </dgm:pt>
    <dgm:pt modelId="{60FEE87A-7381-4C63-8800-15326C869DC1}" type="pres">
      <dgm:prSet presAssocID="{13D5680B-DCA3-4C4B-A4DD-7DDDE07D388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C27AF2E-426A-468D-A293-3646436EC016}" type="pres">
      <dgm:prSet presAssocID="{7C02345B-6D47-4C0B-B4CA-989E5636BD28}" presName="spacer" presStyleCnt="0"/>
      <dgm:spPr/>
    </dgm:pt>
    <dgm:pt modelId="{3EBB6C59-A2D9-452B-AF37-9BF7828823E1}" type="pres">
      <dgm:prSet presAssocID="{9B786507-6D3A-43DB-8024-53B68C4B05C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9B45FB6-885B-47DD-9617-9F442C196F63}" type="pres">
      <dgm:prSet presAssocID="{0B8DFCAA-993D-4C0A-8D43-33862B2C570A}" presName="spacer" presStyleCnt="0"/>
      <dgm:spPr/>
    </dgm:pt>
    <dgm:pt modelId="{6338B1FD-E70B-471F-BDDF-0460C1FD802A}" type="pres">
      <dgm:prSet presAssocID="{341B3097-2A1D-4BAE-95C9-08AE1DF9A37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8FDCD32-9E8E-4BE5-B1E8-84311D2D2247}" srcId="{B95EBDDB-DB70-4A02-90DC-04A542B54807}" destId="{9B786507-6D3A-43DB-8024-53B68C4B05C5}" srcOrd="1" destOrd="0" parTransId="{6CDB38AB-64E2-441D-A275-9E6481D938B0}" sibTransId="{0B8DFCAA-993D-4C0A-8D43-33862B2C570A}"/>
    <dgm:cxn modelId="{0670A360-EDCE-417D-997E-611DFBAF43F3}" type="presOf" srcId="{9B786507-6D3A-43DB-8024-53B68C4B05C5}" destId="{3EBB6C59-A2D9-452B-AF37-9BF7828823E1}" srcOrd="0" destOrd="0" presId="urn:microsoft.com/office/officeart/2005/8/layout/vList2"/>
    <dgm:cxn modelId="{BECB0F47-E3F5-46E6-8567-D0ED783421F9}" type="presOf" srcId="{13D5680B-DCA3-4C4B-A4DD-7DDDE07D388D}" destId="{60FEE87A-7381-4C63-8800-15326C869DC1}" srcOrd="0" destOrd="0" presId="urn:microsoft.com/office/officeart/2005/8/layout/vList2"/>
    <dgm:cxn modelId="{A5B83B95-3258-4F9D-970C-C5B004347B83}" type="presOf" srcId="{341B3097-2A1D-4BAE-95C9-08AE1DF9A37D}" destId="{6338B1FD-E70B-471F-BDDF-0460C1FD802A}" srcOrd="0" destOrd="0" presId="urn:microsoft.com/office/officeart/2005/8/layout/vList2"/>
    <dgm:cxn modelId="{1C766AA3-0028-480E-828F-B0628E58F12C}" srcId="{B95EBDDB-DB70-4A02-90DC-04A542B54807}" destId="{341B3097-2A1D-4BAE-95C9-08AE1DF9A37D}" srcOrd="2" destOrd="0" parTransId="{5C5457A1-DF2E-45D0-8ADB-84AD1C987DCB}" sibTransId="{7160F07C-03D7-4AF8-81FB-0C59552E3394}"/>
    <dgm:cxn modelId="{CE1856A9-17F3-4FE3-AAFC-6301AF0933E7}" srcId="{B95EBDDB-DB70-4A02-90DC-04A542B54807}" destId="{13D5680B-DCA3-4C4B-A4DD-7DDDE07D388D}" srcOrd="0" destOrd="0" parTransId="{CEBCC585-A20F-4D60-B96A-5BB4ACC9B4C6}" sibTransId="{7C02345B-6D47-4C0B-B4CA-989E5636BD28}"/>
    <dgm:cxn modelId="{925B99BC-72A5-4C9F-BF00-B64F41678B40}" type="presOf" srcId="{B95EBDDB-DB70-4A02-90DC-04A542B54807}" destId="{FE992EEF-BEE1-4F52-A058-45AB670470A8}" srcOrd="0" destOrd="0" presId="urn:microsoft.com/office/officeart/2005/8/layout/vList2"/>
    <dgm:cxn modelId="{E64BB0DB-2E8B-4B41-BD98-5E1C6059BBDB}" type="presParOf" srcId="{FE992EEF-BEE1-4F52-A058-45AB670470A8}" destId="{60FEE87A-7381-4C63-8800-15326C869DC1}" srcOrd="0" destOrd="0" presId="urn:microsoft.com/office/officeart/2005/8/layout/vList2"/>
    <dgm:cxn modelId="{DAA8F660-7816-40E9-9D01-7795A246BEC0}" type="presParOf" srcId="{FE992EEF-BEE1-4F52-A058-45AB670470A8}" destId="{AC27AF2E-426A-468D-A293-3646436EC016}" srcOrd="1" destOrd="0" presId="urn:microsoft.com/office/officeart/2005/8/layout/vList2"/>
    <dgm:cxn modelId="{DB2AD17F-C96C-4D3C-BCDB-4AAFEE1EECEB}" type="presParOf" srcId="{FE992EEF-BEE1-4F52-A058-45AB670470A8}" destId="{3EBB6C59-A2D9-452B-AF37-9BF7828823E1}" srcOrd="2" destOrd="0" presId="urn:microsoft.com/office/officeart/2005/8/layout/vList2"/>
    <dgm:cxn modelId="{8A422E38-CBF8-4568-8264-ABD1388A6F5F}" type="presParOf" srcId="{FE992EEF-BEE1-4F52-A058-45AB670470A8}" destId="{89B45FB6-885B-47DD-9617-9F442C196F63}" srcOrd="3" destOrd="0" presId="urn:microsoft.com/office/officeart/2005/8/layout/vList2"/>
    <dgm:cxn modelId="{396142DB-D717-47E7-96E1-4F617BB32471}" type="presParOf" srcId="{FE992EEF-BEE1-4F52-A058-45AB670470A8}" destId="{6338B1FD-E70B-471F-BDDF-0460C1FD802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6EABD4-A8E4-48D9-BB62-0AE50A7C17E4}">
      <dsp:nvSpPr>
        <dsp:cNvPr id="0" name=""/>
        <dsp:cNvSpPr/>
      </dsp:nvSpPr>
      <dsp:spPr>
        <a:xfrm>
          <a:off x="0" y="90490"/>
          <a:ext cx="6798539" cy="9348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In the modern digital era, many essential services such as banking, healthcare, communication, transportation, and government services are increasingly delivered through digital platforms.</a:t>
          </a:r>
          <a:endParaRPr lang="en-US" sz="1700" kern="1200" dirty="0"/>
        </a:p>
      </dsp:txBody>
      <dsp:txXfrm>
        <a:off x="45635" y="136125"/>
        <a:ext cx="6707269" cy="843560"/>
      </dsp:txXfrm>
    </dsp:sp>
    <dsp:sp modelId="{47703862-7889-45E6-A01B-E0D1CF670D0A}">
      <dsp:nvSpPr>
        <dsp:cNvPr id="0" name=""/>
        <dsp:cNvSpPr/>
      </dsp:nvSpPr>
      <dsp:spPr>
        <a:xfrm>
          <a:off x="0" y="1074280"/>
          <a:ext cx="6798539" cy="9348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/>
            <a:t>Senior citizens often struggle to adapt to digital technologies due to limited digital literacy</a:t>
          </a:r>
          <a:r>
            <a:rPr lang="en-IN" sz="1700" kern="1200" dirty="0"/>
            <a:t>.</a:t>
          </a:r>
          <a:endParaRPr lang="en-US" sz="1700" kern="1200" dirty="0"/>
        </a:p>
      </dsp:txBody>
      <dsp:txXfrm>
        <a:off x="45635" y="1119915"/>
        <a:ext cx="6707269" cy="843560"/>
      </dsp:txXfrm>
    </dsp:sp>
    <dsp:sp modelId="{79F719D5-52F7-4186-9348-4BA4E90106D5}">
      <dsp:nvSpPr>
        <dsp:cNvPr id="0" name=""/>
        <dsp:cNvSpPr/>
      </dsp:nvSpPr>
      <dsp:spPr>
        <a:xfrm>
          <a:off x="0" y="2058070"/>
          <a:ext cx="6798539" cy="9348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Digital literacy refers to the ability to </a:t>
          </a:r>
          <a:r>
            <a:rPr lang="en-IN" sz="1700" b="1" kern="1200"/>
            <a:t>access, understand, evaluate, and effectively use digital tools and online information</a:t>
          </a:r>
          <a:r>
            <a:rPr lang="en-IN" sz="1700" kern="1200"/>
            <a:t>.</a:t>
          </a:r>
          <a:endParaRPr lang="en-US" sz="1700" kern="1200"/>
        </a:p>
      </dsp:txBody>
      <dsp:txXfrm>
        <a:off x="45635" y="2103705"/>
        <a:ext cx="6707269" cy="843560"/>
      </dsp:txXfrm>
    </dsp:sp>
    <dsp:sp modelId="{D1800110-5B5F-42A8-8E07-F63BF5A02160}">
      <dsp:nvSpPr>
        <dsp:cNvPr id="0" name=""/>
        <dsp:cNvSpPr/>
      </dsp:nvSpPr>
      <dsp:spPr>
        <a:xfrm>
          <a:off x="0" y="3041860"/>
          <a:ext cx="6798539" cy="9348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Tasks such as online banking, digital payments, accessing healthcare appointments, or communicating through messaging platforms may seem complicated and intimidating.</a:t>
          </a:r>
          <a:endParaRPr lang="en-US" sz="1700" kern="1200"/>
        </a:p>
      </dsp:txBody>
      <dsp:txXfrm>
        <a:off x="45635" y="3087495"/>
        <a:ext cx="6707269" cy="843560"/>
      </dsp:txXfrm>
    </dsp:sp>
    <dsp:sp modelId="{25631EAF-4B38-4236-9D13-7F0688DE02B1}">
      <dsp:nvSpPr>
        <dsp:cNvPr id="0" name=""/>
        <dsp:cNvSpPr/>
      </dsp:nvSpPr>
      <dsp:spPr>
        <a:xfrm>
          <a:off x="0" y="4025650"/>
          <a:ext cx="6798539" cy="9348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Senior citizens may face difficulties accessing essential services, staying connected with family members, or managing personal financial transactions.</a:t>
          </a:r>
          <a:endParaRPr lang="en-US" sz="1700" kern="1200"/>
        </a:p>
      </dsp:txBody>
      <dsp:txXfrm>
        <a:off x="45635" y="4071285"/>
        <a:ext cx="6707269" cy="8435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28C0EE-4D79-4B58-A531-90511D1DDC0D}">
      <dsp:nvSpPr>
        <dsp:cNvPr id="0" name=""/>
        <dsp:cNvSpPr/>
      </dsp:nvSpPr>
      <dsp:spPr>
        <a:xfrm>
          <a:off x="0" y="1297"/>
          <a:ext cx="6798539" cy="545180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1. Multiple Stakeholders</a:t>
          </a:r>
          <a:endParaRPr lang="en-US" sz="1600" kern="1200"/>
        </a:p>
      </dsp:txBody>
      <dsp:txXfrm>
        <a:off x="26613" y="27910"/>
        <a:ext cx="6745313" cy="491954"/>
      </dsp:txXfrm>
    </dsp:sp>
    <dsp:sp modelId="{B6567AE5-99C8-4BDA-8C0E-D78A85C68517}">
      <dsp:nvSpPr>
        <dsp:cNvPr id="0" name=""/>
        <dsp:cNvSpPr/>
      </dsp:nvSpPr>
      <dsp:spPr>
        <a:xfrm>
          <a:off x="0" y="558754"/>
          <a:ext cx="6798539" cy="5451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The issue involves several groups with different roles and interests, including:</a:t>
          </a:r>
          <a:endParaRPr lang="en-US" sz="1600" kern="1200"/>
        </a:p>
      </dsp:txBody>
      <dsp:txXfrm>
        <a:off x="26613" y="585367"/>
        <a:ext cx="6745313" cy="491954"/>
      </dsp:txXfrm>
    </dsp:sp>
    <dsp:sp modelId="{344EE67B-0340-446B-88AE-68EBD6180FFC}">
      <dsp:nvSpPr>
        <dsp:cNvPr id="0" name=""/>
        <dsp:cNvSpPr/>
      </dsp:nvSpPr>
      <dsp:spPr>
        <a:xfrm>
          <a:off x="0" y="1116210"/>
          <a:ext cx="6798539" cy="5451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Senior citizens</a:t>
          </a:r>
          <a:endParaRPr lang="en-US" sz="1600" kern="1200"/>
        </a:p>
      </dsp:txBody>
      <dsp:txXfrm>
        <a:off x="26613" y="1142823"/>
        <a:ext cx="6745313" cy="491954"/>
      </dsp:txXfrm>
    </dsp:sp>
    <dsp:sp modelId="{8C955CB0-8822-4D89-A580-9D34C15EEB15}">
      <dsp:nvSpPr>
        <dsp:cNvPr id="0" name=""/>
        <dsp:cNvSpPr/>
      </dsp:nvSpPr>
      <dsp:spPr>
        <a:xfrm>
          <a:off x="0" y="1673667"/>
          <a:ext cx="6798539" cy="5451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Family members and caregivers</a:t>
          </a:r>
          <a:endParaRPr lang="en-US" sz="1600" kern="1200"/>
        </a:p>
      </dsp:txBody>
      <dsp:txXfrm>
        <a:off x="26613" y="1700280"/>
        <a:ext cx="6745313" cy="491954"/>
      </dsp:txXfrm>
    </dsp:sp>
    <dsp:sp modelId="{795FFE12-9AEB-4529-85E8-1BE46E34E534}">
      <dsp:nvSpPr>
        <dsp:cNvPr id="0" name=""/>
        <dsp:cNvSpPr/>
      </dsp:nvSpPr>
      <dsp:spPr>
        <a:xfrm>
          <a:off x="0" y="2231123"/>
          <a:ext cx="6798539" cy="5451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Technology developers</a:t>
          </a:r>
          <a:endParaRPr lang="en-US" sz="1600" kern="1200"/>
        </a:p>
      </dsp:txBody>
      <dsp:txXfrm>
        <a:off x="26613" y="2257736"/>
        <a:ext cx="6745313" cy="491954"/>
      </dsp:txXfrm>
    </dsp:sp>
    <dsp:sp modelId="{CD2183AD-C0A1-40A1-B5B0-90CEBCEC2FBD}">
      <dsp:nvSpPr>
        <dsp:cNvPr id="0" name=""/>
        <dsp:cNvSpPr/>
      </dsp:nvSpPr>
      <dsp:spPr>
        <a:xfrm>
          <a:off x="0" y="2788580"/>
          <a:ext cx="6798539" cy="5451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Government agencies</a:t>
          </a:r>
          <a:endParaRPr lang="en-US" sz="1600" kern="1200"/>
        </a:p>
      </dsp:txBody>
      <dsp:txXfrm>
        <a:off x="26613" y="2815193"/>
        <a:ext cx="6745313" cy="491954"/>
      </dsp:txXfrm>
    </dsp:sp>
    <dsp:sp modelId="{B83CC77D-2F45-4888-888F-E1560B718B20}">
      <dsp:nvSpPr>
        <dsp:cNvPr id="0" name=""/>
        <dsp:cNvSpPr/>
      </dsp:nvSpPr>
      <dsp:spPr>
        <a:xfrm>
          <a:off x="0" y="3346037"/>
          <a:ext cx="6798539" cy="5451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Community organizations</a:t>
          </a:r>
          <a:endParaRPr lang="en-US" sz="1600" kern="1200"/>
        </a:p>
      </dsp:txBody>
      <dsp:txXfrm>
        <a:off x="26613" y="3372650"/>
        <a:ext cx="6745313" cy="491954"/>
      </dsp:txXfrm>
    </dsp:sp>
    <dsp:sp modelId="{34FEF62C-CA93-4880-935F-C6E0E5750A18}">
      <dsp:nvSpPr>
        <dsp:cNvPr id="0" name=""/>
        <dsp:cNvSpPr/>
      </dsp:nvSpPr>
      <dsp:spPr>
        <a:xfrm>
          <a:off x="0" y="3903493"/>
          <a:ext cx="6798539" cy="5451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Financial institutions</a:t>
          </a:r>
          <a:endParaRPr lang="en-US" sz="1600" kern="1200"/>
        </a:p>
      </dsp:txBody>
      <dsp:txXfrm>
        <a:off x="26613" y="3930106"/>
        <a:ext cx="6745313" cy="491954"/>
      </dsp:txXfrm>
    </dsp:sp>
    <dsp:sp modelId="{C4B93B27-726A-4FA6-9DF5-77F8DFCBB114}">
      <dsp:nvSpPr>
        <dsp:cNvPr id="0" name=""/>
        <dsp:cNvSpPr/>
      </dsp:nvSpPr>
      <dsp:spPr>
        <a:xfrm>
          <a:off x="0" y="4460950"/>
          <a:ext cx="6798539" cy="5451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Each group has different perspectives and priorities, making it challenging to design a single solution that meets everyone’s needs.</a:t>
          </a:r>
          <a:endParaRPr lang="en-US" sz="1600" kern="1200"/>
        </a:p>
      </dsp:txBody>
      <dsp:txXfrm>
        <a:off x="26613" y="4487563"/>
        <a:ext cx="6745313" cy="4919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32185E-9F85-49B9-B9B4-7380819B7AB8}">
      <dsp:nvSpPr>
        <dsp:cNvPr id="0" name=""/>
        <dsp:cNvSpPr/>
      </dsp:nvSpPr>
      <dsp:spPr>
        <a:xfrm>
          <a:off x="0" y="1474"/>
          <a:ext cx="5095090" cy="805557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2. Diversity Among Senior Citizens</a:t>
          </a:r>
          <a:endParaRPr lang="en-US" sz="1800" kern="1200"/>
        </a:p>
      </dsp:txBody>
      <dsp:txXfrm>
        <a:off x="39324" y="40798"/>
        <a:ext cx="5016442" cy="726909"/>
      </dsp:txXfrm>
    </dsp:sp>
    <dsp:sp modelId="{33BCA249-2C1D-40BD-82B5-2CAC7FF86BF8}">
      <dsp:nvSpPr>
        <dsp:cNvPr id="0" name=""/>
        <dsp:cNvSpPr/>
      </dsp:nvSpPr>
      <dsp:spPr>
        <a:xfrm>
          <a:off x="0" y="818619"/>
          <a:ext cx="5095090" cy="805557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Senior citizens differ in terms of:</a:t>
          </a:r>
          <a:endParaRPr lang="en-US" sz="1800" kern="1200"/>
        </a:p>
      </dsp:txBody>
      <dsp:txXfrm>
        <a:off x="39324" y="857943"/>
        <a:ext cx="5016442" cy="726909"/>
      </dsp:txXfrm>
    </dsp:sp>
    <dsp:sp modelId="{13C10795-AF2F-43FB-A255-7E7D5111D024}">
      <dsp:nvSpPr>
        <dsp:cNvPr id="0" name=""/>
        <dsp:cNvSpPr/>
      </dsp:nvSpPr>
      <dsp:spPr>
        <a:xfrm>
          <a:off x="0" y="1635764"/>
          <a:ext cx="5095090" cy="805557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Education level</a:t>
          </a:r>
          <a:endParaRPr lang="en-US" sz="1800" kern="1200"/>
        </a:p>
      </dsp:txBody>
      <dsp:txXfrm>
        <a:off x="39324" y="1675088"/>
        <a:ext cx="5016442" cy="726909"/>
      </dsp:txXfrm>
    </dsp:sp>
    <dsp:sp modelId="{AFD04E1F-53B3-4553-BB3E-8FDFF49D1FC9}">
      <dsp:nvSpPr>
        <dsp:cNvPr id="0" name=""/>
        <dsp:cNvSpPr/>
      </dsp:nvSpPr>
      <dsp:spPr>
        <a:xfrm>
          <a:off x="0" y="2452909"/>
          <a:ext cx="5095090" cy="805557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Economic status</a:t>
          </a:r>
          <a:endParaRPr lang="en-US" sz="1800" kern="1200"/>
        </a:p>
      </dsp:txBody>
      <dsp:txXfrm>
        <a:off x="39324" y="2492233"/>
        <a:ext cx="5016442" cy="726909"/>
      </dsp:txXfrm>
    </dsp:sp>
    <dsp:sp modelId="{60E216D3-B651-4FCB-AC2E-528A695C4F22}">
      <dsp:nvSpPr>
        <dsp:cNvPr id="0" name=""/>
        <dsp:cNvSpPr/>
      </dsp:nvSpPr>
      <dsp:spPr>
        <a:xfrm>
          <a:off x="0" y="3270054"/>
          <a:ext cx="5095090" cy="805557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Technology exposure</a:t>
          </a:r>
          <a:endParaRPr lang="en-US" sz="1800" kern="1200"/>
        </a:p>
      </dsp:txBody>
      <dsp:txXfrm>
        <a:off x="39324" y="3309378"/>
        <a:ext cx="5016442" cy="726909"/>
      </dsp:txXfrm>
    </dsp:sp>
    <dsp:sp modelId="{119D783C-B969-44BD-8998-2EFD910F937F}">
      <dsp:nvSpPr>
        <dsp:cNvPr id="0" name=""/>
        <dsp:cNvSpPr/>
      </dsp:nvSpPr>
      <dsp:spPr>
        <a:xfrm>
          <a:off x="0" y="4087199"/>
          <a:ext cx="5095090" cy="805557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Health conditions</a:t>
          </a:r>
          <a:endParaRPr lang="en-US" sz="1800" kern="1200"/>
        </a:p>
      </dsp:txBody>
      <dsp:txXfrm>
        <a:off x="39324" y="4126523"/>
        <a:ext cx="5016442" cy="726909"/>
      </dsp:txXfrm>
    </dsp:sp>
    <dsp:sp modelId="{5A18AC2E-6975-40FD-9EAF-3B73F771E16C}">
      <dsp:nvSpPr>
        <dsp:cNvPr id="0" name=""/>
        <dsp:cNvSpPr/>
      </dsp:nvSpPr>
      <dsp:spPr>
        <a:xfrm>
          <a:off x="0" y="4904344"/>
          <a:ext cx="5095090" cy="805557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Some elderly individuals may have prior experience using computers, while others may have never interacted with digital technologies.</a:t>
          </a:r>
          <a:endParaRPr lang="en-US" sz="1800" kern="1200"/>
        </a:p>
      </dsp:txBody>
      <dsp:txXfrm>
        <a:off x="39324" y="4943668"/>
        <a:ext cx="5016442" cy="72690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CAEFDF-5631-4B2E-9358-3E936A509AF1}">
      <dsp:nvSpPr>
        <dsp:cNvPr id="0" name=""/>
        <dsp:cNvSpPr/>
      </dsp:nvSpPr>
      <dsp:spPr>
        <a:xfrm>
          <a:off x="0" y="1596"/>
          <a:ext cx="6798539" cy="740268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3. Rapid Technological Change</a:t>
          </a:r>
          <a:endParaRPr lang="en-US" sz="1600" kern="1200" dirty="0"/>
        </a:p>
      </dsp:txBody>
      <dsp:txXfrm>
        <a:off x="36137" y="37733"/>
        <a:ext cx="6726265" cy="667994"/>
      </dsp:txXfrm>
    </dsp:sp>
    <dsp:sp modelId="{AC587D1F-2FA5-4897-86B4-6613690530C3}">
      <dsp:nvSpPr>
        <dsp:cNvPr id="0" name=""/>
        <dsp:cNvSpPr/>
      </dsp:nvSpPr>
      <dsp:spPr>
        <a:xfrm>
          <a:off x="0" y="753803"/>
          <a:ext cx="6798539" cy="74026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Digital technologies evolve quickly. Software updates, new applications, and changing interfaces can make it difficult for elderly individuals to keep up with technological developments.</a:t>
          </a:r>
          <a:endParaRPr lang="en-US" sz="1600" kern="1200"/>
        </a:p>
      </dsp:txBody>
      <dsp:txXfrm>
        <a:off x="36137" y="789940"/>
        <a:ext cx="6726265" cy="667994"/>
      </dsp:txXfrm>
    </dsp:sp>
    <dsp:sp modelId="{1B5837EB-B968-483F-823F-873BA8357F5E}">
      <dsp:nvSpPr>
        <dsp:cNvPr id="0" name=""/>
        <dsp:cNvSpPr/>
      </dsp:nvSpPr>
      <dsp:spPr>
        <a:xfrm>
          <a:off x="0" y="1506011"/>
          <a:ext cx="6798539" cy="740268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4. Physical and Cognitive Limitations</a:t>
          </a:r>
          <a:endParaRPr lang="en-US" sz="1600" kern="1200"/>
        </a:p>
      </dsp:txBody>
      <dsp:txXfrm>
        <a:off x="36137" y="1542148"/>
        <a:ext cx="6726265" cy="667994"/>
      </dsp:txXfrm>
    </dsp:sp>
    <dsp:sp modelId="{18D8C0C4-AD55-47D2-B1E4-9A258F5ACD20}">
      <dsp:nvSpPr>
        <dsp:cNvPr id="0" name=""/>
        <dsp:cNvSpPr/>
      </dsp:nvSpPr>
      <dsp:spPr>
        <a:xfrm>
          <a:off x="0" y="2258218"/>
          <a:ext cx="6798539" cy="74026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Age-related issues such as poor eyesight, reduced motor skills, and memory challenges can make it difficult for senior citizens to use digital devices.</a:t>
          </a:r>
          <a:endParaRPr lang="en-US" sz="1600" kern="1200"/>
        </a:p>
      </dsp:txBody>
      <dsp:txXfrm>
        <a:off x="36137" y="2294355"/>
        <a:ext cx="6726265" cy="667994"/>
      </dsp:txXfrm>
    </dsp:sp>
    <dsp:sp modelId="{AEAD22C6-73CD-4122-973F-F6E5DFD12A86}">
      <dsp:nvSpPr>
        <dsp:cNvPr id="0" name=""/>
        <dsp:cNvSpPr/>
      </dsp:nvSpPr>
      <dsp:spPr>
        <a:xfrm>
          <a:off x="0" y="3010426"/>
          <a:ext cx="6798539" cy="740268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5. Psychological Barriers</a:t>
          </a:r>
          <a:endParaRPr lang="en-US" sz="1600" kern="1200"/>
        </a:p>
      </dsp:txBody>
      <dsp:txXfrm>
        <a:off x="36137" y="3046563"/>
        <a:ext cx="6726265" cy="667994"/>
      </dsp:txXfrm>
    </dsp:sp>
    <dsp:sp modelId="{FA597282-EE66-4065-9FB8-14FBC1F3A77C}">
      <dsp:nvSpPr>
        <dsp:cNvPr id="0" name=""/>
        <dsp:cNvSpPr/>
      </dsp:nvSpPr>
      <dsp:spPr>
        <a:xfrm>
          <a:off x="0" y="3762634"/>
          <a:ext cx="6798539" cy="74026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Many elderly individuals feel anxious or fearful when using digital devices due to concerns about making mistakes or becoming victims of online fraud.</a:t>
          </a:r>
          <a:endParaRPr lang="en-US" sz="1600" kern="1200"/>
        </a:p>
      </dsp:txBody>
      <dsp:txXfrm>
        <a:off x="36137" y="3798771"/>
        <a:ext cx="6726265" cy="667994"/>
      </dsp:txXfrm>
    </dsp:sp>
    <dsp:sp modelId="{76CFCCC9-4490-4BCC-B299-CBB7B4D2A435}">
      <dsp:nvSpPr>
        <dsp:cNvPr id="0" name=""/>
        <dsp:cNvSpPr/>
      </dsp:nvSpPr>
      <dsp:spPr>
        <a:xfrm>
          <a:off x="0" y="4514841"/>
          <a:ext cx="6798539" cy="740268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6. Accessibility and Infrastructure Issues</a:t>
          </a:r>
          <a:endParaRPr lang="en-US" sz="1600" kern="1200"/>
        </a:p>
      </dsp:txBody>
      <dsp:txXfrm>
        <a:off x="36137" y="4550978"/>
        <a:ext cx="6726265" cy="667994"/>
      </dsp:txXfrm>
    </dsp:sp>
    <dsp:sp modelId="{352B6060-A4C6-4898-856A-923E05C66E8A}">
      <dsp:nvSpPr>
        <dsp:cNvPr id="0" name=""/>
        <dsp:cNvSpPr/>
      </dsp:nvSpPr>
      <dsp:spPr>
        <a:xfrm>
          <a:off x="0" y="5267049"/>
          <a:ext cx="6798539" cy="74026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Limited internet connectivity, lack of digital devices, and insufficient training opportunities can further restrict digital learning among elderly populations.</a:t>
          </a:r>
          <a:endParaRPr lang="en-US" sz="1600" kern="1200"/>
        </a:p>
      </dsp:txBody>
      <dsp:txXfrm>
        <a:off x="36137" y="5303186"/>
        <a:ext cx="6726265" cy="66799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DB7B94-F577-4D6D-A215-340F5AF11DA9}">
      <dsp:nvSpPr>
        <dsp:cNvPr id="0" name=""/>
        <dsp:cNvSpPr/>
      </dsp:nvSpPr>
      <dsp:spPr>
        <a:xfrm>
          <a:off x="706516" y="2062"/>
          <a:ext cx="2844551" cy="17067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chemeClr val="tx1"/>
              </a:solidFill>
            </a:rPr>
            <a:t>A. Functional Requirements</a:t>
          </a:r>
          <a:endParaRPr lang="en-US" sz="2800" kern="1200" dirty="0">
            <a:solidFill>
              <a:schemeClr val="tx1"/>
            </a:solidFill>
          </a:endParaRPr>
        </a:p>
      </dsp:txBody>
      <dsp:txXfrm>
        <a:off x="706516" y="2062"/>
        <a:ext cx="2844551" cy="1706731"/>
      </dsp:txXfrm>
    </dsp:sp>
    <dsp:sp modelId="{69E6616C-9E7F-4FCF-BB34-C000D5E760B1}">
      <dsp:nvSpPr>
        <dsp:cNvPr id="0" name=""/>
        <dsp:cNvSpPr/>
      </dsp:nvSpPr>
      <dsp:spPr>
        <a:xfrm>
          <a:off x="3835524" y="2062"/>
          <a:ext cx="2844551" cy="1706731"/>
        </a:xfrm>
        <a:prstGeom prst="rect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User Profiles:</a:t>
          </a:r>
          <a:r>
            <a:rPr lang="en-US" sz="1800" kern="1200" dirty="0"/>
            <a:t> Ability for seniors to create simplified profiles with large-scale avatars and basic contact info.</a:t>
          </a:r>
        </a:p>
      </dsp:txBody>
      <dsp:txXfrm>
        <a:off x="3835524" y="2062"/>
        <a:ext cx="2844551" cy="1706731"/>
      </dsp:txXfrm>
    </dsp:sp>
    <dsp:sp modelId="{83583CF2-AADA-4459-957F-43271F87B8AB}">
      <dsp:nvSpPr>
        <dsp:cNvPr id="0" name=""/>
        <dsp:cNvSpPr/>
      </dsp:nvSpPr>
      <dsp:spPr>
        <a:xfrm>
          <a:off x="6964531" y="2062"/>
          <a:ext cx="2844551" cy="1706731"/>
        </a:xfrm>
        <a:prstGeom prst="rect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Modular Learning Path:</a:t>
          </a:r>
          <a:r>
            <a:rPr lang="en-US" sz="1800" kern="1200" dirty="0"/>
            <a:t> A structured curriculum including: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Basics:</a:t>
          </a:r>
          <a:r>
            <a:rPr lang="en-US" sz="1400" kern="1200" dirty="0"/>
            <a:t> Turning on devices, Wi-Fi connectivity, and gesture control (tap, swipe).</a:t>
          </a:r>
        </a:p>
      </dsp:txBody>
      <dsp:txXfrm>
        <a:off x="6964531" y="2062"/>
        <a:ext cx="2844551" cy="1706731"/>
      </dsp:txXfrm>
    </dsp:sp>
    <dsp:sp modelId="{B7E9D1FF-9B0C-414A-A4C4-E074D414E56C}">
      <dsp:nvSpPr>
        <dsp:cNvPr id="0" name=""/>
        <dsp:cNvSpPr/>
      </dsp:nvSpPr>
      <dsp:spPr>
        <a:xfrm>
          <a:off x="706516" y="1993248"/>
          <a:ext cx="2844551" cy="1706731"/>
        </a:xfrm>
        <a:prstGeom prst="rect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Essential Services:</a:t>
          </a:r>
          <a:r>
            <a:rPr lang="en-US" sz="1900" kern="1200" dirty="0"/>
            <a:t> Online banking basics, booking medical appointments, and using government portals.</a:t>
          </a:r>
          <a:endParaRPr lang="en-IN" sz="1900" kern="1200" dirty="0"/>
        </a:p>
      </dsp:txBody>
      <dsp:txXfrm>
        <a:off x="706516" y="1993248"/>
        <a:ext cx="2844551" cy="1706731"/>
      </dsp:txXfrm>
    </dsp:sp>
    <dsp:sp modelId="{6991B0C2-1B89-4749-8088-40D4D717E93C}">
      <dsp:nvSpPr>
        <dsp:cNvPr id="0" name=""/>
        <dsp:cNvSpPr/>
      </dsp:nvSpPr>
      <dsp:spPr>
        <a:xfrm>
          <a:off x="3835524" y="1993248"/>
          <a:ext cx="2844551" cy="1706731"/>
        </a:xfrm>
        <a:prstGeom prst="rect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Cybersecurity:</a:t>
          </a:r>
          <a:r>
            <a:rPr lang="en-US" sz="1900" kern="1200" dirty="0"/>
            <a:t> Modules on identifying phishing, creating strong passwords, and "red-flag" recognition for scams.</a:t>
          </a:r>
        </a:p>
      </dsp:txBody>
      <dsp:txXfrm>
        <a:off x="3835524" y="1993248"/>
        <a:ext cx="2844551" cy="1706731"/>
      </dsp:txXfrm>
    </dsp:sp>
    <dsp:sp modelId="{3A40F33F-F0F1-483B-95AD-2413347E7485}">
      <dsp:nvSpPr>
        <dsp:cNvPr id="0" name=""/>
        <dsp:cNvSpPr/>
      </dsp:nvSpPr>
      <dsp:spPr>
        <a:xfrm>
          <a:off x="6964531" y="1993248"/>
          <a:ext cx="2844551" cy="1706731"/>
        </a:xfrm>
        <a:prstGeom prst="rect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Voice-Guided Navigation:</a:t>
          </a:r>
          <a:r>
            <a:rPr lang="en-US" sz="1800" kern="1200" dirty="0"/>
            <a:t> An integrated AI voice assistant to guide users through the interface.</a:t>
          </a:r>
        </a:p>
      </dsp:txBody>
      <dsp:txXfrm>
        <a:off x="6964531" y="1993248"/>
        <a:ext cx="2844551" cy="1706731"/>
      </dsp:txXfrm>
    </dsp:sp>
    <dsp:sp modelId="{CF7E176F-6612-4669-A5F9-3B8026C66E60}">
      <dsp:nvSpPr>
        <dsp:cNvPr id="0" name=""/>
        <dsp:cNvSpPr/>
      </dsp:nvSpPr>
      <dsp:spPr>
        <a:xfrm>
          <a:off x="2271020" y="3984435"/>
          <a:ext cx="2844551" cy="1706731"/>
        </a:xfrm>
        <a:prstGeom prst="rect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Interactive Exercises:</a:t>
          </a:r>
          <a:r>
            <a:rPr lang="en-US" sz="1800" kern="1200"/>
            <a:t> "Sandbox" modes where users can practice sending a text or "paying" a mock bill without real-world consequences.</a:t>
          </a:r>
        </a:p>
      </dsp:txBody>
      <dsp:txXfrm>
        <a:off x="2271020" y="3984435"/>
        <a:ext cx="2844551" cy="1706731"/>
      </dsp:txXfrm>
    </dsp:sp>
    <dsp:sp modelId="{B5807B42-A176-4E6E-AB81-6897A18F2B7A}">
      <dsp:nvSpPr>
        <dsp:cNvPr id="0" name=""/>
        <dsp:cNvSpPr/>
      </dsp:nvSpPr>
      <dsp:spPr>
        <a:xfrm>
          <a:off x="5400027" y="3984435"/>
          <a:ext cx="2844551" cy="1706731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Progress Tracking:</a:t>
          </a:r>
          <a:r>
            <a:rPr lang="en-US" sz="1800" kern="1200" dirty="0"/>
            <a:t> Visual milestones (badges or stars) to provide positive reinforcement and a sense of accomplishment.</a:t>
          </a:r>
        </a:p>
      </dsp:txBody>
      <dsp:txXfrm>
        <a:off x="5400027" y="3984435"/>
        <a:ext cx="2844551" cy="170673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C02DB9-31CF-48A1-AA1E-CD03FC333343}">
      <dsp:nvSpPr>
        <dsp:cNvPr id="0" name=""/>
        <dsp:cNvSpPr/>
      </dsp:nvSpPr>
      <dsp:spPr>
        <a:xfrm>
          <a:off x="0" y="4225"/>
          <a:ext cx="9873343" cy="90002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406C7F-208D-40E6-B9BC-99A14DE9F7A9}">
      <dsp:nvSpPr>
        <dsp:cNvPr id="0" name=""/>
        <dsp:cNvSpPr/>
      </dsp:nvSpPr>
      <dsp:spPr>
        <a:xfrm>
          <a:off x="272257" y="206731"/>
          <a:ext cx="495014" cy="4950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75DAD8-3CA3-4D1B-9D4C-61FA2BCB1450}">
      <dsp:nvSpPr>
        <dsp:cNvPr id="0" name=""/>
        <dsp:cNvSpPr/>
      </dsp:nvSpPr>
      <dsp:spPr>
        <a:xfrm>
          <a:off x="1039529" y="4225"/>
          <a:ext cx="8833813" cy="900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3" tIns="95253" rIns="95253" bIns="95253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schemeClr val="tx1"/>
              </a:solidFill>
            </a:rPr>
            <a:t>B</a:t>
          </a:r>
          <a:r>
            <a:rPr lang="en-US" sz="4000" b="1" kern="1200" dirty="0">
              <a:solidFill>
                <a:schemeClr val="tx1"/>
              </a:solidFill>
            </a:rPr>
            <a:t>. </a:t>
          </a:r>
          <a:r>
            <a:rPr lang="en-US" sz="3200" b="1" kern="1200" dirty="0">
              <a:solidFill>
                <a:schemeClr val="tx1"/>
              </a:solidFill>
            </a:rPr>
            <a:t>Non-Functional Requirements </a:t>
          </a:r>
          <a:endParaRPr lang="en-US" sz="1900" kern="1200" dirty="0">
            <a:solidFill>
              <a:schemeClr val="tx1"/>
            </a:solidFill>
          </a:endParaRPr>
        </a:p>
      </dsp:txBody>
      <dsp:txXfrm>
        <a:off x="1039529" y="4225"/>
        <a:ext cx="8833813" cy="900025"/>
      </dsp:txXfrm>
    </dsp:sp>
    <dsp:sp modelId="{88CDE4B4-83B0-4A50-A3A2-17E69B48BC62}">
      <dsp:nvSpPr>
        <dsp:cNvPr id="0" name=""/>
        <dsp:cNvSpPr/>
      </dsp:nvSpPr>
      <dsp:spPr>
        <a:xfrm>
          <a:off x="0" y="1129257"/>
          <a:ext cx="9873343" cy="90002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9CD8C5-B21D-4ABA-96B7-C17B21540CF7}">
      <dsp:nvSpPr>
        <dsp:cNvPr id="0" name=""/>
        <dsp:cNvSpPr/>
      </dsp:nvSpPr>
      <dsp:spPr>
        <a:xfrm>
          <a:off x="272257" y="1331763"/>
          <a:ext cx="495014" cy="4950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A1039E-65CF-4A74-8F04-D90CD6719D75}">
      <dsp:nvSpPr>
        <dsp:cNvPr id="0" name=""/>
        <dsp:cNvSpPr/>
      </dsp:nvSpPr>
      <dsp:spPr>
        <a:xfrm>
          <a:off x="1039529" y="1129257"/>
          <a:ext cx="8833813" cy="900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3" tIns="95253" rIns="95253" bIns="9525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Usability (Accessibility):</a:t>
          </a:r>
          <a:r>
            <a:rPr lang="en-US" sz="1900" kern="1200"/>
            <a:t> Must comply with </a:t>
          </a:r>
          <a:r>
            <a:rPr lang="en-US" sz="1900" b="1" kern="1200"/>
            <a:t>WCAG 2.1 Level AA</a:t>
          </a:r>
          <a:r>
            <a:rPr lang="en-US" sz="1900" kern="1200"/>
            <a:t> standards.</a:t>
          </a:r>
        </a:p>
      </dsp:txBody>
      <dsp:txXfrm>
        <a:off x="1039529" y="1129257"/>
        <a:ext cx="8833813" cy="900025"/>
      </dsp:txXfrm>
    </dsp:sp>
    <dsp:sp modelId="{F911454D-9C2C-4E0A-8D08-372683B4EB72}">
      <dsp:nvSpPr>
        <dsp:cNvPr id="0" name=""/>
        <dsp:cNvSpPr/>
      </dsp:nvSpPr>
      <dsp:spPr>
        <a:xfrm>
          <a:off x="0" y="2254289"/>
          <a:ext cx="9873343" cy="90002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FD9542-2E7E-4C01-B68C-90109C91FD84}">
      <dsp:nvSpPr>
        <dsp:cNvPr id="0" name=""/>
        <dsp:cNvSpPr/>
      </dsp:nvSpPr>
      <dsp:spPr>
        <a:xfrm>
          <a:off x="272257" y="2456795"/>
          <a:ext cx="495014" cy="4950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66FE56-BEB7-49CE-B3F2-16CD6BD559B2}">
      <dsp:nvSpPr>
        <dsp:cNvPr id="0" name=""/>
        <dsp:cNvSpPr/>
      </dsp:nvSpPr>
      <dsp:spPr>
        <a:xfrm>
          <a:off x="1039529" y="2254289"/>
          <a:ext cx="8833813" cy="900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3" tIns="95253" rIns="95253" bIns="9525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Reliability:</a:t>
          </a:r>
          <a:r>
            <a:rPr lang="en-US" sz="1900" kern="1200"/>
            <a:t> The system should have 99.9% uptime, as seniors may lose confidence if the tool is frequently unavailable.</a:t>
          </a:r>
        </a:p>
      </dsp:txBody>
      <dsp:txXfrm>
        <a:off x="1039529" y="2254289"/>
        <a:ext cx="8833813" cy="900025"/>
      </dsp:txXfrm>
    </dsp:sp>
    <dsp:sp modelId="{3A1228C9-CAEF-40BE-9110-3BB446FC12E4}">
      <dsp:nvSpPr>
        <dsp:cNvPr id="0" name=""/>
        <dsp:cNvSpPr/>
      </dsp:nvSpPr>
      <dsp:spPr>
        <a:xfrm>
          <a:off x="0" y="3379321"/>
          <a:ext cx="9873343" cy="90002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637B0E-70B8-4E86-8262-704B75BB55A1}">
      <dsp:nvSpPr>
        <dsp:cNvPr id="0" name=""/>
        <dsp:cNvSpPr/>
      </dsp:nvSpPr>
      <dsp:spPr>
        <a:xfrm>
          <a:off x="272257" y="3581827"/>
          <a:ext cx="495014" cy="49501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A42E66-4AE3-42BA-A74B-3C4108A09711}">
      <dsp:nvSpPr>
        <dsp:cNvPr id="0" name=""/>
        <dsp:cNvSpPr/>
      </dsp:nvSpPr>
      <dsp:spPr>
        <a:xfrm>
          <a:off x="1039529" y="3379321"/>
          <a:ext cx="8833813" cy="900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3" tIns="95253" rIns="95253" bIns="9525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Security:</a:t>
          </a:r>
          <a:r>
            <a:rPr lang="en-US" sz="1900" kern="1200"/>
            <a:t> Multi-factor authentication (MFA) that uses simple methods like biometric (fingerprint) or physical security keys rather than complex SMS codes.</a:t>
          </a:r>
        </a:p>
      </dsp:txBody>
      <dsp:txXfrm>
        <a:off x="1039529" y="3379321"/>
        <a:ext cx="8833813" cy="900025"/>
      </dsp:txXfrm>
    </dsp:sp>
    <dsp:sp modelId="{0D4957C3-F856-4C36-BF91-4269C3A17DAA}">
      <dsp:nvSpPr>
        <dsp:cNvPr id="0" name=""/>
        <dsp:cNvSpPr/>
      </dsp:nvSpPr>
      <dsp:spPr>
        <a:xfrm>
          <a:off x="0" y="4504353"/>
          <a:ext cx="9873343" cy="90002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1C3CA8-64B7-49DD-A735-C32320FAF16A}">
      <dsp:nvSpPr>
        <dsp:cNvPr id="0" name=""/>
        <dsp:cNvSpPr/>
      </dsp:nvSpPr>
      <dsp:spPr>
        <a:xfrm>
          <a:off x="272257" y="4706859"/>
          <a:ext cx="495014" cy="49501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B95C90-85DF-4C39-8EFC-C0B1C95EF1B6}">
      <dsp:nvSpPr>
        <dsp:cNvPr id="0" name=""/>
        <dsp:cNvSpPr/>
      </dsp:nvSpPr>
      <dsp:spPr>
        <a:xfrm>
          <a:off x="1039529" y="4504353"/>
          <a:ext cx="8833813" cy="900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3" tIns="95253" rIns="95253" bIns="9525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Patience-First Design:</a:t>
          </a:r>
          <a:r>
            <a:rPr lang="en-US" sz="1900" kern="1200"/>
            <a:t> The system should not "time out" quickly; extended session times are required for slower input speeds.</a:t>
          </a:r>
        </a:p>
      </dsp:txBody>
      <dsp:txXfrm>
        <a:off x="1039529" y="4504353"/>
        <a:ext cx="8833813" cy="90002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1260FF-4DEA-4E72-9681-3D9F3D42ECF1}">
      <dsp:nvSpPr>
        <dsp:cNvPr id="0" name=""/>
        <dsp:cNvSpPr/>
      </dsp:nvSpPr>
      <dsp:spPr>
        <a:xfrm>
          <a:off x="0" y="13692"/>
          <a:ext cx="10515600" cy="8248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The proposed solution is to conduct </a:t>
          </a:r>
          <a:r>
            <a:rPr lang="en-GB" sz="1500" b="1" kern="1200"/>
            <a:t>digital literacy training programs specifically designed for senior citizens</a:t>
          </a:r>
          <a:r>
            <a:rPr lang="en-GB" sz="1500" kern="1200"/>
            <a:t>. The training will include simple lessons on using smartphones, browsing the internet, sending messages, making video calls, and performing online transactions safely.</a:t>
          </a:r>
          <a:endParaRPr lang="en-US" sz="1500" kern="1200"/>
        </a:p>
      </dsp:txBody>
      <dsp:txXfrm>
        <a:off x="40266" y="53958"/>
        <a:ext cx="10435068" cy="744318"/>
      </dsp:txXfrm>
    </dsp:sp>
    <dsp:sp modelId="{EBB55CB3-4055-4E76-BAC2-BB83EBCCFD32}">
      <dsp:nvSpPr>
        <dsp:cNvPr id="0" name=""/>
        <dsp:cNvSpPr/>
      </dsp:nvSpPr>
      <dsp:spPr>
        <a:xfrm>
          <a:off x="0" y="881742"/>
          <a:ext cx="10515600" cy="8248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Expected outcomes include:</a:t>
          </a:r>
          <a:endParaRPr lang="en-US" sz="2400" kern="1200"/>
        </a:p>
      </dsp:txBody>
      <dsp:txXfrm>
        <a:off x="40266" y="922008"/>
        <a:ext cx="10435068" cy="744318"/>
      </dsp:txXfrm>
    </dsp:sp>
    <dsp:sp modelId="{4E2CF900-3698-4791-96D5-5B5804ED0C83}">
      <dsp:nvSpPr>
        <dsp:cNvPr id="0" name=""/>
        <dsp:cNvSpPr/>
      </dsp:nvSpPr>
      <dsp:spPr>
        <a:xfrm>
          <a:off x="0" y="1749792"/>
          <a:ext cx="10515600" cy="8248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Senior citizens gaining confidence in using digital devices.</a:t>
          </a:r>
          <a:endParaRPr lang="en-US" sz="2000" kern="1200" dirty="0"/>
        </a:p>
      </dsp:txBody>
      <dsp:txXfrm>
        <a:off x="40266" y="1790058"/>
        <a:ext cx="10435068" cy="744318"/>
      </dsp:txXfrm>
    </dsp:sp>
    <dsp:sp modelId="{D4917E8A-E3C8-4600-8B9F-14884A1696A4}">
      <dsp:nvSpPr>
        <dsp:cNvPr id="0" name=""/>
        <dsp:cNvSpPr/>
      </dsp:nvSpPr>
      <dsp:spPr>
        <a:xfrm>
          <a:off x="0" y="2617842"/>
          <a:ext cx="10515600" cy="8248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Increased ability to communicate with family and friends through digital platforms.</a:t>
          </a:r>
          <a:endParaRPr lang="en-US" sz="2000" kern="1200"/>
        </a:p>
      </dsp:txBody>
      <dsp:txXfrm>
        <a:off x="40266" y="2658108"/>
        <a:ext cx="10435068" cy="744318"/>
      </dsp:txXfrm>
    </dsp:sp>
    <dsp:sp modelId="{DFF2FB28-259B-4EBC-B3F6-ED77FCA9D16E}">
      <dsp:nvSpPr>
        <dsp:cNvPr id="0" name=""/>
        <dsp:cNvSpPr/>
      </dsp:nvSpPr>
      <dsp:spPr>
        <a:xfrm>
          <a:off x="0" y="3485893"/>
          <a:ext cx="10515600" cy="8248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Better awareness about cybersecurity and online scams.</a:t>
          </a:r>
          <a:endParaRPr lang="en-US" sz="2000" kern="1200"/>
        </a:p>
      </dsp:txBody>
      <dsp:txXfrm>
        <a:off x="40266" y="3526159"/>
        <a:ext cx="10435068" cy="744318"/>
      </dsp:txXfrm>
    </dsp:sp>
    <dsp:sp modelId="{E436EFAB-5534-4767-887E-0B661AE6671E}">
      <dsp:nvSpPr>
        <dsp:cNvPr id="0" name=""/>
        <dsp:cNvSpPr/>
      </dsp:nvSpPr>
      <dsp:spPr>
        <a:xfrm>
          <a:off x="0" y="4353943"/>
          <a:ext cx="10515600" cy="8248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Greater independence in performing online tasks such as paying bills or accessing services.</a:t>
          </a:r>
          <a:endParaRPr lang="en-US" sz="2000" kern="1200"/>
        </a:p>
      </dsp:txBody>
      <dsp:txXfrm>
        <a:off x="40266" y="4394209"/>
        <a:ext cx="10435068" cy="74431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338229-5C6A-40CF-8723-BEE36E2B2B3F}">
      <dsp:nvSpPr>
        <dsp:cNvPr id="0" name=""/>
        <dsp:cNvSpPr/>
      </dsp:nvSpPr>
      <dsp:spPr>
        <a:xfrm>
          <a:off x="0" y="212876"/>
          <a:ext cx="10515600" cy="126477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Oh, S. S., Kim, K.‑A., Kim, M., Oh, J., Chu, S. H., &amp; Choi, J. (2021). </a:t>
          </a:r>
          <a:r>
            <a:rPr lang="en-GB" sz="2300" i="1" kern="1200"/>
            <a:t>Measurement of digital literacy among older adults: Systematic review</a:t>
          </a:r>
          <a:r>
            <a:rPr lang="en-GB" sz="2300" kern="1200"/>
            <a:t>. </a:t>
          </a:r>
          <a:r>
            <a:rPr lang="en-GB" sz="2300" i="1" kern="1200"/>
            <a:t>Journal of Medical Internet Research, 23</a:t>
          </a:r>
          <a:r>
            <a:rPr lang="en-GB" sz="2300" kern="1200"/>
            <a:t>(2), e26145. </a:t>
          </a:r>
          <a:r>
            <a:rPr lang="en-GB" sz="2300" u="sng" kern="1200">
              <a:hlinkClick xmlns:r="http://schemas.openxmlformats.org/officeDocument/2006/relationships" r:id="rId1"/>
            </a:rPr>
            <a:t>https://doi.org/10.2196/26145</a:t>
          </a:r>
          <a:r>
            <a:rPr lang="en-GB" sz="2300" kern="1200"/>
            <a:t> </a:t>
          </a:r>
          <a:endParaRPr lang="en-US" sz="2300" kern="1200"/>
        </a:p>
      </dsp:txBody>
      <dsp:txXfrm>
        <a:off x="61741" y="274617"/>
        <a:ext cx="10392118" cy="1141288"/>
      </dsp:txXfrm>
    </dsp:sp>
    <dsp:sp modelId="{7829DBA9-540C-43F0-A88E-5A07D13EE57F}">
      <dsp:nvSpPr>
        <dsp:cNvPr id="0" name=""/>
        <dsp:cNvSpPr/>
      </dsp:nvSpPr>
      <dsp:spPr>
        <a:xfrm>
          <a:off x="0" y="1543886"/>
          <a:ext cx="10515600" cy="126477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Moore, R. C., &amp; Hancock, J. T. (2022). </a:t>
          </a:r>
          <a:r>
            <a:rPr lang="en-GB" sz="2300" i="1" kern="1200"/>
            <a:t>A digital media literacy intervention for older adults improves resilience to fake news</a:t>
          </a:r>
          <a:r>
            <a:rPr lang="en-GB" sz="2300" kern="1200"/>
            <a:t>. </a:t>
          </a:r>
          <a:r>
            <a:rPr lang="en-GB" sz="2300" i="1" kern="1200"/>
            <a:t>Scientific Reports, 12</a:t>
          </a:r>
          <a:r>
            <a:rPr lang="en-GB" sz="2300" kern="1200"/>
            <a:t>, 6008. https://doi.org/10.1038/s41598‑022‑08437‑0 </a:t>
          </a:r>
          <a:endParaRPr lang="en-US" sz="2300" kern="1200"/>
        </a:p>
      </dsp:txBody>
      <dsp:txXfrm>
        <a:off x="61741" y="1605627"/>
        <a:ext cx="10392118" cy="1141288"/>
      </dsp:txXfrm>
    </dsp:sp>
    <dsp:sp modelId="{A84B1F8A-EC85-43A3-9481-F91F2CD90331}">
      <dsp:nvSpPr>
        <dsp:cNvPr id="0" name=""/>
        <dsp:cNvSpPr/>
      </dsp:nvSpPr>
      <dsp:spPr>
        <a:xfrm>
          <a:off x="0" y="2874897"/>
          <a:ext cx="10515600" cy="126477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Jena, B., &amp; Paltasingh, T. (2024). </a:t>
          </a:r>
          <a:r>
            <a:rPr lang="en-GB" sz="2300" i="1" kern="1200"/>
            <a:t>Digital literacy among older adults: A systematic review in the Indian context</a:t>
          </a:r>
          <a:r>
            <a:rPr lang="en-GB" sz="2300" kern="1200"/>
            <a:t>. </a:t>
          </a:r>
          <a:r>
            <a:rPr lang="en-GB" sz="2300" i="1" kern="1200"/>
            <a:t>Educational Gerontology, 51</a:t>
          </a:r>
          <a:r>
            <a:rPr lang="en-GB" sz="2300" kern="1200"/>
            <a:t>(4), 371–386. https://doi.org/10.1080/03601277.2024.2397428 </a:t>
          </a:r>
          <a:endParaRPr lang="en-US" sz="2300" kern="1200"/>
        </a:p>
      </dsp:txBody>
      <dsp:txXfrm>
        <a:off x="61741" y="2936638"/>
        <a:ext cx="10392118" cy="114128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FEE87A-7381-4C63-8800-15326C869DC1}">
      <dsp:nvSpPr>
        <dsp:cNvPr id="0" name=""/>
        <dsp:cNvSpPr/>
      </dsp:nvSpPr>
      <dsp:spPr>
        <a:xfrm>
          <a:off x="0" y="42146"/>
          <a:ext cx="10515600" cy="13747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Bhatia, R., &amp; Khan, F. (2024). </a:t>
          </a:r>
          <a:r>
            <a:rPr lang="en-GB" sz="2500" i="1" kern="1200"/>
            <a:t>Digital literacy among elderly people and usage of digital means</a:t>
          </a:r>
          <a:r>
            <a:rPr lang="en-GB" sz="2500" kern="1200"/>
            <a:t>. </a:t>
          </a:r>
          <a:r>
            <a:rPr lang="en-GB" sz="2500" i="1" kern="1200"/>
            <a:t>International Journal of Research and Analysis in Commerce and Management, 3</a:t>
          </a:r>
          <a:r>
            <a:rPr lang="en-GB" sz="2500" kern="1200"/>
            <a:t>(6), 1–14. </a:t>
          </a:r>
          <a:endParaRPr lang="en-US" sz="2500" kern="1200"/>
        </a:p>
      </dsp:txBody>
      <dsp:txXfrm>
        <a:off x="67110" y="109256"/>
        <a:ext cx="10381380" cy="1240530"/>
      </dsp:txXfrm>
    </dsp:sp>
    <dsp:sp modelId="{3EBB6C59-A2D9-452B-AF37-9BF7828823E1}">
      <dsp:nvSpPr>
        <dsp:cNvPr id="0" name=""/>
        <dsp:cNvSpPr/>
      </dsp:nvSpPr>
      <dsp:spPr>
        <a:xfrm>
          <a:off x="0" y="1488897"/>
          <a:ext cx="10515600" cy="13747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Yang, X., Hu, W., &amp; Deng, Y. (2025). </a:t>
          </a:r>
          <a:r>
            <a:rPr lang="en-GB" sz="2500" i="1" kern="1200"/>
            <a:t>Digital literacy impacts quality of life among older adults through hierarchical mediating mechanisms</a:t>
          </a:r>
          <a:r>
            <a:rPr lang="en-GB" sz="2500" kern="1200"/>
            <a:t>. </a:t>
          </a:r>
          <a:r>
            <a:rPr lang="en-GB" sz="2500" i="1" kern="1200"/>
            <a:t>Scientific Reports, 15</a:t>
          </a:r>
          <a:r>
            <a:rPr lang="en-GB" sz="2500" kern="1200"/>
            <a:t>, Article 19288. https://doi.org/10.1038/s41598‑025‑04472‑9 </a:t>
          </a:r>
          <a:endParaRPr lang="en-US" sz="2500" kern="1200"/>
        </a:p>
      </dsp:txBody>
      <dsp:txXfrm>
        <a:off x="67110" y="1556007"/>
        <a:ext cx="10381380" cy="1240530"/>
      </dsp:txXfrm>
    </dsp:sp>
    <dsp:sp modelId="{6338B1FD-E70B-471F-BDDF-0460C1FD802A}">
      <dsp:nvSpPr>
        <dsp:cNvPr id="0" name=""/>
        <dsp:cNvSpPr/>
      </dsp:nvSpPr>
      <dsp:spPr>
        <a:xfrm>
          <a:off x="0" y="2935647"/>
          <a:ext cx="10515600" cy="13747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Shi, Z., Du, X., Li, J., Hou, R., Sun, J., &amp; Marohabutr, T. (2024). </a:t>
          </a:r>
          <a:r>
            <a:rPr lang="en-GB" sz="2500" i="1" kern="1200"/>
            <a:t>Factors influencing digital health literacy among older adults: A scoping review</a:t>
          </a:r>
          <a:r>
            <a:rPr lang="en-GB" sz="2500" kern="1200"/>
            <a:t>. </a:t>
          </a:r>
          <a:r>
            <a:rPr lang="en-GB" sz="2500" i="1" kern="1200"/>
            <a:t>Frontiers in Public Health, 12</a:t>
          </a:r>
          <a:r>
            <a:rPr lang="en-GB" sz="2500" kern="1200"/>
            <a:t>, 1447747. </a:t>
          </a:r>
          <a:endParaRPr lang="en-US" sz="2500" kern="1200"/>
        </a:p>
      </dsp:txBody>
      <dsp:txXfrm>
        <a:off x="67110" y="3002757"/>
        <a:ext cx="10381380" cy="12405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3C899-BD68-980B-E70A-5242ECAF25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E47045-71E3-AAD2-D321-96FB15E7A6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4021F-C70D-F5BB-406D-BFBB77B3D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4DAE-580B-4E9C-BE25-DAF9F4274965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66A6F-568E-0891-839F-E383FD4E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DE1DB-F0FB-4CB9-BE8A-0461F85B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D939-F7EB-4C48-951A-9E2BADCC1E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643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E97A9-0E15-6803-452E-55A9549E4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02CC6-0782-CD34-93CB-98E4F6ED5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98112-BBFB-8038-E35D-135506AAF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4DAE-580B-4E9C-BE25-DAF9F4274965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4C68C-FC0C-1A59-0614-3A521FB71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46580-BFD0-3EE3-DF6C-C382879D1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D939-F7EB-4C48-951A-9E2BADCC1E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925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F5DD4-777D-316B-85A5-977C6E2B2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A330A-2459-129B-EC2C-8E5BFA6D8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31DBA-EFCD-9F27-99C9-BE0520807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4DAE-580B-4E9C-BE25-DAF9F4274965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F6433-FBFB-334F-C3ED-6C7758FEB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43B86-98FA-53E3-F311-CBDED443E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D939-F7EB-4C48-951A-9E2BADCC1E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429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C6806-CF72-2CA6-4AC8-A0506EBD7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85438-8AE1-07CA-B2DB-5A7B344745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7C85DB-2D6E-E5CE-2E53-EBB4042CE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CD0C95-A7E5-B284-EB22-C786EE6CA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4DAE-580B-4E9C-BE25-DAF9F4274965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B3D8C-3622-6A04-FFFB-9863F0FA1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C37C6-576A-39E5-CC23-E832B6606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D939-F7EB-4C48-951A-9E2BADCC1E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8304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42A23-928B-7926-A996-354CE3C83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4A433-836D-046A-102F-76504050B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5A8CD-C6EE-B3E4-4B35-6DF8A07B4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8AB7C8-B287-FEE5-3807-D37BAFBFC9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CBDA93-CBD5-117E-2051-0DD4F8A988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D53940-E098-EC90-C280-CE83E74B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4DAE-580B-4E9C-BE25-DAF9F4274965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53B644-6848-5BF9-5463-8D0792AEF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11A1E2-9908-B244-DCE8-245F53A24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D939-F7EB-4C48-951A-9E2BADCC1E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989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2B03E-462A-3650-ADB8-834BF27E6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3E91D0-B6D5-28D1-3D6F-A65FCF69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4DAE-580B-4E9C-BE25-DAF9F4274965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EB8562-7DDF-ACDC-50E7-C1E3E3AAF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2CCC17-0656-C631-EAC3-D845EC268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D939-F7EB-4C48-951A-9E2BADCC1E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652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DDAC4E-2F10-7179-45FB-6644656F0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4DAE-580B-4E9C-BE25-DAF9F4274965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3FD91D-382F-B675-0B77-C5A53517D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36A2E-5341-2817-2224-70AF02D01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D939-F7EB-4C48-951A-9E2BADCC1E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348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D362D-9E03-E315-FD86-A4BF07F0C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15324-5389-35A3-1FFD-A62DED594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530BD2-0FB2-39F8-FF99-3737656B0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60E50-D500-BC5B-D9E9-68B69CE28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4DAE-580B-4E9C-BE25-DAF9F4274965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770EF-06A5-DB0E-728B-F051762BE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F09DC-E7E1-8C8F-AF05-956641E75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D939-F7EB-4C48-951A-9E2BADCC1E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567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18F56-A639-CBFF-16E3-5EF59ECB0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7B7B99-42DA-BCDC-972D-2ECE9ADA1C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11EFD6-EB40-5D3D-8393-85AE6D1BF5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50DF82-FBFB-6D21-725B-81231A30B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4DAE-580B-4E9C-BE25-DAF9F4274965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96D8E-9716-433C-3E83-4D810DE0F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4B366-7E86-A505-196F-B4D69970C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D939-F7EB-4C48-951A-9E2BADCC1E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086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E68E8-D487-1AF6-458D-1AAC0951D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E4A9FF-A9B3-0ECF-D251-65E0DA5B2A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2D901-582A-7ABC-73A7-2B8DB8455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4DAE-580B-4E9C-BE25-DAF9F4274965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AA3BD-7563-8309-E4E7-7026D2212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DCFFC-D8D2-EE6E-FA27-2ED77CB09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D939-F7EB-4C48-951A-9E2BADCC1E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400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483318-C065-5347-0F96-632C3AA185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A732F9-42F2-C257-B770-4755D0BEE8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66C7E-108A-D175-5AFC-DAC0BACFC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4DAE-580B-4E9C-BE25-DAF9F4274965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DF7AC-B3C8-CDB1-CB81-332201620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8080C-5C9B-5B10-A169-D98C020BE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D939-F7EB-4C48-951A-9E2BADCC1E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56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CD3DCB-C3E3-07F3-1876-A7AA173AC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4E217-C1BE-D953-B067-5DDA46ACC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04F3D-163E-D0EE-1413-C4DDB5B0F2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9D4DAE-580B-4E9C-BE25-DAF9F4274965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32F6E-453D-658C-5440-481C637F1D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0C764-9243-19D7-18D0-FC4D8596D3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CAD939-F7EB-4C48-951A-9E2BADCC1E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85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8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19F7815-3AA2-7679-26F4-A63338C8B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668" y="4843169"/>
            <a:ext cx="12196668" cy="2016059"/>
            <a:chOff x="-4668" y="4843169"/>
            <a:chExt cx="12196668" cy="201605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56154CE-3587-5C44-2A6B-1FE49B302C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4668" y="4843169"/>
              <a:ext cx="12196668" cy="2015947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E7A46DB-98C4-E666-AEC5-DF8B5DD9E7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4668" y="4844400"/>
              <a:ext cx="10565988" cy="2014828"/>
            </a:xfrm>
            <a:prstGeom prst="rect">
              <a:avLst/>
            </a:prstGeom>
            <a:gradFill flip="none" rotWithShape="1">
              <a:gsLst>
                <a:gs pos="3000">
                  <a:schemeClr val="accent2"/>
                </a:gs>
                <a:gs pos="40000">
                  <a:schemeClr val="accent2">
                    <a:alpha val="0"/>
                  </a:schemeClr>
                </a:gs>
              </a:gsLst>
              <a:lin ang="17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F8962A-028A-2EBA-FBCF-F9B0334400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4668" y="4843170"/>
              <a:ext cx="10309010" cy="2006799"/>
            </a:xfrm>
            <a:prstGeom prst="rect">
              <a:avLst/>
            </a:prstGeom>
            <a:gradFill>
              <a:gsLst>
                <a:gs pos="0">
                  <a:schemeClr val="accent5">
                    <a:alpha val="76000"/>
                  </a:schemeClr>
                </a:gs>
                <a:gs pos="67000">
                  <a:schemeClr val="accent2"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139663-D7C2-5898-E610-2183584AC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105876" y="4851203"/>
              <a:ext cx="8086124" cy="2006797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0"/>
                    <a:alpha val="36000"/>
                  </a:schemeClr>
                </a:gs>
                <a:gs pos="45000">
                  <a:schemeClr val="accent5">
                    <a:alpha val="0"/>
                  </a:schemeClr>
                </a:gs>
              </a:gsLst>
              <a:lin ang="4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852BBCE-8196-E0B8-1E4F-D02722CE2B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1630" y="5271509"/>
            <a:ext cx="8949690" cy="702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Enhancing digital literacy among senior citizens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E6A023-2446-65C0-A23B-7344434299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7477" y="6101034"/>
            <a:ext cx="8949690" cy="50464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kern="1200" dirty="0">
                <a:latin typeface="+mn-lt"/>
                <a:ea typeface="+mn-ea"/>
                <a:cs typeface="+mn-cs"/>
              </a:rPr>
              <a:t>     Bridging the "generational tech gap"</a:t>
            </a:r>
          </a:p>
        </p:txBody>
      </p:sp>
      <p:pic>
        <p:nvPicPr>
          <p:cNvPr id="5" name="PixVerse_V5.6_Image_Text_360P_make_animated_vi">
            <a:hlinkClick r:id="" action="ppaction://media"/>
            <a:extLst>
              <a:ext uri="{FF2B5EF4-FFF2-40B4-BE49-F238E27FC236}">
                <a16:creationId xmlns:a16="http://schemas.microsoft.com/office/drawing/2014/main" id="{CB8A27A9-516B-0E5D-0D45-AFA82854848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633797" y="461527"/>
            <a:ext cx="6924406" cy="38949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A923C6-D33D-8497-2F97-C430E4727546}"/>
              </a:ext>
            </a:extLst>
          </p:cNvPr>
          <p:cNvSpPr txBox="1"/>
          <p:nvPr/>
        </p:nvSpPr>
        <p:spPr>
          <a:xfrm>
            <a:off x="3962400" y="4802719"/>
            <a:ext cx="4702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/>
              <a:t>Team 4 : </a:t>
            </a:r>
            <a:r>
              <a:rPr lang="en-US" sz="2800" b="1" dirty="0" err="1"/>
              <a:t>Mindsparks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000577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4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2D39B0-CEC6-4F82-42C9-8C31E898B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855793"/>
          </a:xfrm>
        </p:spPr>
        <p:txBody>
          <a:bodyPr anchor="b">
            <a:normAutofit fontScale="90000"/>
          </a:bodyPr>
          <a:lstStyle/>
          <a:p>
            <a:r>
              <a:rPr lang="en-IN" sz="4000" dirty="0"/>
              <a:t>Introduction</a:t>
            </a:r>
            <a:br>
              <a:rPr lang="en-IN" sz="4000" dirty="0"/>
            </a:br>
            <a:endParaRPr lang="en-IN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3C81B3-3CFF-5C5D-5CC4-7C99EE8C7E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988" r="27298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94DCA1-1ABC-0A72-B26C-B426696ECC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2404512"/>
              </p:ext>
            </p:extLst>
          </p:nvPr>
        </p:nvGraphicFramePr>
        <p:xfrm>
          <a:off x="4596235" y="1258565"/>
          <a:ext cx="6798539" cy="50509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 descr="The digital divide worsens for seniors | India News - Times of India">
            <a:extLst>
              <a:ext uri="{FF2B5EF4-FFF2-40B4-BE49-F238E27FC236}">
                <a16:creationId xmlns:a16="http://schemas.microsoft.com/office/drawing/2014/main" id="{F189CA7E-8BE2-6195-CF65-4D1C1D4DBB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60894"/>
            <a:ext cx="4196496" cy="62705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8024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A2691F-30AD-57AF-AE02-A1A1D0E83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5"/>
            <a:ext cx="6798541" cy="736050"/>
          </a:xfrm>
        </p:spPr>
        <p:txBody>
          <a:bodyPr anchor="b">
            <a:normAutofit/>
          </a:bodyPr>
          <a:lstStyle/>
          <a:p>
            <a:r>
              <a:rPr lang="en-IN" sz="4000" b="1" dirty="0"/>
              <a:t>Why the Problem is Complex</a:t>
            </a:r>
            <a:endParaRPr lang="en-IN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2A8606-CE12-3FEB-B88F-EBB22A667B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42" r="44266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9FF906A-2E03-DF13-34E0-28D5B53EAB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8781419"/>
              </p:ext>
            </p:extLst>
          </p:nvPr>
        </p:nvGraphicFramePr>
        <p:xfrm>
          <a:off x="4553734" y="1469572"/>
          <a:ext cx="6798539" cy="50074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 descr="Helping India's elderly cross the digital divide as the country ages -  Unravel">
            <a:extLst>
              <a:ext uri="{FF2B5EF4-FFF2-40B4-BE49-F238E27FC236}">
                <a16:creationId xmlns:a16="http://schemas.microsoft.com/office/drawing/2014/main" id="{FB726C1F-BE57-FB99-D0D7-8BD571C3BD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06" y="242435"/>
            <a:ext cx="3941686" cy="2454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Digital Literacy for Senior Citizens - A HelpAge India Programme - YouTube">
            <a:extLst>
              <a:ext uri="{FF2B5EF4-FFF2-40B4-BE49-F238E27FC236}">
                <a16:creationId xmlns:a16="http://schemas.microsoft.com/office/drawing/2014/main" id="{246C9D90-B469-4CCD-3D56-7DA3D13D20A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06" y="3022866"/>
            <a:ext cx="3941686" cy="32213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9793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BDE88E-8195-8976-70D4-1AD608C10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Digital Literacy &amp; Safety | HelpAge India">
            <a:extLst>
              <a:ext uri="{FF2B5EF4-FFF2-40B4-BE49-F238E27FC236}">
                <a16:creationId xmlns:a16="http://schemas.microsoft.com/office/drawing/2014/main" id="{2CD70D7D-C8E2-2957-8338-A5FD15625F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07" r="14235" b="1"/>
          <a:stretch>
            <a:fillRect/>
          </a:stretch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F4E8E7-DC22-DD6B-0FDA-57372DAC8D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7706355"/>
              </p:ext>
            </p:extLst>
          </p:nvPr>
        </p:nvGraphicFramePr>
        <p:xfrm>
          <a:off x="590719" y="598715"/>
          <a:ext cx="5095090" cy="5711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573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3CE514-D0F9-8382-569E-C35323881D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3534047"/>
              </p:ext>
            </p:extLst>
          </p:nvPr>
        </p:nvGraphicFramePr>
        <p:xfrm>
          <a:off x="4553734" y="533400"/>
          <a:ext cx="6798539" cy="6008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7410" name="Picture 2" descr="Digital Literacy for Senior Citizens eBook : Manchanda, S.P ...">
            <a:extLst>
              <a:ext uri="{FF2B5EF4-FFF2-40B4-BE49-F238E27FC236}">
                <a16:creationId xmlns:a16="http://schemas.microsoft.com/office/drawing/2014/main" id="{D19FE95E-A330-8BFA-86BA-BCD42B19E4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15"/>
          <a:stretch>
            <a:fillRect/>
          </a:stretch>
        </p:blipFill>
        <p:spPr bwMode="auto">
          <a:xfrm>
            <a:off x="-1" y="228600"/>
            <a:ext cx="4452257" cy="6161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2155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596CD0-A5C5-2565-25F4-E028A300D6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4737513-91BE-7F0A-AC33-53E970DAE600}"/>
              </a:ext>
            </a:extLst>
          </p:cNvPr>
          <p:cNvSpPr txBox="1">
            <a:spLocks/>
          </p:cNvSpPr>
          <p:nvPr/>
        </p:nvSpPr>
        <p:spPr>
          <a:xfrm>
            <a:off x="3708401" y="345440"/>
            <a:ext cx="4836160" cy="4368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/>
              <a:t>OBJECTIVES 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315408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9A071-7595-89B3-5927-3D94DBE7C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779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8FD1E94-B12F-434F-8027-5DBEAC55A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BC8109F-B452-45EE-8BB3-65433C039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CFEEBB-2621-F106-B5E7-31A1BF387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Project Planning - Table 1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1281A9E-99B5-8487-E4F6-ED22B20897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0027188"/>
              </p:ext>
            </p:extLst>
          </p:nvPr>
        </p:nvGraphicFramePr>
        <p:xfrm>
          <a:off x="838200" y="1690689"/>
          <a:ext cx="10515602" cy="4889409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1515614">
                  <a:extLst>
                    <a:ext uri="{9D8B030D-6E8A-4147-A177-3AD203B41FA5}">
                      <a16:colId xmlns:a16="http://schemas.microsoft.com/office/drawing/2014/main" val="2329894933"/>
                    </a:ext>
                  </a:extLst>
                </a:gridCol>
                <a:gridCol w="4450729">
                  <a:extLst>
                    <a:ext uri="{9D8B030D-6E8A-4147-A177-3AD203B41FA5}">
                      <a16:colId xmlns:a16="http://schemas.microsoft.com/office/drawing/2014/main" val="3541863122"/>
                    </a:ext>
                  </a:extLst>
                </a:gridCol>
                <a:gridCol w="4549259">
                  <a:extLst>
                    <a:ext uri="{9D8B030D-6E8A-4147-A177-3AD203B41FA5}">
                      <a16:colId xmlns:a16="http://schemas.microsoft.com/office/drawing/2014/main" val="346937159"/>
                    </a:ext>
                  </a:extLst>
                </a:gridCol>
              </a:tblGrid>
              <a:tr h="5550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0" kern="100" cap="none" spc="0">
                          <a:solidFill>
                            <a:schemeClr val="bg1"/>
                          </a:solidFill>
                          <a:effectLst/>
                          <a:latin typeface="Book Antiqua" panose="02040602050305030304" pitchFamily="18" charset="0"/>
                        </a:rPr>
                        <a:t>Phase</a:t>
                      </a:r>
                      <a:endParaRPr lang="en-IN" sz="1600" b="0" kern="100" cap="none" spc="0">
                        <a:solidFill>
                          <a:schemeClr val="bg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1843" marR="119223" marT="101417" marB="1014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0" kern="100" cap="none" spc="0" dirty="0">
                          <a:solidFill>
                            <a:schemeClr val="bg1"/>
                          </a:solidFill>
                          <a:effectLst/>
                          <a:latin typeface="Book Antiqua" panose="02040602050305030304" pitchFamily="18" charset="0"/>
                        </a:rPr>
                        <a:t>Sub-Stages</a:t>
                      </a:r>
                      <a:endParaRPr lang="en-IN" sz="1600" b="0" kern="100" cap="none" spc="0" dirty="0">
                        <a:solidFill>
                          <a:schemeClr val="bg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1843" marR="119223" marT="101417" marB="1014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0" kern="100" cap="none" spc="0">
                          <a:solidFill>
                            <a:schemeClr val="bg1"/>
                          </a:solidFill>
                          <a:effectLst/>
                          <a:latin typeface="Book Antiqua" panose="02040602050305030304" pitchFamily="18" charset="0"/>
                        </a:rPr>
                        <a:t>Activities</a:t>
                      </a:r>
                      <a:endParaRPr lang="en-IN" sz="1600" b="0" kern="100" cap="none" spc="0">
                        <a:solidFill>
                          <a:schemeClr val="bg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1843" marR="119223" marT="101417" marB="1014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660518"/>
                  </a:ext>
                </a:extLst>
              </a:tr>
              <a:tr h="17120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1. Scope</a:t>
                      </a:r>
                      <a:endParaRPr lang="en-IN" sz="1600" b="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1843" marR="119223" marT="101417" marB="1014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Identify project topic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Determine target group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Define scope and limitations • Identify expected outcomes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Plan timeline and resources</a:t>
                      </a:r>
                      <a:endParaRPr lang="en-IN" sz="1600" b="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1843" marR="119223" marT="101417" marB="1014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Select the project topic related to digital literacy • Identify senior citizens as the target audience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Decide project boundaries and objectives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Estimate required resources such as devices and trainers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Prepare a project timeline</a:t>
                      </a:r>
                      <a:endParaRPr lang="en-IN" sz="160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1843" marR="119223" marT="101417" marB="1014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988742"/>
                  </a:ext>
                </a:extLst>
              </a:tr>
              <a:tr h="201013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2. Empathize</a:t>
                      </a:r>
                      <a:endParaRPr lang="en-IN" sz="1600" b="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1843" marR="119223" marT="101417" marB="1014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Interact with senior citizens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Conduct surveys or interviews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Identify challenges in using digital devices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Observe </a:t>
                      </a:r>
                      <a:r>
                        <a:rPr lang="en-GB" sz="1600" b="0" kern="100" cap="none" spc="0" dirty="0" err="1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behavior</a:t>
                      </a:r>
                      <a:r>
                        <a:rPr lang="en-GB" sz="1600" b="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 and learning difficulties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Record user insights</a:t>
                      </a:r>
                      <a:endParaRPr lang="en-IN" sz="1600" b="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1843" marR="119223" marT="101417" marB="1014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Visit communities or homes of senior citizens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Ask questions about their experience with smartphones or computers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Observe how they use digital devices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Collect feedback and document user needs</a:t>
                      </a:r>
                      <a:endParaRPr lang="en-IN" sz="160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1843" marR="119223" marT="101417" marB="1014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971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8535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8FD1E94-B12F-434F-8027-5DBEAC55A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BC8109F-B452-45EE-8BB3-65433C039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FA9752-F7AD-083A-A241-4E74E9F01D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5287667"/>
              </p:ext>
            </p:extLst>
          </p:nvPr>
        </p:nvGraphicFramePr>
        <p:xfrm>
          <a:off x="838200" y="1371601"/>
          <a:ext cx="10515601" cy="5147627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1435556">
                  <a:extLst>
                    <a:ext uri="{9D8B030D-6E8A-4147-A177-3AD203B41FA5}">
                      <a16:colId xmlns:a16="http://schemas.microsoft.com/office/drawing/2014/main" val="2140007088"/>
                    </a:ext>
                  </a:extLst>
                </a:gridCol>
                <a:gridCol w="4346645">
                  <a:extLst>
                    <a:ext uri="{9D8B030D-6E8A-4147-A177-3AD203B41FA5}">
                      <a16:colId xmlns:a16="http://schemas.microsoft.com/office/drawing/2014/main" val="1444917665"/>
                    </a:ext>
                  </a:extLst>
                </a:gridCol>
                <a:gridCol w="4733400">
                  <a:extLst>
                    <a:ext uri="{9D8B030D-6E8A-4147-A177-3AD203B41FA5}">
                      <a16:colId xmlns:a16="http://schemas.microsoft.com/office/drawing/2014/main" val="891311823"/>
                    </a:ext>
                  </a:extLst>
                </a:gridCol>
              </a:tblGrid>
              <a:tr h="25275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cap="none" spc="6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3. Define</a:t>
                      </a:r>
                      <a:endParaRPr lang="en-IN" sz="1800" b="0" kern="100" cap="none" spc="6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306" marR="189784" marT="107370" marB="1897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cap="none" spc="6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</a:t>
                      </a:r>
                      <a:r>
                        <a:rPr lang="en-GB" sz="1800" b="0" kern="100" cap="none" spc="60" dirty="0" err="1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Analyze</a:t>
                      </a:r>
                      <a:r>
                        <a:rPr lang="en-GB" sz="1800" b="0" kern="100" cap="none" spc="6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 collected information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cap="none" spc="6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Identify key problems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cap="none" spc="6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Define the problem statement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cap="none" spc="6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Identify user needs • Finalize objectives</a:t>
                      </a:r>
                      <a:endParaRPr lang="en-IN" sz="1800" b="0" kern="100" cap="none" spc="6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306" marR="189784" marT="107370" marB="1897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cap="none" spc="6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Study survey responses and interview data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cap="none" spc="6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List the major difficulties faced by seniors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cap="none" spc="6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Write a clear problem statement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cap="none" spc="6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Confirm the objectives of the project</a:t>
                      </a:r>
                      <a:endParaRPr lang="en-IN" sz="1800" b="0" kern="100" cap="none" spc="6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306" marR="189784" marT="107370" marB="1897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298463"/>
                  </a:ext>
                </a:extLst>
              </a:tr>
              <a:tr h="22315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1" kern="100" cap="none" spc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4. Ideate</a:t>
                      </a:r>
                      <a:endParaRPr lang="en-IN" sz="1800" b="1" kern="100" cap="none" spc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306" marR="164479" marT="107370" marB="1644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Brainstorm solutions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Explore different teaching methods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Generate learning ideas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Evaluate possible solutions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Select the best approach</a:t>
                      </a:r>
                      <a:endParaRPr lang="en-IN" sz="180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306" marR="164479" marT="107370" marB="1644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Conduct brainstorming sessions with team members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Suggest ideas like workshops, tutorials, and simple guides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Discuss interactive teaching methods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Select the best digital literacy training model</a:t>
                      </a:r>
                      <a:endParaRPr lang="en-IN" sz="180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306" marR="164479" marT="107370" marB="1644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406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8205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BE6CBE1-856A-7267-719C-D671195158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2210342"/>
              </p:ext>
            </p:extLst>
          </p:nvPr>
        </p:nvGraphicFramePr>
        <p:xfrm>
          <a:off x="891592" y="555538"/>
          <a:ext cx="10405766" cy="55995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96542">
                  <a:extLst>
                    <a:ext uri="{9D8B030D-6E8A-4147-A177-3AD203B41FA5}">
                      <a16:colId xmlns:a16="http://schemas.microsoft.com/office/drawing/2014/main" val="2989661513"/>
                    </a:ext>
                  </a:extLst>
                </a:gridCol>
                <a:gridCol w="4204415">
                  <a:extLst>
                    <a:ext uri="{9D8B030D-6E8A-4147-A177-3AD203B41FA5}">
                      <a16:colId xmlns:a16="http://schemas.microsoft.com/office/drawing/2014/main" val="4050539492"/>
                    </a:ext>
                  </a:extLst>
                </a:gridCol>
                <a:gridCol w="4504809">
                  <a:extLst>
                    <a:ext uri="{9D8B030D-6E8A-4147-A177-3AD203B41FA5}">
                      <a16:colId xmlns:a16="http://schemas.microsoft.com/office/drawing/2014/main" val="2989835753"/>
                    </a:ext>
                  </a:extLst>
                </a:gridCol>
              </a:tblGrid>
              <a:tr h="25627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5. Prototype</a:t>
                      </a:r>
                      <a:endParaRPr lang="en-IN" sz="1800" b="0" kern="10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45" marR="11534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Design training materials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Create learning modules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Prepare step-by-step guides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Develop sample workshops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Test prototype content</a:t>
                      </a:r>
                      <a:endParaRPr lang="en-IN" sz="18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45" marR="11534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Create presentations and printed guides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Develop simple tutorials for smartphone use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Design step-by-step instructions for apps and internet browsing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Prepare sample training sessions </a:t>
                      </a:r>
                      <a:endParaRPr lang="en-IN" sz="18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45" marR="11534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320586"/>
                  </a:ext>
                </a:extLst>
              </a:tr>
              <a:tr h="25627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6. Validation</a:t>
                      </a:r>
                      <a:endParaRPr lang="en-IN" sz="1800" b="0" kern="10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45" marR="11534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Conduct pilot training sessions • Observe user interaction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Collect participant feedback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Identify problems in training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Improve the model</a:t>
                      </a:r>
                      <a:endParaRPr lang="en-IN" sz="18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45" marR="11534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Organize a trial training session for a small group of seniors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Observe how they follow the instructions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Ask participants for suggestions and feedback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Identify unclear steps or difficulties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Modify the training materials accordingly</a:t>
                      </a:r>
                      <a:endParaRPr lang="en-IN" sz="18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45" marR="11534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5174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9678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8FD1E94-B12F-434F-8027-5DBEAC55A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BC8109F-B452-45EE-8BB3-65433C039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3E9E060-B94F-36CC-6866-D1C7663B9C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7820214"/>
              </p:ext>
            </p:extLst>
          </p:nvPr>
        </p:nvGraphicFramePr>
        <p:xfrm>
          <a:off x="836675" y="398155"/>
          <a:ext cx="10515601" cy="60560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86484">
                  <a:extLst>
                    <a:ext uri="{9D8B030D-6E8A-4147-A177-3AD203B41FA5}">
                      <a16:colId xmlns:a16="http://schemas.microsoft.com/office/drawing/2014/main" val="325622263"/>
                    </a:ext>
                  </a:extLst>
                </a:gridCol>
                <a:gridCol w="4130944">
                  <a:extLst>
                    <a:ext uri="{9D8B030D-6E8A-4147-A177-3AD203B41FA5}">
                      <a16:colId xmlns:a16="http://schemas.microsoft.com/office/drawing/2014/main" val="3599203259"/>
                    </a:ext>
                  </a:extLst>
                </a:gridCol>
                <a:gridCol w="4198173">
                  <a:extLst>
                    <a:ext uri="{9D8B030D-6E8A-4147-A177-3AD203B41FA5}">
                      <a16:colId xmlns:a16="http://schemas.microsoft.com/office/drawing/2014/main" val="664808615"/>
                    </a:ext>
                  </a:extLst>
                </a:gridCol>
              </a:tblGrid>
              <a:tr h="31198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7. Implementation</a:t>
                      </a:r>
                      <a:endParaRPr lang="en-IN" sz="18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703" marR="1117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Conduct full training program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Provide hands-on practice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Teach communication apps and online safety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Provide continuous guidance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Monitor participant progress</a:t>
                      </a:r>
                      <a:endParaRPr lang="en-IN" sz="18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703" marR="1117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Organize digital literacy workshops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Teach seniors how to use smartphones and internet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Demonstrate messaging, video calling, and online payments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Guide participants individually when needed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Track improvement in their digital skills</a:t>
                      </a:r>
                      <a:endParaRPr lang="en-IN" sz="18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703" marR="1117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987552"/>
                  </a:ext>
                </a:extLst>
              </a:tr>
              <a:tr h="24021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>
                          <a:solidFill>
                            <a:schemeClr val="tx1"/>
                          </a:solidFill>
                          <a:effectLst/>
                        </a:rPr>
                        <a:t>8. Report</a:t>
                      </a:r>
                      <a:endParaRPr lang="en-IN" sz="18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703" marR="1117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Document project process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Record findings and results •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GB" sz="1800" b="0" kern="100" dirty="0" err="1">
                          <a:solidFill>
                            <a:schemeClr val="tx1"/>
                          </a:solidFill>
                          <a:effectLst/>
                        </a:rPr>
                        <a:t>Analyze</a:t>
                      </a: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 project effectiveness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Provide recommendations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Prepare final report</a:t>
                      </a:r>
                      <a:endParaRPr lang="en-IN" sz="18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703" marR="1117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Compile all project activities and data • Summarize observations and outcomes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Evaluate how the project improved digital literacy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Suggest improvements for future programs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Submit the final capstone project report</a:t>
                      </a:r>
                      <a:endParaRPr lang="en-IN" sz="18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703" marR="1117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761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283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E188AC0-FCA4-D8EC-944B-70BDF6D9ED8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9FC046-FE6E-2E3F-8DE7-6976A19FC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458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Project Requirements</a:t>
            </a:r>
            <a:br>
              <a:rPr lang="en-US" b="1" dirty="0"/>
            </a:b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5F2D4E-9F00-A42F-2B95-A005541B58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424639"/>
              </p:ext>
            </p:extLst>
          </p:nvPr>
        </p:nvGraphicFramePr>
        <p:xfrm>
          <a:off x="838200" y="979714"/>
          <a:ext cx="10515600" cy="5693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56655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9F23E05-E5C5-497C-A842-7BD21B207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CF2B9D-C743-7E59-6184-7EE67CE44C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0435549"/>
              </p:ext>
            </p:extLst>
          </p:nvPr>
        </p:nvGraphicFramePr>
        <p:xfrm>
          <a:off x="838199" y="718457"/>
          <a:ext cx="9873343" cy="5408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3226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75349F-078A-AC9B-DC6E-E280994EB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anchor="ctr">
            <a:normAutofit/>
          </a:bodyPr>
          <a:lstStyle/>
          <a:p>
            <a:pPr algn="ctr"/>
            <a:r>
              <a:rPr lang="en-IN" sz="4000"/>
              <a:t>Technical Specifications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923E2-92DF-AC2F-CDBF-EC2716C6A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184" y="1459907"/>
            <a:ext cx="10175630" cy="49081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IN" sz="2000" dirty="0"/>
              <a:t> User Interface (UI) Specifications</a:t>
            </a:r>
          </a:p>
          <a:p>
            <a:pPr algn="ctr"/>
            <a:endParaRPr lang="en-IN" sz="2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719EF72-BBFB-7FEF-31B1-7EE842173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07738"/>
              </p:ext>
            </p:extLst>
          </p:nvPr>
        </p:nvGraphicFramePr>
        <p:xfrm>
          <a:off x="835154" y="2042160"/>
          <a:ext cx="10515595" cy="4009245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734956">
                  <a:extLst>
                    <a:ext uri="{9D8B030D-6E8A-4147-A177-3AD203B41FA5}">
                      <a16:colId xmlns:a16="http://schemas.microsoft.com/office/drawing/2014/main" val="3879042884"/>
                    </a:ext>
                  </a:extLst>
                </a:gridCol>
                <a:gridCol w="6780639">
                  <a:extLst>
                    <a:ext uri="{9D8B030D-6E8A-4147-A177-3AD203B41FA5}">
                      <a16:colId xmlns:a16="http://schemas.microsoft.com/office/drawing/2014/main" val="3341348916"/>
                    </a:ext>
                  </a:extLst>
                </a:gridCol>
              </a:tblGrid>
              <a:tr h="60738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</a:rPr>
                        <a:t>Feature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91431" marR="76193" marT="101590" marB="10159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</a:rPr>
                        <a:t>Specification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91431" marR="91431" marT="101590" marB="101590" anchor="ctr"/>
                </a:tc>
                <a:extLst>
                  <a:ext uri="{0D108BD9-81ED-4DB2-BD59-A6C34878D82A}">
                    <a16:rowId xmlns:a16="http://schemas.microsoft.com/office/drawing/2014/main" val="3187781185"/>
                  </a:ext>
                </a:extLst>
              </a:tr>
              <a:tr h="93148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Typography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91431" marR="76193" marT="101590" marB="10159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Minimum </a:t>
                      </a: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18pt font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 size; Sans-serif fonts (e.g., Arial, Roboto) for better legibility.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91431" marR="91431" marT="101590" marB="101590" anchor="ctr"/>
                </a:tc>
                <a:extLst>
                  <a:ext uri="{0D108BD9-81ED-4DB2-BD59-A6C34878D82A}">
                    <a16:rowId xmlns:a16="http://schemas.microsoft.com/office/drawing/2014/main" val="3544402426"/>
                  </a:ext>
                </a:extLst>
              </a:tr>
              <a:tr h="60738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Color Contrast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91431" marR="76193" marT="101590" marB="10159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Minimum contrast ratio of </a:t>
                      </a: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4.5:1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 for text and interactive elements.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91431" marR="91431" marT="101590" marB="101590" anchor="ctr"/>
                </a:tc>
                <a:extLst>
                  <a:ext uri="{0D108BD9-81ED-4DB2-BD59-A6C34878D82A}">
                    <a16:rowId xmlns:a16="http://schemas.microsoft.com/office/drawing/2014/main" val="1988397061"/>
                  </a:ext>
                </a:extLst>
              </a:tr>
              <a:tr h="93148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Touch Targets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91431" marR="76193" marT="101590" marB="10159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Buttons must be at least </a:t>
                      </a: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48x48 </a:t>
                      </a:r>
                      <a:r>
                        <a:rPr lang="en-US" sz="1800" b="1" dirty="0" err="1">
                          <a:solidFill>
                            <a:srgbClr val="1F1F1F"/>
                          </a:solidFill>
                          <a:effectLst/>
                        </a:rPr>
                        <a:t>dp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 to accommodate reduced manual dexterity.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91431" marR="91431" marT="101590" marB="101590" anchor="ctr"/>
                </a:tc>
                <a:extLst>
                  <a:ext uri="{0D108BD9-81ED-4DB2-BD59-A6C34878D82A}">
                    <a16:rowId xmlns:a16="http://schemas.microsoft.com/office/drawing/2014/main" val="2665433775"/>
                  </a:ext>
                </a:extLst>
              </a:tr>
              <a:tr h="93148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Visual Cues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91431" marR="76193" marT="101590" marB="10159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Avoid "hamburger menus"; use clearly labeled icons with text underneath (e.g., an icon of a house with the word "Home").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91431" marR="91431" marT="101590" marB="101590" anchor="ctr"/>
                </a:tc>
                <a:extLst>
                  <a:ext uri="{0D108BD9-81ED-4DB2-BD59-A6C34878D82A}">
                    <a16:rowId xmlns:a16="http://schemas.microsoft.com/office/drawing/2014/main" val="950121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1528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B94DE0-A943-2153-66C5-6D108901D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GB" sz="3600" b="1"/>
              <a:t>Solution Model / Outcome</a:t>
            </a:r>
            <a:br>
              <a:rPr lang="en-IN" sz="3600"/>
            </a:br>
            <a:endParaRPr lang="en-IN" sz="36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D71689-2A35-DF20-CAF6-0B8F4D600C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3844314"/>
              </p:ext>
            </p:extLst>
          </p:nvPr>
        </p:nvGraphicFramePr>
        <p:xfrm>
          <a:off x="838200" y="1295400"/>
          <a:ext cx="10515600" cy="5192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8668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F538CB-3F05-0760-E698-AA51AA74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 dirty="0"/>
              <a:t>Phase wise Planning</a:t>
            </a:r>
            <a:endParaRPr lang="en-IN" sz="52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1ABA18-A0D2-FBEF-CF4C-7579D15FA3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9428583"/>
              </p:ext>
            </p:extLst>
          </p:nvPr>
        </p:nvGraphicFramePr>
        <p:xfrm>
          <a:off x="304800" y="1615440"/>
          <a:ext cx="11470640" cy="4958080"/>
        </p:xfrm>
        <a:graphic>
          <a:graphicData uri="http://schemas.openxmlformats.org/drawingml/2006/table">
            <a:tbl>
              <a:tblPr firstRow="1" firstCol="1" bandRow="1">
                <a:tableStyleId>{16D9F66E-5EB9-4882-86FB-DCBF35E3C3E4}</a:tableStyleId>
              </a:tblPr>
              <a:tblGrid>
                <a:gridCol w="1727924">
                  <a:extLst>
                    <a:ext uri="{9D8B030D-6E8A-4147-A177-3AD203B41FA5}">
                      <a16:colId xmlns:a16="http://schemas.microsoft.com/office/drawing/2014/main" val="1183235603"/>
                    </a:ext>
                  </a:extLst>
                </a:gridCol>
                <a:gridCol w="2960402">
                  <a:extLst>
                    <a:ext uri="{9D8B030D-6E8A-4147-A177-3AD203B41FA5}">
                      <a16:colId xmlns:a16="http://schemas.microsoft.com/office/drawing/2014/main" val="542667095"/>
                    </a:ext>
                  </a:extLst>
                </a:gridCol>
                <a:gridCol w="3420283">
                  <a:extLst>
                    <a:ext uri="{9D8B030D-6E8A-4147-A177-3AD203B41FA5}">
                      <a16:colId xmlns:a16="http://schemas.microsoft.com/office/drawing/2014/main" val="1083623954"/>
                    </a:ext>
                  </a:extLst>
                </a:gridCol>
                <a:gridCol w="3362031">
                  <a:extLst>
                    <a:ext uri="{9D8B030D-6E8A-4147-A177-3AD203B41FA5}">
                      <a16:colId xmlns:a16="http://schemas.microsoft.com/office/drawing/2014/main" val="2522431987"/>
                    </a:ext>
                  </a:extLst>
                </a:gridCol>
              </a:tblGrid>
              <a:tr h="4552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Stage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Tools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Outcome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 dirty="0">
                          <a:effectLst/>
                        </a:rPr>
                        <a:t>Metrics / Rubrics</a:t>
                      </a: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  <a:extLst>
                  <a:ext uri="{0D108BD9-81ED-4DB2-BD59-A6C34878D82A}">
                    <a16:rowId xmlns:a16="http://schemas.microsoft.com/office/drawing/2014/main" val="3523614186"/>
                  </a:ext>
                </a:extLst>
              </a:tr>
              <a:tr h="12395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Scope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Project proposal, planning documents, timeline charts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 dirty="0">
                          <a:effectLst/>
                        </a:rPr>
                        <a:t>Clear understanding of project goals, scope, and target group</a:t>
                      </a: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Defined objectives, approved project plan, clear timeline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  <a:extLst>
                  <a:ext uri="{0D108BD9-81ED-4DB2-BD59-A6C34878D82A}">
                    <a16:rowId xmlns:a16="http://schemas.microsoft.com/office/drawing/2014/main" val="124813496"/>
                  </a:ext>
                </a:extLst>
              </a:tr>
              <a:tr h="20237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 dirty="0">
                          <a:effectLst/>
                        </a:rPr>
                        <a:t>Empathize</a:t>
                      </a: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Surveys, interviews, observation sheets, questionnaires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Understanding the needs, challenges, and experiences of senior citizens with digital technology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Number of surveys conducted, quality of user insights, identification of key user needs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  <a:extLst>
                  <a:ext uri="{0D108BD9-81ED-4DB2-BD59-A6C34878D82A}">
                    <a16:rowId xmlns:a16="http://schemas.microsoft.com/office/drawing/2014/main" val="4122417194"/>
                  </a:ext>
                </a:extLst>
              </a:tr>
              <a:tr h="12395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Define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Data analysis tools, notes, problem statement templates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Clear problem statement and defined project objectives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 dirty="0">
                          <a:effectLst/>
                        </a:rPr>
                        <a:t>Well-defined problem statement, list of major challenges identified</a:t>
                      </a: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  <a:extLst>
                  <a:ext uri="{0D108BD9-81ED-4DB2-BD59-A6C34878D82A}">
                    <a16:rowId xmlns:a16="http://schemas.microsoft.com/office/drawing/2014/main" val="2504962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9002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BEE654-0A34-E9E6-C879-F333EE1DE6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9096751"/>
              </p:ext>
            </p:extLst>
          </p:nvPr>
        </p:nvGraphicFramePr>
        <p:xfrm>
          <a:off x="836674" y="719393"/>
          <a:ext cx="10515601" cy="5240186"/>
        </p:xfrm>
        <a:graphic>
          <a:graphicData uri="http://schemas.openxmlformats.org/drawingml/2006/table">
            <a:tbl>
              <a:tblPr firstRow="1" firstCol="1" bandRow="1">
                <a:tableStyleId>{E8B1032C-EA38-4F05-BA0D-38AFFFC7BED3}</a:tableStyleId>
              </a:tblPr>
              <a:tblGrid>
                <a:gridCol w="1444010">
                  <a:extLst>
                    <a:ext uri="{9D8B030D-6E8A-4147-A177-3AD203B41FA5}">
                      <a16:colId xmlns:a16="http://schemas.microsoft.com/office/drawing/2014/main" val="151391845"/>
                    </a:ext>
                  </a:extLst>
                </a:gridCol>
                <a:gridCol w="2968368">
                  <a:extLst>
                    <a:ext uri="{9D8B030D-6E8A-4147-A177-3AD203B41FA5}">
                      <a16:colId xmlns:a16="http://schemas.microsoft.com/office/drawing/2014/main" val="3749936095"/>
                    </a:ext>
                  </a:extLst>
                </a:gridCol>
                <a:gridCol w="3020225">
                  <a:extLst>
                    <a:ext uri="{9D8B030D-6E8A-4147-A177-3AD203B41FA5}">
                      <a16:colId xmlns:a16="http://schemas.microsoft.com/office/drawing/2014/main" val="3845072406"/>
                    </a:ext>
                  </a:extLst>
                </a:gridCol>
                <a:gridCol w="3082998">
                  <a:extLst>
                    <a:ext uri="{9D8B030D-6E8A-4147-A177-3AD203B41FA5}">
                      <a16:colId xmlns:a16="http://schemas.microsoft.com/office/drawing/2014/main" val="1885391670"/>
                    </a:ext>
                  </a:extLst>
                </a:gridCol>
              </a:tblGrid>
              <a:tr h="12833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Ideate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 dirty="0">
                          <a:effectLst/>
                        </a:rPr>
                        <a:t>Brainstorming sessions, mind maps, discussion boards</a:t>
                      </a: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Generation of innovative ideas and possible solutions for digital literacy training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 dirty="0">
                          <a:effectLst/>
                        </a:rPr>
                        <a:t>Number of ideas generated, feasibility of selected solution</a:t>
                      </a: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extLst>
                  <a:ext uri="{0D108BD9-81ED-4DB2-BD59-A6C34878D82A}">
                    <a16:rowId xmlns:a16="http://schemas.microsoft.com/office/drawing/2014/main" val="1482758398"/>
                  </a:ext>
                </a:extLst>
              </a:tr>
              <a:tr h="12833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Conversational AI Learning Assistants - </a:t>
                      </a:r>
                      <a:r>
                        <a:rPr lang="en-US" sz="2000" b="1" dirty="0"/>
                        <a:t>ChatGPT</a:t>
                      </a:r>
                      <a:endParaRPr lang="en-IN" sz="2000" b="1" dirty="0"/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Seniors can use it to:</a:t>
                      </a:r>
                      <a:endParaRPr lang="en-IN" sz="2000" dirty="0"/>
                    </a:p>
                    <a:p>
                      <a:r>
                        <a:rPr lang="en-US" sz="2000" dirty="0"/>
                        <a:t>Learn how to use smartphones</a:t>
                      </a:r>
                      <a:endParaRPr lang="en-IN" sz="2000" dirty="0"/>
                    </a:p>
                    <a:p>
                      <a:r>
                        <a:rPr lang="en-US" sz="2000" dirty="0"/>
                        <a:t>Write emails or messages</a:t>
                      </a:r>
                      <a:endParaRPr lang="en-IN" sz="2000" dirty="0"/>
                    </a:p>
                    <a:p>
                      <a:r>
                        <a:rPr lang="en-US" sz="2000" dirty="0"/>
                        <a:t>Get step-by-step instructions for digital tasks.</a:t>
                      </a:r>
                      <a:endParaRPr lang="en-IN" sz="2000" dirty="0"/>
                    </a:p>
                    <a:p>
                      <a:r>
                        <a:rPr lang="en-US" sz="2000" dirty="0"/>
                        <a:t>It works like a </a:t>
                      </a:r>
                      <a:r>
                        <a:rPr lang="en-US" sz="2000" b="1" dirty="0"/>
                        <a:t>personal digital tutor</a:t>
                      </a:r>
                      <a:r>
                        <a:rPr lang="en-US" sz="2000" dirty="0"/>
                        <a:t> that responds to natural conversation. </a:t>
                      </a:r>
                      <a:endParaRPr lang="en-IN" sz="2000" dirty="0"/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extLst>
                  <a:ext uri="{0D108BD9-81ED-4DB2-BD59-A6C34878D82A}">
                    <a16:rowId xmlns:a16="http://schemas.microsoft.com/office/drawing/2014/main" val="1034291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27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1FA1B6-E160-3EE3-F9BC-9B35018E8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37E346E-FB24-C7A5-D3E9-97FEF671D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027A0D0-63CA-9E3D-7EE2-E0DF74091F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9794688"/>
              </p:ext>
            </p:extLst>
          </p:nvPr>
        </p:nvGraphicFramePr>
        <p:xfrm>
          <a:off x="836674" y="719393"/>
          <a:ext cx="10515601" cy="5849786"/>
        </p:xfrm>
        <a:graphic>
          <a:graphicData uri="http://schemas.openxmlformats.org/drawingml/2006/table">
            <a:tbl>
              <a:tblPr firstRow="1" firstCol="1" bandRow="1">
                <a:tableStyleId>{E8B1032C-EA38-4F05-BA0D-38AFFFC7BED3}</a:tableStyleId>
              </a:tblPr>
              <a:tblGrid>
                <a:gridCol w="1444010">
                  <a:extLst>
                    <a:ext uri="{9D8B030D-6E8A-4147-A177-3AD203B41FA5}">
                      <a16:colId xmlns:a16="http://schemas.microsoft.com/office/drawing/2014/main" val="151391845"/>
                    </a:ext>
                  </a:extLst>
                </a:gridCol>
                <a:gridCol w="2968368">
                  <a:extLst>
                    <a:ext uri="{9D8B030D-6E8A-4147-A177-3AD203B41FA5}">
                      <a16:colId xmlns:a16="http://schemas.microsoft.com/office/drawing/2014/main" val="3749936095"/>
                    </a:ext>
                  </a:extLst>
                </a:gridCol>
                <a:gridCol w="3020225">
                  <a:extLst>
                    <a:ext uri="{9D8B030D-6E8A-4147-A177-3AD203B41FA5}">
                      <a16:colId xmlns:a16="http://schemas.microsoft.com/office/drawing/2014/main" val="3845072406"/>
                    </a:ext>
                  </a:extLst>
                </a:gridCol>
                <a:gridCol w="3082998">
                  <a:extLst>
                    <a:ext uri="{9D8B030D-6E8A-4147-A177-3AD203B41FA5}">
                      <a16:colId xmlns:a16="http://schemas.microsoft.com/office/drawing/2014/main" val="1885391670"/>
                    </a:ext>
                  </a:extLst>
                </a:gridCol>
              </a:tblGrid>
              <a:tr h="12833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Ideate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dirty="0"/>
                        <a:t>AI Voice Assistants for Hands-Free Learning</a:t>
                      </a:r>
                      <a:endParaRPr lang="en-GB" sz="1900" kern="100" dirty="0">
                        <a:effectLst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extLst>
                  <a:ext uri="{0D108BD9-81ED-4DB2-BD59-A6C34878D82A}">
                    <a16:rowId xmlns:a16="http://schemas.microsoft.com/office/drawing/2014/main" val="1482758398"/>
                  </a:ext>
                </a:extLst>
              </a:tr>
              <a:tr h="12833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Amazon Alexa</a:t>
                      </a:r>
                      <a:endParaRPr lang="en-IN" sz="2000" b="1" dirty="0"/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Voice-controlled assistant that helps seniors perform tasks such as:</a:t>
                      </a:r>
                      <a:endParaRPr lang="en-IN" sz="2000" dirty="0"/>
                    </a:p>
                    <a:p>
                      <a:r>
                        <a:rPr lang="en-US" sz="2000" dirty="0"/>
                        <a:t>Setting reminders</a:t>
                      </a:r>
                      <a:endParaRPr lang="en-IN" sz="2000" dirty="0"/>
                    </a:p>
                    <a:p>
                      <a:r>
                        <a:rPr lang="en-US" sz="2000" dirty="0"/>
                        <a:t>Making video calls</a:t>
                      </a:r>
                      <a:endParaRPr lang="en-IN" sz="2000" dirty="0"/>
                    </a:p>
                    <a:p>
                      <a:r>
                        <a:rPr lang="en-US" sz="2000" dirty="0"/>
                        <a:t>Asking questions and learning new information.</a:t>
                      </a:r>
                      <a:endParaRPr lang="en-IN" sz="2000" dirty="0"/>
                    </a:p>
                    <a:p>
                      <a:r>
                        <a:rPr lang="en-US" sz="2000" dirty="0"/>
                        <a:t>Voice interaction makes technology easier for seniors who struggle with typing or reading small screens. </a:t>
                      </a:r>
                      <a:endParaRPr lang="en-IN" sz="2000" dirty="0"/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extLst>
                  <a:ext uri="{0D108BD9-81ED-4DB2-BD59-A6C34878D82A}">
                    <a16:rowId xmlns:a16="http://schemas.microsoft.com/office/drawing/2014/main" val="1034291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6643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AB16C0-25FF-D70A-FDC3-48D5A4805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796E7A-C5B7-B7BB-062C-5AC6EA2FD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9CA557-7F36-F3C6-95BF-156631A586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1327419"/>
              </p:ext>
            </p:extLst>
          </p:nvPr>
        </p:nvGraphicFramePr>
        <p:xfrm>
          <a:off x="836674" y="719393"/>
          <a:ext cx="10515601" cy="5536312"/>
        </p:xfrm>
        <a:graphic>
          <a:graphicData uri="http://schemas.openxmlformats.org/drawingml/2006/table">
            <a:tbl>
              <a:tblPr firstRow="1" firstCol="1" bandRow="1">
                <a:tableStyleId>{E8B1032C-EA38-4F05-BA0D-38AFFFC7BED3}</a:tableStyleId>
              </a:tblPr>
              <a:tblGrid>
                <a:gridCol w="1444010">
                  <a:extLst>
                    <a:ext uri="{9D8B030D-6E8A-4147-A177-3AD203B41FA5}">
                      <a16:colId xmlns:a16="http://schemas.microsoft.com/office/drawing/2014/main" val="151391845"/>
                    </a:ext>
                  </a:extLst>
                </a:gridCol>
                <a:gridCol w="2968368">
                  <a:extLst>
                    <a:ext uri="{9D8B030D-6E8A-4147-A177-3AD203B41FA5}">
                      <a16:colId xmlns:a16="http://schemas.microsoft.com/office/drawing/2014/main" val="3749936095"/>
                    </a:ext>
                  </a:extLst>
                </a:gridCol>
                <a:gridCol w="3020225">
                  <a:extLst>
                    <a:ext uri="{9D8B030D-6E8A-4147-A177-3AD203B41FA5}">
                      <a16:colId xmlns:a16="http://schemas.microsoft.com/office/drawing/2014/main" val="3845072406"/>
                    </a:ext>
                  </a:extLst>
                </a:gridCol>
                <a:gridCol w="3082998">
                  <a:extLst>
                    <a:ext uri="{9D8B030D-6E8A-4147-A177-3AD203B41FA5}">
                      <a16:colId xmlns:a16="http://schemas.microsoft.com/office/drawing/2014/main" val="1885391670"/>
                    </a:ext>
                  </a:extLst>
                </a:gridCol>
              </a:tblGrid>
              <a:tr h="12833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Ideate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Perplexity AI</a:t>
                      </a:r>
                      <a:endParaRPr lang="en-IN" sz="2000" b="1" dirty="0"/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900" kern="100" dirty="0">
                        <a:effectLst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AI research assistant that searches the internet and summarizes information.</a:t>
                      </a:r>
                      <a:endParaRPr lang="en-IN" sz="2000" dirty="0"/>
                    </a:p>
                    <a:p>
                      <a:r>
                        <a:rPr lang="en-US" sz="2000" dirty="0"/>
                        <a:t>Helpful for seniors learning how to </a:t>
                      </a:r>
                      <a:r>
                        <a:rPr lang="en-US" sz="2000" b="1" dirty="0"/>
                        <a:t>find reliable online information</a:t>
                      </a:r>
                      <a:r>
                        <a:rPr lang="en-US" sz="2000" dirty="0"/>
                        <a:t>.</a:t>
                      </a:r>
                      <a:endParaRPr lang="en-IN" sz="2000" dirty="0"/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extLst>
                  <a:ext uri="{0D108BD9-81ED-4DB2-BD59-A6C34878D82A}">
                    <a16:rowId xmlns:a16="http://schemas.microsoft.com/office/drawing/2014/main" val="1482758398"/>
                  </a:ext>
                </a:extLst>
              </a:tr>
              <a:tr h="12833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AI Companion Tools for Learning and Engagement - </a:t>
                      </a:r>
                    </a:p>
                    <a:p>
                      <a:r>
                        <a:rPr lang="en-US" sz="2000" b="1" dirty="0" err="1"/>
                        <a:t>Replika</a:t>
                      </a:r>
                      <a:endParaRPr lang="en-IN" sz="20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000" b="1" dirty="0"/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AI chatbot designed for conversation and companionship.</a:t>
                      </a:r>
                      <a:endParaRPr lang="en-IN" sz="1800" dirty="0"/>
                    </a:p>
                    <a:p>
                      <a:r>
                        <a:rPr lang="en-US" sz="1800" dirty="0"/>
                        <a:t>Helps seniors practice </a:t>
                      </a:r>
                      <a:r>
                        <a:rPr lang="en-US" sz="1800" b="1" dirty="0"/>
                        <a:t>digital communication skills</a:t>
                      </a:r>
                      <a:r>
                        <a:rPr lang="en-US" sz="1800" dirty="0"/>
                        <a:t> and become comfortable interacting with AI systems. </a:t>
                      </a:r>
                      <a:endParaRPr lang="en-IN" sz="1800" dirty="0"/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extLst>
                  <a:ext uri="{0D108BD9-81ED-4DB2-BD59-A6C34878D82A}">
                    <a16:rowId xmlns:a16="http://schemas.microsoft.com/office/drawing/2014/main" val="1034291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5165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AE9DC6-EDE1-2DDD-B590-5DE51905F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8E25D6-F023-B86A-11DC-D7D61B441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CEBA675-68EA-069A-2F73-1E6549FAD0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0396435"/>
              </p:ext>
            </p:extLst>
          </p:nvPr>
        </p:nvGraphicFramePr>
        <p:xfrm>
          <a:off x="838200" y="903513"/>
          <a:ext cx="10515601" cy="4082142"/>
        </p:xfrm>
        <a:graphic>
          <a:graphicData uri="http://schemas.openxmlformats.org/drawingml/2006/table">
            <a:tbl>
              <a:tblPr firstRow="1" firstCol="1" bandRow="1">
                <a:tableStyleId>{E8B1032C-EA38-4F05-BA0D-38AFFFC7BED3}</a:tableStyleId>
              </a:tblPr>
              <a:tblGrid>
                <a:gridCol w="1444010">
                  <a:extLst>
                    <a:ext uri="{9D8B030D-6E8A-4147-A177-3AD203B41FA5}">
                      <a16:colId xmlns:a16="http://schemas.microsoft.com/office/drawing/2014/main" val="151391845"/>
                    </a:ext>
                  </a:extLst>
                </a:gridCol>
                <a:gridCol w="2968368">
                  <a:extLst>
                    <a:ext uri="{9D8B030D-6E8A-4147-A177-3AD203B41FA5}">
                      <a16:colId xmlns:a16="http://schemas.microsoft.com/office/drawing/2014/main" val="3749936095"/>
                    </a:ext>
                  </a:extLst>
                </a:gridCol>
                <a:gridCol w="3020225">
                  <a:extLst>
                    <a:ext uri="{9D8B030D-6E8A-4147-A177-3AD203B41FA5}">
                      <a16:colId xmlns:a16="http://schemas.microsoft.com/office/drawing/2014/main" val="3845072406"/>
                    </a:ext>
                  </a:extLst>
                </a:gridCol>
                <a:gridCol w="3082998">
                  <a:extLst>
                    <a:ext uri="{9D8B030D-6E8A-4147-A177-3AD203B41FA5}">
                      <a16:colId xmlns:a16="http://schemas.microsoft.com/office/drawing/2014/main" val="1885391670"/>
                    </a:ext>
                  </a:extLst>
                </a:gridCol>
              </a:tblGrid>
              <a:tr h="204107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Prototype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 dirty="0">
                          <a:effectLst/>
                        </a:rPr>
                        <a:t>Training materials, presentations, user guides, demonstration videos</a:t>
                      </a: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Development of sample digital literacy training modules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 dirty="0">
                          <a:effectLst/>
                        </a:rPr>
                        <a:t>Quality and usability of training materials, readiness of prototype session</a:t>
                      </a: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extLst>
                  <a:ext uri="{0D108BD9-81ED-4DB2-BD59-A6C34878D82A}">
                    <a16:rowId xmlns:a16="http://schemas.microsoft.com/office/drawing/2014/main" val="1034291660"/>
                  </a:ext>
                </a:extLst>
              </a:tr>
              <a:tr h="204107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Validation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Pilot workshops, feedback forms, observation checklists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Evaluation of prototype effectiveness through participant feedback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 dirty="0">
                          <a:effectLst/>
                        </a:rPr>
                        <a:t>Participant satisfaction, clarity of training content, number of improvements identified</a:t>
                      </a: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extLst>
                  <a:ext uri="{0D108BD9-81ED-4DB2-BD59-A6C34878D82A}">
                    <a16:rowId xmlns:a16="http://schemas.microsoft.com/office/drawing/2014/main" val="361221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2328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B6E1C6F-743E-359B-9B6C-67F1917112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7826649"/>
              </p:ext>
            </p:extLst>
          </p:nvPr>
        </p:nvGraphicFramePr>
        <p:xfrm>
          <a:off x="729343" y="358392"/>
          <a:ext cx="10515602" cy="6141216"/>
        </p:xfrm>
        <a:graphic>
          <a:graphicData uri="http://schemas.openxmlformats.org/drawingml/2006/table">
            <a:tbl>
              <a:tblPr firstRow="1" firstCol="1" bandRow="1">
                <a:tableStyleId>{E8B1032C-EA38-4F05-BA0D-38AFFFC7BED3}</a:tableStyleId>
              </a:tblPr>
              <a:tblGrid>
                <a:gridCol w="2174340">
                  <a:extLst>
                    <a:ext uri="{9D8B030D-6E8A-4147-A177-3AD203B41FA5}">
                      <a16:colId xmlns:a16="http://schemas.microsoft.com/office/drawing/2014/main" val="1114605771"/>
                    </a:ext>
                  </a:extLst>
                </a:gridCol>
                <a:gridCol w="2868525">
                  <a:extLst>
                    <a:ext uri="{9D8B030D-6E8A-4147-A177-3AD203B41FA5}">
                      <a16:colId xmlns:a16="http://schemas.microsoft.com/office/drawing/2014/main" val="1503340772"/>
                    </a:ext>
                  </a:extLst>
                </a:gridCol>
                <a:gridCol w="2798816">
                  <a:extLst>
                    <a:ext uri="{9D8B030D-6E8A-4147-A177-3AD203B41FA5}">
                      <a16:colId xmlns:a16="http://schemas.microsoft.com/office/drawing/2014/main" val="2140244381"/>
                    </a:ext>
                  </a:extLst>
                </a:gridCol>
                <a:gridCol w="2673921">
                  <a:extLst>
                    <a:ext uri="{9D8B030D-6E8A-4147-A177-3AD203B41FA5}">
                      <a16:colId xmlns:a16="http://schemas.microsoft.com/office/drawing/2014/main" val="664560176"/>
                    </a:ext>
                  </a:extLst>
                </a:gridCol>
              </a:tblGrid>
              <a:tr h="16939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Implementation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476" marR="1254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Smartphones, computers, internet connection, training sessions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476" marR="1254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Successful delivery of digital literacy program to senior citizens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476" marR="1254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Number of participants trained, improvement in digital skills, engagement level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476" marR="125476" marT="0" marB="0"/>
                </a:tc>
                <a:extLst>
                  <a:ext uri="{0D108BD9-81ED-4DB2-BD59-A6C34878D82A}">
                    <a16:rowId xmlns:a16="http://schemas.microsoft.com/office/drawing/2014/main" val="163545697"/>
                  </a:ext>
                </a:extLst>
              </a:tr>
              <a:tr h="16939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Report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476" marR="1254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Documentation tools, report templates, presentation software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476" marR="1254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Final project report summarizing process, results, and recommendations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476" marR="1254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Completeness of report, clarity of findings, quality of conclusions and recommendations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476" marR="125476" marT="0" marB="0"/>
                </a:tc>
                <a:extLst>
                  <a:ext uri="{0D108BD9-81ED-4DB2-BD59-A6C34878D82A}">
                    <a16:rowId xmlns:a16="http://schemas.microsoft.com/office/drawing/2014/main" val="2664895906"/>
                  </a:ext>
                </a:extLst>
              </a:tr>
              <a:tr h="16939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476" marR="125476" marT="0" marB="0"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AI Tools for Learning Content Creation</a:t>
                      </a:r>
                      <a:endParaRPr lang="en-IN" sz="2000" b="1" dirty="0"/>
                    </a:p>
                    <a:p>
                      <a:r>
                        <a:rPr lang="en-US" sz="2000" dirty="0"/>
                        <a:t>These tools help educators create </a:t>
                      </a:r>
                      <a:r>
                        <a:rPr lang="en-US" sz="2000" b="1" dirty="0"/>
                        <a:t>simple training materials for seniors</a:t>
                      </a:r>
                      <a:r>
                        <a:rPr lang="en-US" sz="2000" dirty="0"/>
                        <a:t>.</a:t>
                      </a:r>
                      <a:endParaRPr lang="en-IN" sz="2000" dirty="0"/>
                    </a:p>
                    <a:p>
                      <a:r>
                        <a:rPr lang="en-US" sz="2000" b="1" dirty="0"/>
                        <a:t>Canva (Magic Write)</a:t>
                      </a:r>
                      <a:endParaRPr lang="en-IN" sz="2000" b="1" dirty="0"/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476" marR="125476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AI feature that generates:</a:t>
                      </a:r>
                      <a:endParaRPr lang="en-IN" sz="2000" dirty="0"/>
                    </a:p>
                    <a:p>
                      <a:r>
                        <a:rPr lang="en-US" sz="2000" dirty="0"/>
                        <a:t>presentations</a:t>
                      </a:r>
                      <a:endParaRPr lang="en-IN" sz="2000" dirty="0"/>
                    </a:p>
                    <a:p>
                      <a:r>
                        <a:rPr lang="en-US" sz="2000" dirty="0"/>
                        <a:t>infographics</a:t>
                      </a:r>
                      <a:endParaRPr lang="en-IN" sz="2000" dirty="0"/>
                    </a:p>
                    <a:p>
                      <a:r>
                        <a:rPr lang="en-US" sz="2000" dirty="0"/>
                        <a:t>visual guides.</a:t>
                      </a:r>
                      <a:endParaRPr lang="en-IN" sz="2000" dirty="0"/>
                    </a:p>
                    <a:p>
                      <a:r>
                        <a:rPr lang="en-US" sz="2000" dirty="0"/>
                        <a:t>Useful for creating </a:t>
                      </a:r>
                      <a:r>
                        <a:rPr lang="en-US" sz="2000" b="1" dirty="0"/>
                        <a:t>step-by-step visual instructions</a:t>
                      </a:r>
                      <a:endParaRPr lang="en-IN" sz="2000" dirty="0"/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476" marR="1254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476" marR="125476" marT="0" marB="0"/>
                </a:tc>
                <a:extLst>
                  <a:ext uri="{0D108BD9-81ED-4DB2-BD59-A6C34878D82A}">
                    <a16:rowId xmlns:a16="http://schemas.microsoft.com/office/drawing/2014/main" val="2676054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40189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9A320C9-9735-4D13-8279-C1C674841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2544CF4-9B52-4A7B-A4B3-88C72729B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7126"/>
            <a:ext cx="11167447" cy="2018806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75862C5-5C00-4421-BC7B-9B7B86DBC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77906A-8CC1-741A-EE9E-E4A6D1BBF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665" y="148739"/>
            <a:ext cx="10168128" cy="704088"/>
          </a:xfrm>
        </p:spPr>
        <p:txBody>
          <a:bodyPr>
            <a:normAutofit/>
          </a:bodyPr>
          <a:lstStyle/>
          <a:p>
            <a:r>
              <a:rPr lang="en-US" sz="4000" dirty="0"/>
              <a:t>Timeline</a:t>
            </a:r>
            <a:endParaRPr lang="en-IN" sz="4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440EF-9BE9-4AE9-8C28-00B02296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A1B414-1D60-D015-A0FC-5DFB51AFCE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0095769"/>
              </p:ext>
            </p:extLst>
          </p:nvPr>
        </p:nvGraphicFramePr>
        <p:xfrm>
          <a:off x="626850" y="852827"/>
          <a:ext cx="11167445" cy="5837609"/>
        </p:xfrm>
        <a:graphic>
          <a:graphicData uri="http://schemas.openxmlformats.org/drawingml/2006/table">
            <a:tbl>
              <a:tblPr firstRow="1" firstCol="1" bandRow="1">
                <a:tableStyleId>{5A111915-BE36-4E01-A7E5-04B1672EAD32}</a:tableStyleId>
              </a:tblPr>
              <a:tblGrid>
                <a:gridCol w="1069503">
                  <a:extLst>
                    <a:ext uri="{9D8B030D-6E8A-4147-A177-3AD203B41FA5}">
                      <a16:colId xmlns:a16="http://schemas.microsoft.com/office/drawing/2014/main" val="563081914"/>
                    </a:ext>
                  </a:extLst>
                </a:gridCol>
                <a:gridCol w="3287576">
                  <a:extLst>
                    <a:ext uri="{9D8B030D-6E8A-4147-A177-3AD203B41FA5}">
                      <a16:colId xmlns:a16="http://schemas.microsoft.com/office/drawing/2014/main" val="4060429968"/>
                    </a:ext>
                  </a:extLst>
                </a:gridCol>
                <a:gridCol w="3405183">
                  <a:extLst>
                    <a:ext uri="{9D8B030D-6E8A-4147-A177-3AD203B41FA5}">
                      <a16:colId xmlns:a16="http://schemas.microsoft.com/office/drawing/2014/main" val="2783055392"/>
                    </a:ext>
                  </a:extLst>
                </a:gridCol>
                <a:gridCol w="3405183">
                  <a:extLst>
                    <a:ext uri="{9D8B030D-6E8A-4147-A177-3AD203B41FA5}">
                      <a16:colId xmlns:a16="http://schemas.microsoft.com/office/drawing/2014/main" val="3478947907"/>
                    </a:ext>
                  </a:extLst>
                </a:gridCol>
              </a:tblGrid>
              <a:tr h="42877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Week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Phase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Activities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Expected Outcome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4677544"/>
                  </a:ext>
                </a:extLst>
              </a:tr>
              <a:tr h="150760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Week 1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Project Introduction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Introduce capstone objectives, form student groups, finalize project topic, assign roles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Finalized project title and team responsibilities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4329354"/>
                  </a:ext>
                </a:extLst>
              </a:tr>
              <a:tr h="150760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Week 2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Literature Review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Review research papers, reports on digital literacy, understand digital divide among seniors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Literature review summary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4992654"/>
                  </a:ext>
                </a:extLst>
              </a:tr>
              <a:tr h="119681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Week 3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Problem Identification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Identify common digital challenges faced by senior citizens, define target group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Initial problem statement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031975"/>
                  </a:ext>
                </a:extLst>
              </a:tr>
              <a:tr h="119681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Week 4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Empathy Stage – Survey Design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Prepare questionnaires and interview questions, plan survey methodology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Finalized survey tools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3903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107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C5522B9-9292-362B-7BE4-60217A2F83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0071971"/>
              </p:ext>
            </p:extLst>
          </p:nvPr>
        </p:nvGraphicFramePr>
        <p:xfrm>
          <a:off x="653143" y="740229"/>
          <a:ext cx="10722427" cy="5441118"/>
        </p:xfrm>
        <a:graphic>
          <a:graphicData uri="http://schemas.openxmlformats.org/drawingml/2006/table">
            <a:tbl>
              <a:tblPr firstRow="1" firstCol="1" bandRow="1">
                <a:tableStyleId>{BDBED569-4797-4DF1-A0F4-6AAB3CD982D8}</a:tableStyleId>
              </a:tblPr>
              <a:tblGrid>
                <a:gridCol w="1129351">
                  <a:extLst>
                    <a:ext uri="{9D8B030D-6E8A-4147-A177-3AD203B41FA5}">
                      <a16:colId xmlns:a16="http://schemas.microsoft.com/office/drawing/2014/main" val="3017038664"/>
                    </a:ext>
                  </a:extLst>
                </a:gridCol>
                <a:gridCol w="3122860">
                  <a:extLst>
                    <a:ext uri="{9D8B030D-6E8A-4147-A177-3AD203B41FA5}">
                      <a16:colId xmlns:a16="http://schemas.microsoft.com/office/drawing/2014/main" val="1245697098"/>
                    </a:ext>
                  </a:extLst>
                </a:gridCol>
                <a:gridCol w="3235108">
                  <a:extLst>
                    <a:ext uri="{9D8B030D-6E8A-4147-A177-3AD203B41FA5}">
                      <a16:colId xmlns:a16="http://schemas.microsoft.com/office/drawing/2014/main" val="4017877185"/>
                    </a:ext>
                  </a:extLst>
                </a:gridCol>
                <a:gridCol w="3235108">
                  <a:extLst>
                    <a:ext uri="{9D8B030D-6E8A-4147-A177-3AD203B41FA5}">
                      <a16:colId xmlns:a16="http://schemas.microsoft.com/office/drawing/2014/main" val="3235334491"/>
                    </a:ext>
                  </a:extLst>
                </a:gridCol>
              </a:tblGrid>
              <a:tr h="153596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Week 5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Empathy Stage – Data Collection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Conduct surveys and interviews with senior citizens, observe device usage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Raw data and interview insights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extLst>
                  <a:ext uri="{0D108BD9-81ED-4DB2-BD59-A6C34878D82A}">
                    <a16:rowId xmlns:a16="http://schemas.microsoft.com/office/drawing/2014/main" val="3367555825"/>
                  </a:ext>
                </a:extLst>
              </a:tr>
              <a:tr h="78972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Week 6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Data Analysis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Analyze responses, identify major digital literacy gaps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Needs assessment report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extLst>
                  <a:ext uri="{0D108BD9-81ED-4DB2-BD59-A6C34878D82A}">
                    <a16:rowId xmlns:a16="http://schemas.microsoft.com/office/drawing/2014/main" val="3423597856"/>
                  </a:ext>
                </a:extLst>
              </a:tr>
              <a:tr h="116284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Week 7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Define Stage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Develop clear problem statement and define project scope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Defined project objectives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extLst>
                  <a:ext uri="{0D108BD9-81ED-4DB2-BD59-A6C34878D82A}">
                    <a16:rowId xmlns:a16="http://schemas.microsoft.com/office/drawing/2014/main" val="2599586532"/>
                  </a:ext>
                </a:extLst>
              </a:tr>
              <a:tr h="116284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Week 8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Ideation Stage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Brainstorm innovative solutions and training methods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List of potential solutions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extLst>
                  <a:ext uri="{0D108BD9-81ED-4DB2-BD59-A6C34878D82A}">
                    <a16:rowId xmlns:a16="http://schemas.microsoft.com/office/drawing/2014/main" val="1879971870"/>
                  </a:ext>
                </a:extLst>
              </a:tr>
              <a:tr h="78972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Week 9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Solution Selection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Evaluate ideas based on feasibility and effectiveness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Selected digital literacy training model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extLst>
                  <a:ext uri="{0D108BD9-81ED-4DB2-BD59-A6C34878D82A}">
                    <a16:rowId xmlns:a16="http://schemas.microsoft.com/office/drawing/2014/main" val="521685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27649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0926AD-8517-4691-A948-A6D390F11B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1863994"/>
              </p:ext>
            </p:extLst>
          </p:nvPr>
        </p:nvGraphicFramePr>
        <p:xfrm>
          <a:off x="838200" y="1012371"/>
          <a:ext cx="10515600" cy="4969703"/>
        </p:xfrm>
        <a:graphic>
          <a:graphicData uri="http://schemas.openxmlformats.org/drawingml/2006/table">
            <a:tbl>
              <a:tblPr firstRow="1" firstCol="1" bandRow="1">
                <a:tableStyleId>{BDBED569-4797-4DF1-A0F4-6AAB3CD982D8}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3160035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4064382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9159261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62520848"/>
                    </a:ext>
                  </a:extLst>
                </a:gridCol>
              </a:tblGrid>
              <a:tr h="80362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Week 10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Prototype Development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Develop training materials such as manuals, infographics, and guides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Prototype digital literacy toolkit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79542516"/>
                  </a:ext>
                </a:extLst>
              </a:tr>
              <a:tr h="80362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Week 11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Pilot Testing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Conduct small-scale training session for few seniors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Initial feedback on training module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8699634"/>
                  </a:ext>
                </a:extLst>
              </a:tr>
              <a:tr h="80362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Week 12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Refinement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Improve training materials based on feedback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Finalized training toolkit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6451152"/>
                  </a:ext>
                </a:extLst>
              </a:tr>
              <a:tr h="80362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Week 13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Implementation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Conduct digital literacy workshops for senior citizens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Successful training sessions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0700728"/>
                  </a:ext>
                </a:extLst>
              </a:tr>
              <a:tr h="80362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Week 14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Evaluation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Conduct post-training survey and assess skill improvement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Impact evaluation data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8378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05737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728848-A688-7C29-F82D-9F9C7ACFAB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3985320"/>
              </p:ext>
            </p:extLst>
          </p:nvPr>
        </p:nvGraphicFramePr>
        <p:xfrm>
          <a:off x="838200" y="2090057"/>
          <a:ext cx="10515600" cy="2902840"/>
        </p:xfrm>
        <a:graphic>
          <a:graphicData uri="http://schemas.openxmlformats.org/drawingml/2006/table">
            <a:tbl>
              <a:tblPr firstRow="1" firstCol="1" bandRow="1">
                <a:tableStyleId>{BDBED569-4797-4DF1-A0F4-6AAB3CD982D8}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6799535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9993834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9411166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33040722"/>
                    </a:ext>
                  </a:extLst>
                </a:gridCol>
              </a:tblGrid>
              <a:tr h="116145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400" kern="100">
                          <a:effectLst/>
                        </a:rPr>
                        <a:t>Week 15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400" kern="100" dirty="0">
                          <a:effectLst/>
                        </a:rPr>
                        <a:t>Documentation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400" kern="100">
                          <a:effectLst/>
                        </a:rPr>
                        <a:t>Prepare final project report and analyze results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400" kern="100">
                          <a:effectLst/>
                        </a:rPr>
                        <a:t>Draft report and data presentation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76127043"/>
                  </a:ext>
                </a:extLst>
              </a:tr>
              <a:tr h="116145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400" kern="100">
                          <a:effectLst/>
                        </a:rPr>
                        <a:t>Week 16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400" kern="100">
                          <a:effectLst/>
                        </a:rPr>
                        <a:t>Final Presentation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400" kern="100">
                          <a:effectLst/>
                        </a:rPr>
                        <a:t>Prepare presentation, posters, and submit final report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400" kern="100" dirty="0">
                          <a:effectLst/>
                        </a:rPr>
                        <a:t>Project completion and evaluation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4679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5662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773A6-6878-283D-AD6F-BBD75A5F0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Rubrics for Evaluation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36E7684-DFF1-5545-661C-87C124A79F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7624634"/>
              </p:ext>
            </p:extLst>
          </p:nvPr>
        </p:nvGraphicFramePr>
        <p:xfrm>
          <a:off x="838200" y="1442721"/>
          <a:ext cx="10515600" cy="4938058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353256988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87658601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51825823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90017807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2309491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753925994"/>
                    </a:ext>
                  </a:extLst>
                </a:gridCol>
              </a:tblGrid>
              <a:tr h="6201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Criteria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Excellent (4)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Good (3)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Satisfactory (2)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Needs Improvement (1)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Marks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8800708"/>
                  </a:ext>
                </a:extLst>
              </a:tr>
              <a:tr h="21589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Problem Identification &amp; Understanding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Clearly defines the problem with strong background research and clear objectives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Problem identified with some background research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Basic problem identification but limited clarity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Problem not clearly defined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/10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74749316"/>
                  </a:ext>
                </a:extLst>
              </a:tr>
              <a:tr h="21589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Empathy &amp; Data Collection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Comprehensive surveys/interviews with proper analysis of user needs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Adequate data collected with some analysis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Limited data collected with minimal analysis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Poor or no user data collection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/10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1360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59293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9382513-FEEC-379C-1BA3-9A1C533BA9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2010141"/>
              </p:ext>
            </p:extLst>
          </p:nvPr>
        </p:nvGraphicFramePr>
        <p:xfrm>
          <a:off x="544286" y="925286"/>
          <a:ext cx="10809516" cy="5367105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1850571">
                  <a:extLst>
                    <a:ext uri="{9D8B030D-6E8A-4147-A177-3AD203B41FA5}">
                      <a16:colId xmlns:a16="http://schemas.microsoft.com/office/drawing/2014/main" val="1109952506"/>
                    </a:ext>
                  </a:extLst>
                </a:gridCol>
                <a:gridCol w="1752601">
                  <a:extLst>
                    <a:ext uri="{9D8B030D-6E8A-4147-A177-3AD203B41FA5}">
                      <a16:colId xmlns:a16="http://schemas.microsoft.com/office/drawing/2014/main" val="1114685073"/>
                    </a:ext>
                  </a:extLst>
                </a:gridCol>
                <a:gridCol w="1801586">
                  <a:extLst>
                    <a:ext uri="{9D8B030D-6E8A-4147-A177-3AD203B41FA5}">
                      <a16:colId xmlns:a16="http://schemas.microsoft.com/office/drawing/2014/main" val="2791913086"/>
                    </a:ext>
                  </a:extLst>
                </a:gridCol>
                <a:gridCol w="1801586">
                  <a:extLst>
                    <a:ext uri="{9D8B030D-6E8A-4147-A177-3AD203B41FA5}">
                      <a16:colId xmlns:a16="http://schemas.microsoft.com/office/drawing/2014/main" val="116300604"/>
                    </a:ext>
                  </a:extLst>
                </a:gridCol>
                <a:gridCol w="1801586">
                  <a:extLst>
                    <a:ext uri="{9D8B030D-6E8A-4147-A177-3AD203B41FA5}">
                      <a16:colId xmlns:a16="http://schemas.microsoft.com/office/drawing/2014/main" val="3350438406"/>
                    </a:ext>
                  </a:extLst>
                </a:gridCol>
                <a:gridCol w="1801586">
                  <a:extLst>
                    <a:ext uri="{9D8B030D-6E8A-4147-A177-3AD203B41FA5}">
                      <a16:colId xmlns:a16="http://schemas.microsoft.com/office/drawing/2014/main" val="3520866821"/>
                    </a:ext>
                  </a:extLst>
                </a:gridCol>
              </a:tblGrid>
              <a:tr h="12043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Innovation &amp; Creativity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Highly innovative solution with creative approach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Some innovative ideas presented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Basic solution with limited creativity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No innovation or originality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/10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7730754"/>
                  </a:ext>
                </a:extLst>
              </a:tr>
              <a:tr h="16126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Methodology &amp; Implementation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Well-structured methodology with effective implementation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Methodology mostly clear with adequate implementation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Basic methodology with partial implementation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Poorly planned methodology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/10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45777189"/>
                  </a:ext>
                </a:extLst>
              </a:tr>
              <a:tr h="16126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Prototype / Training Material Development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High-quality prototype or learning materials that are practical and user-friendly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Good prototype with minor improvements needed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Basic prototype developed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Prototype incomplete or ineffective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/10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1412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22703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D4C3D59-CDBB-3463-AEFB-89DCFFE6DE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5160971"/>
              </p:ext>
            </p:extLst>
          </p:nvPr>
        </p:nvGraphicFramePr>
        <p:xfrm>
          <a:off x="838200" y="680720"/>
          <a:ext cx="10515600" cy="5242676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37795134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34037688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08282101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595892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24510313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504811929"/>
                    </a:ext>
                  </a:extLst>
                </a:gridCol>
              </a:tblGrid>
              <a:tr h="19495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Impact &amp; Outcome Evaluation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Clear evidence of impact with data analysis and feedback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Some evaluation of impact presented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Limited evaluation of outcomes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No impact assessment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/10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6369526"/>
                  </a:ext>
                </a:extLst>
              </a:tr>
              <a:tr h="13435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Teamwork &amp; Collaboration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Excellent teamwork and clear role distribution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Good collaboration among members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Some teamwork but uneven participation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Poor teamwork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/10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88052023"/>
                  </a:ext>
                </a:extLst>
              </a:tr>
              <a:tr h="19495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Documentation &amp; Report Writing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Well-organized report with proper references, figures, and formatting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Good report with minor errors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Basic report with limited structure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Poorly written or incomplete report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/10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2182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83490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9C0118D-3C9E-28DE-3623-9E67648D9C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9665340"/>
              </p:ext>
            </p:extLst>
          </p:nvPr>
        </p:nvGraphicFramePr>
        <p:xfrm>
          <a:off x="838200" y="1632857"/>
          <a:ext cx="10515600" cy="3180260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351244068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05574993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4905320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33390843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7245332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036782490"/>
                    </a:ext>
                  </a:extLst>
                </a:gridCol>
              </a:tblGrid>
              <a:tr h="10232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Presentation &amp; Communication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Clear, confident, and engaging presentation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Good presentation with minor issues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Basic presentation with limited clarity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Poor presentation skills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/10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1356190"/>
                  </a:ext>
                </a:extLst>
              </a:tr>
              <a:tr h="20723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Overall Project Quality &amp; Relevance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Project highly relevant and demonstrates strong learning outcomes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Relevant project with good outcomes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Moderate relevance and learning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Limited relevance or outcomes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/10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82168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64194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61046-E690-8DB9-41BF-2B958676B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926"/>
            <a:ext cx="105156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Budget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7E5AC6F-88FF-AA03-1083-73E4BE5F0D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1438590"/>
              </p:ext>
            </p:extLst>
          </p:nvPr>
        </p:nvGraphicFramePr>
        <p:xfrm>
          <a:off x="337457" y="819830"/>
          <a:ext cx="11615056" cy="5377375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3243943">
                  <a:extLst>
                    <a:ext uri="{9D8B030D-6E8A-4147-A177-3AD203B41FA5}">
                      <a16:colId xmlns:a16="http://schemas.microsoft.com/office/drawing/2014/main" val="3101993789"/>
                    </a:ext>
                  </a:extLst>
                </a:gridCol>
                <a:gridCol w="2601686">
                  <a:extLst>
                    <a:ext uri="{9D8B030D-6E8A-4147-A177-3AD203B41FA5}">
                      <a16:colId xmlns:a16="http://schemas.microsoft.com/office/drawing/2014/main" val="473398617"/>
                    </a:ext>
                  </a:extLst>
                </a:gridCol>
                <a:gridCol w="1458685">
                  <a:extLst>
                    <a:ext uri="{9D8B030D-6E8A-4147-A177-3AD203B41FA5}">
                      <a16:colId xmlns:a16="http://schemas.microsoft.com/office/drawing/2014/main" val="3958341898"/>
                    </a:ext>
                  </a:extLst>
                </a:gridCol>
                <a:gridCol w="1987731">
                  <a:extLst>
                    <a:ext uri="{9D8B030D-6E8A-4147-A177-3AD203B41FA5}">
                      <a16:colId xmlns:a16="http://schemas.microsoft.com/office/drawing/2014/main" val="3511325097"/>
                    </a:ext>
                  </a:extLst>
                </a:gridCol>
                <a:gridCol w="2323011">
                  <a:extLst>
                    <a:ext uri="{9D8B030D-6E8A-4147-A177-3AD203B41FA5}">
                      <a16:colId xmlns:a16="http://schemas.microsoft.com/office/drawing/2014/main" val="3335826814"/>
                    </a:ext>
                  </a:extLst>
                </a:gridCol>
              </a:tblGrid>
              <a:tr h="5536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Item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Purpose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Quantity (Example)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Estimated Cost per Unit (INR)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Total Cost (INR)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1095100"/>
                  </a:ext>
                </a:extLst>
              </a:tr>
              <a:tr h="5536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Tablets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For hands-on digital literacy training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10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₹20,000/-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₹2,00,000/-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9084476"/>
                  </a:ext>
                </a:extLst>
              </a:tr>
              <a:tr h="5536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Internet Data Plan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(SIM / Wi-Fi)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Internet access for training sessions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10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₹400 per month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₹16000/-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588211"/>
                  </a:ext>
                </a:extLst>
              </a:tr>
              <a:tr h="5536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Tablet Covers / Screen Guards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Protection for devices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10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₹300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₹3000/-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4355331"/>
                  </a:ext>
                </a:extLst>
              </a:tr>
              <a:tr h="2698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Printing Training Materials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Manuals, guides, instructions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-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-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₹1000/-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4930076"/>
                  </a:ext>
                </a:extLst>
              </a:tr>
              <a:tr h="2698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Posters / Infographics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Visual teaching aids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-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-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₹1000/-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5424882"/>
                  </a:ext>
                </a:extLst>
              </a:tr>
              <a:tr h="2698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Stationery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Pens, markers, chart papers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-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-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₹1000/-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972566"/>
                  </a:ext>
                </a:extLst>
              </a:tr>
              <a:tr h="5536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Refreshments for Participants (optional)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Encourage participation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-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-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₹1000/-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3318765"/>
                  </a:ext>
                </a:extLst>
              </a:tr>
              <a:tr h="2698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Miscellaneous Expenses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Unforeseen costs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-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-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₹1000/-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552010"/>
                  </a:ext>
                </a:extLst>
              </a:tr>
              <a:tr h="2698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Total Cost: 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2,24,000/-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2204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15658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032F-A627-1329-C180-AB33D294E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2390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Mind Map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8E1E15-FF64-2693-92B4-35B309DE97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45"/>
          <a:stretch>
            <a:fillRect/>
          </a:stretch>
        </p:blipFill>
        <p:spPr>
          <a:xfrm>
            <a:off x="413657" y="1027515"/>
            <a:ext cx="11647714" cy="568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0772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A0032B-B482-8676-98E2-C2FA96070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/>
              <a:t>References </a:t>
            </a:r>
            <a:endParaRPr lang="en-IN" sz="52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150499-8796-31E8-831A-380F407C2E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2833544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09078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6DDDF4-DC05-0594-0C24-4D5FBDCC2D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7450964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57152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439" name="Rectangle 1843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434" name="Picture 2" descr="Cybercrime Against Seniors In India: Why Seniors Need Digital Safety  Training Now - Outlook Money Retirement">
            <a:extLst>
              <a:ext uri="{FF2B5EF4-FFF2-40B4-BE49-F238E27FC236}">
                <a16:creationId xmlns:a16="http://schemas.microsoft.com/office/drawing/2014/main" id="{5A18F7F7-4910-EE84-88A9-0906AC52F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88"/>
          <a:stretch>
            <a:fillRect/>
          </a:stretch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41" name="Rectangle 1844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99153-B01B-AD8F-35B4-16CAC135E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929" y="1552458"/>
            <a:ext cx="4366475" cy="2660313"/>
          </a:xfrm>
        </p:spPr>
        <p:txBody>
          <a:bodyPr>
            <a:normAutofit fontScale="92500" lnSpcReduction="10000"/>
          </a:bodyPr>
          <a:lstStyle/>
          <a:p>
            <a:pPr marL="0" indent="0" algn="r">
              <a:buNone/>
            </a:pPr>
            <a:endParaRPr lang="en-US" sz="6600" dirty="0"/>
          </a:p>
          <a:p>
            <a:pPr marL="0" indent="0" algn="r">
              <a:buNone/>
            </a:pPr>
            <a:endParaRPr lang="en-US" sz="6600" dirty="0"/>
          </a:p>
          <a:p>
            <a:pPr marL="0" indent="0" algn="r">
              <a:buNone/>
            </a:pPr>
            <a:r>
              <a:rPr lang="en-US" sz="6600" dirty="0"/>
              <a:t>Thank you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823128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2670</Words>
  <Application>Microsoft Office PowerPoint</Application>
  <PresentationFormat>Widescreen</PresentationFormat>
  <Paragraphs>415</Paragraphs>
  <Slides>34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Aptos</vt:lpstr>
      <vt:lpstr>Aptos Display</vt:lpstr>
      <vt:lpstr>Arial</vt:lpstr>
      <vt:lpstr>Book Antiqua</vt:lpstr>
      <vt:lpstr>Calibri</vt:lpstr>
      <vt:lpstr>Office Theme</vt:lpstr>
      <vt:lpstr>Enhancing digital literacy among senior citizens</vt:lpstr>
      <vt:lpstr>Introduction </vt:lpstr>
      <vt:lpstr>Why the Problem is Complex</vt:lpstr>
      <vt:lpstr>PowerPoint Presentation</vt:lpstr>
      <vt:lpstr>PowerPoint Presentation</vt:lpstr>
      <vt:lpstr>PowerPoint Presentation</vt:lpstr>
      <vt:lpstr>PowerPoint Presentation</vt:lpstr>
      <vt:lpstr>Project Planning - Table 1</vt:lpstr>
      <vt:lpstr>PowerPoint Presentation</vt:lpstr>
      <vt:lpstr>PowerPoint Presentation</vt:lpstr>
      <vt:lpstr>PowerPoint Presentation</vt:lpstr>
      <vt:lpstr>Project Requirements </vt:lpstr>
      <vt:lpstr>PowerPoint Presentation</vt:lpstr>
      <vt:lpstr>Technical Specifications</vt:lpstr>
      <vt:lpstr>Solution Model / Outcome </vt:lpstr>
      <vt:lpstr>Phase wise Planning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Timeline</vt:lpstr>
      <vt:lpstr>PowerPoint Presentation</vt:lpstr>
      <vt:lpstr>PowerPoint Presentation</vt:lpstr>
      <vt:lpstr>PowerPoint Presentation</vt:lpstr>
      <vt:lpstr>Rubrics for Evaluation</vt:lpstr>
      <vt:lpstr>PowerPoint Presentation</vt:lpstr>
      <vt:lpstr>PowerPoint Presentation</vt:lpstr>
      <vt:lpstr>PowerPoint Presentation</vt:lpstr>
      <vt:lpstr>Budget</vt:lpstr>
      <vt:lpstr>Mind Map</vt:lpstr>
      <vt:lpstr>References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Sonali_Patil</dc:creator>
  <cp:lastModifiedBy>Sonal_Tawde</cp:lastModifiedBy>
  <cp:revision>49</cp:revision>
  <dcterms:created xsi:type="dcterms:W3CDTF">2026-03-10T05:18:39Z</dcterms:created>
  <dcterms:modified xsi:type="dcterms:W3CDTF">2026-03-10T08:03:52Z</dcterms:modified>
</cp:coreProperties>
</file>